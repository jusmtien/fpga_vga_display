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handoutMasterIdLst>
    <p:handoutMasterId r:id="rId28"/>
  </p:handoutMasterIdLst>
  <p:sldIdLst>
    <p:sldId id="262" r:id="rId2"/>
    <p:sldId id="263" r:id="rId3"/>
    <p:sldId id="264" r:id="rId4"/>
    <p:sldId id="265" r:id="rId5"/>
    <p:sldId id="286" r:id="rId6"/>
    <p:sldId id="278" r:id="rId7"/>
    <p:sldId id="279" r:id="rId8"/>
    <p:sldId id="280" r:id="rId9"/>
    <p:sldId id="281" r:id="rId10"/>
    <p:sldId id="282" r:id="rId11"/>
    <p:sldId id="283" r:id="rId12"/>
    <p:sldId id="284" r:id="rId13"/>
    <p:sldId id="285" r:id="rId14"/>
    <p:sldId id="266" r:id="rId15"/>
    <p:sldId id="267" r:id="rId16"/>
    <p:sldId id="270" r:id="rId17"/>
    <p:sldId id="272" r:id="rId18"/>
    <p:sldId id="271" r:id="rId19"/>
    <p:sldId id="273" r:id="rId20"/>
    <p:sldId id="269" r:id="rId21"/>
    <p:sldId id="274" r:id="rId22"/>
    <p:sldId id="277" r:id="rId23"/>
    <p:sldId id="275" r:id="rId24"/>
    <p:sldId id="276" r:id="rId25"/>
    <p:sldId id="287" r:id="rId26"/>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hương 0" id="{01E33B1B-E197-463B-A531-467BFB591BCB}">
          <p14:sldIdLst>
            <p14:sldId id="262"/>
            <p14:sldId id="263"/>
            <p14:sldId id="264"/>
            <p14:sldId id="265"/>
            <p14:sldId id="286"/>
            <p14:sldId id="278"/>
            <p14:sldId id="279"/>
            <p14:sldId id="280"/>
            <p14:sldId id="281"/>
            <p14:sldId id="282"/>
            <p14:sldId id="283"/>
            <p14:sldId id="284"/>
            <p14:sldId id="285"/>
            <p14:sldId id="266"/>
            <p14:sldId id="267"/>
            <p14:sldId id="270"/>
            <p14:sldId id="272"/>
            <p14:sldId id="271"/>
            <p14:sldId id="273"/>
            <p14:sldId id="269"/>
            <p14:sldId id="274"/>
            <p14:sldId id="277"/>
            <p14:sldId id="275"/>
            <p14:sldId id="276"/>
            <p14:sldId id="28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FF0066"/>
    <a:srgbClr val="FF99CC"/>
    <a:srgbClr val="FF99FF"/>
    <a:srgbClr val="9BD4FF"/>
    <a:srgbClr val="FF6699"/>
    <a:srgbClr val="414B53"/>
    <a:srgbClr val="FFA3A3"/>
    <a:srgbClr val="FF8B8B"/>
    <a:srgbClr val="CDE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4E8515-05DD-484D-AE31-619B5CE8A02D}" v="440" dt="2020-11-01T15:40:12.27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69" autoAdjust="0"/>
    <p:restoredTop sz="81573" autoAdjust="0"/>
  </p:normalViewPr>
  <p:slideViewPr>
    <p:cSldViewPr>
      <p:cViewPr varScale="1">
        <p:scale>
          <a:sx n="91" d="100"/>
          <a:sy n="91" d="100"/>
        </p:scale>
        <p:origin x="1464" y="84"/>
      </p:cViewPr>
      <p:guideLst>
        <p:guide orient="horz" pos="2160"/>
        <p:guide pos="2880"/>
      </p:guideLst>
    </p:cSldViewPr>
  </p:slideViewPr>
  <p:notesTextViewPr>
    <p:cViewPr>
      <p:scale>
        <a:sx n="1" d="1"/>
        <a:sy n="1" d="1"/>
      </p:scale>
      <p:origin x="0" y="0"/>
    </p:cViewPr>
  </p:notesTextViewPr>
  <p:notesViewPr>
    <p:cSldViewPr>
      <p:cViewPr varScale="1">
        <p:scale>
          <a:sx n="57" d="100"/>
          <a:sy n="57" d="100"/>
        </p:scale>
        <p:origin x="-2045" y="-101"/>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8400DCF-C6D0-4ACF-BB29-80A45D4409BC}" type="doc">
      <dgm:prSet loTypeId="urn:microsoft.com/office/officeart/2008/layout/LinedList" loCatId="list" qsTypeId="urn:microsoft.com/office/officeart/2005/8/quickstyle/simple4" qsCatId="simple" csTypeId="urn:microsoft.com/office/officeart/2005/8/colors/accent2_2" csCatId="accent2" phldr="1"/>
      <dgm:spPr/>
      <dgm:t>
        <a:bodyPr/>
        <a:lstStyle/>
        <a:p>
          <a:endParaRPr lang="en-US"/>
        </a:p>
      </dgm:t>
    </dgm:pt>
    <dgm:pt modelId="{0B366861-9FD9-4D4D-8439-B51402FE967A}">
      <dgm:prSet/>
      <dgm:spPr/>
      <dgm:t>
        <a:bodyPr/>
        <a:lstStyle/>
        <a:p>
          <a:r>
            <a:rPr lang="en-US" b="1" i="0" baseline="0"/>
            <a:t>Luồng dữ liệu chính:</a:t>
          </a:r>
          <a:endParaRPr lang="en-US"/>
        </a:p>
      </dgm:t>
    </dgm:pt>
    <dgm:pt modelId="{378B5DFD-CB95-4ABD-98FE-7533E3509955}" type="parTrans" cxnId="{D221785D-6B77-4369-985E-FD772D013E68}">
      <dgm:prSet/>
      <dgm:spPr/>
      <dgm:t>
        <a:bodyPr/>
        <a:lstStyle/>
        <a:p>
          <a:endParaRPr lang="en-US"/>
        </a:p>
      </dgm:t>
    </dgm:pt>
    <dgm:pt modelId="{02EAC45B-7E69-4060-958A-592D8EF1E420}" type="sibTrans" cxnId="{D221785D-6B77-4369-985E-FD772D013E68}">
      <dgm:prSet/>
      <dgm:spPr/>
      <dgm:t>
        <a:bodyPr/>
        <a:lstStyle/>
        <a:p>
          <a:endParaRPr lang="en-US"/>
        </a:p>
      </dgm:t>
    </dgm:pt>
    <dgm:pt modelId="{CDF08ADC-6C6B-4F41-83D0-1C4D383AEB1A}">
      <dgm:prSet/>
      <dgm:spPr/>
      <dgm:t>
        <a:bodyPr/>
        <a:lstStyle/>
        <a:p>
          <a:r>
            <a:rPr lang="en-US" b="1" i="0" baseline="0"/>
            <a:t>PC:</a:t>
          </a:r>
          <a:r>
            <a:rPr lang="en-US" b="0" i="0" baseline="0"/>
            <a:t> Chuyển ảnh sang hệ màu RGB565 (pixel thô).</a:t>
          </a:r>
          <a:endParaRPr lang="en-US"/>
        </a:p>
      </dgm:t>
    </dgm:pt>
    <dgm:pt modelId="{E0535C14-BACD-4ED4-8029-0014D6FE962B}" type="parTrans" cxnId="{DA55DCD0-9CD9-42CE-9C87-445828FC8628}">
      <dgm:prSet/>
      <dgm:spPr/>
      <dgm:t>
        <a:bodyPr/>
        <a:lstStyle/>
        <a:p>
          <a:endParaRPr lang="en-US"/>
        </a:p>
      </dgm:t>
    </dgm:pt>
    <dgm:pt modelId="{A3FA7941-A66E-4B6A-89D4-673D3F1B6DA9}" type="sibTrans" cxnId="{DA55DCD0-9CD9-42CE-9C87-445828FC8628}">
      <dgm:prSet/>
      <dgm:spPr/>
      <dgm:t>
        <a:bodyPr/>
        <a:lstStyle/>
        <a:p>
          <a:endParaRPr lang="en-US"/>
        </a:p>
      </dgm:t>
    </dgm:pt>
    <dgm:pt modelId="{69268246-6F39-4A31-8826-3BA35CBD5C27}">
      <dgm:prSet/>
      <dgm:spPr/>
      <dgm:t>
        <a:bodyPr/>
        <a:lstStyle/>
        <a:p>
          <a:r>
            <a:rPr lang="en-US" b="1" i="0" baseline="0" dirty="0"/>
            <a:t>Giao </a:t>
          </a:r>
          <a:r>
            <a:rPr lang="en-US" b="1" i="0" baseline="0" dirty="0" err="1"/>
            <a:t>tiếp</a:t>
          </a:r>
          <a:r>
            <a:rPr lang="en-US" b="1" i="0" baseline="0" dirty="0"/>
            <a:t>:</a:t>
          </a:r>
          <a:r>
            <a:rPr lang="en-US" b="0" i="0" baseline="0" dirty="0"/>
            <a:t> </a:t>
          </a:r>
          <a:r>
            <a:rPr lang="en-US" b="0" i="0" baseline="0" dirty="0" err="1"/>
            <a:t>Truyền</a:t>
          </a:r>
          <a:r>
            <a:rPr lang="en-US" b="0" i="0" baseline="0" dirty="0"/>
            <a:t> qua USB-UART CP2102 </a:t>
          </a:r>
          <a:r>
            <a:rPr lang="en-US" b="0" i="0" baseline="0" dirty="0" err="1"/>
            <a:t>với</a:t>
          </a:r>
          <a:r>
            <a:rPr lang="en-US" b="0" i="0" baseline="0" dirty="0"/>
            <a:t> Baud rate </a:t>
          </a:r>
          <a:r>
            <a:rPr lang="en-US" b="0" i="0" u="none" dirty="0"/>
            <a:t>921,600 bps</a:t>
          </a:r>
          <a:r>
            <a:rPr lang="en-US" b="0" i="0" baseline="0" dirty="0"/>
            <a:t>.</a:t>
          </a:r>
          <a:endParaRPr lang="en-US" dirty="0"/>
        </a:p>
      </dgm:t>
    </dgm:pt>
    <dgm:pt modelId="{E8EABAFD-15FA-40C7-A9F0-DE8186A9F8FA}" type="parTrans" cxnId="{5BDBAFA8-5D6A-4EEE-BE6B-640785AEBB65}">
      <dgm:prSet/>
      <dgm:spPr/>
      <dgm:t>
        <a:bodyPr/>
        <a:lstStyle/>
        <a:p>
          <a:endParaRPr lang="en-US"/>
        </a:p>
      </dgm:t>
    </dgm:pt>
    <dgm:pt modelId="{1739C625-9821-4A48-8C20-9860C9A36DDA}" type="sibTrans" cxnId="{5BDBAFA8-5D6A-4EEE-BE6B-640785AEBB65}">
      <dgm:prSet/>
      <dgm:spPr/>
      <dgm:t>
        <a:bodyPr/>
        <a:lstStyle/>
        <a:p>
          <a:endParaRPr lang="en-US"/>
        </a:p>
      </dgm:t>
    </dgm:pt>
    <dgm:pt modelId="{DA581FC8-74CF-4F40-A774-DFFFEE79358D}">
      <dgm:prSet/>
      <dgm:spPr/>
      <dgm:t>
        <a:bodyPr/>
        <a:lstStyle/>
        <a:p>
          <a:r>
            <a:rPr lang="en-US" b="1" i="0" baseline="0"/>
            <a:t>Lưu trữ:</a:t>
          </a:r>
          <a:r>
            <a:rPr lang="en-US" b="0" i="0" baseline="0"/>
            <a:t> Dữ liệu được ghép thành 16-bit và lưu vào SRAM.</a:t>
          </a:r>
          <a:endParaRPr lang="en-US"/>
        </a:p>
      </dgm:t>
    </dgm:pt>
    <dgm:pt modelId="{AAC7C939-AECB-44C3-8648-AD6010DD3DD3}" type="parTrans" cxnId="{B8452514-BE5A-4EFE-867F-A1992490F970}">
      <dgm:prSet/>
      <dgm:spPr/>
      <dgm:t>
        <a:bodyPr/>
        <a:lstStyle/>
        <a:p>
          <a:endParaRPr lang="en-US"/>
        </a:p>
      </dgm:t>
    </dgm:pt>
    <dgm:pt modelId="{09F87193-AF3C-4DA2-B2A9-284E92B0FB7E}" type="sibTrans" cxnId="{B8452514-BE5A-4EFE-867F-A1992490F970}">
      <dgm:prSet/>
      <dgm:spPr/>
      <dgm:t>
        <a:bodyPr/>
        <a:lstStyle/>
        <a:p>
          <a:endParaRPr lang="en-US"/>
        </a:p>
      </dgm:t>
    </dgm:pt>
    <dgm:pt modelId="{D2F0E63D-5941-4D5C-924D-2B1EC5F426DB}">
      <dgm:prSet/>
      <dgm:spPr/>
      <dgm:t>
        <a:bodyPr/>
        <a:lstStyle/>
        <a:p>
          <a:r>
            <a:rPr lang="en-US" b="1" i="0" baseline="0"/>
            <a:t>Hiển thị:</a:t>
          </a:r>
          <a:r>
            <a:rPr lang="en-US" b="0" i="0" baseline="0"/>
            <a:t> VGA Controller đọc từ SRAM và xuất ra màn hình.</a:t>
          </a:r>
          <a:endParaRPr lang="en-US"/>
        </a:p>
      </dgm:t>
    </dgm:pt>
    <dgm:pt modelId="{3CDAB302-7A09-4376-B670-1CBCD1EA3BE7}" type="parTrans" cxnId="{A76C6C54-DE91-4F2F-861D-16BD854EC3BC}">
      <dgm:prSet/>
      <dgm:spPr/>
      <dgm:t>
        <a:bodyPr/>
        <a:lstStyle/>
        <a:p>
          <a:endParaRPr lang="en-US"/>
        </a:p>
      </dgm:t>
    </dgm:pt>
    <dgm:pt modelId="{E51F1234-025E-484A-B08C-FD565B5E8CC0}" type="sibTrans" cxnId="{A76C6C54-DE91-4F2F-861D-16BD854EC3BC}">
      <dgm:prSet/>
      <dgm:spPr/>
      <dgm:t>
        <a:bodyPr/>
        <a:lstStyle/>
        <a:p>
          <a:endParaRPr lang="en-US"/>
        </a:p>
      </dgm:t>
    </dgm:pt>
    <dgm:pt modelId="{A3D81BB8-7952-4128-BB45-2CFD996E70F0}" type="pres">
      <dgm:prSet presAssocID="{08400DCF-C6D0-4ACF-BB29-80A45D4409BC}" presName="vert0" presStyleCnt="0">
        <dgm:presLayoutVars>
          <dgm:dir/>
          <dgm:animOne val="branch"/>
          <dgm:animLvl val="lvl"/>
        </dgm:presLayoutVars>
      </dgm:prSet>
      <dgm:spPr/>
    </dgm:pt>
    <dgm:pt modelId="{1BFB5881-237E-4075-A1E3-97B44BE9642C}" type="pres">
      <dgm:prSet presAssocID="{0B366861-9FD9-4D4D-8439-B51402FE967A}" presName="thickLine" presStyleLbl="alignNode1" presStyleIdx="0" presStyleCnt="5"/>
      <dgm:spPr/>
    </dgm:pt>
    <dgm:pt modelId="{939E97F8-A949-439F-A850-14098786330A}" type="pres">
      <dgm:prSet presAssocID="{0B366861-9FD9-4D4D-8439-B51402FE967A}" presName="horz1" presStyleCnt="0"/>
      <dgm:spPr/>
    </dgm:pt>
    <dgm:pt modelId="{7189F0F7-4DF1-43CB-8BF7-0DE78BB63EE2}" type="pres">
      <dgm:prSet presAssocID="{0B366861-9FD9-4D4D-8439-B51402FE967A}" presName="tx1" presStyleLbl="revTx" presStyleIdx="0" presStyleCnt="5"/>
      <dgm:spPr/>
    </dgm:pt>
    <dgm:pt modelId="{53BE430E-CA64-4DA1-A4BD-0A2E1908ED77}" type="pres">
      <dgm:prSet presAssocID="{0B366861-9FD9-4D4D-8439-B51402FE967A}" presName="vert1" presStyleCnt="0"/>
      <dgm:spPr/>
    </dgm:pt>
    <dgm:pt modelId="{06D59A10-E60F-48B4-BB19-78C19E161F90}" type="pres">
      <dgm:prSet presAssocID="{CDF08ADC-6C6B-4F41-83D0-1C4D383AEB1A}" presName="thickLine" presStyleLbl="alignNode1" presStyleIdx="1" presStyleCnt="5"/>
      <dgm:spPr/>
    </dgm:pt>
    <dgm:pt modelId="{838C73F7-7E80-4671-857A-238D0AECB2C3}" type="pres">
      <dgm:prSet presAssocID="{CDF08ADC-6C6B-4F41-83D0-1C4D383AEB1A}" presName="horz1" presStyleCnt="0"/>
      <dgm:spPr/>
    </dgm:pt>
    <dgm:pt modelId="{B0763489-1495-4213-80BD-898589F4DE69}" type="pres">
      <dgm:prSet presAssocID="{CDF08ADC-6C6B-4F41-83D0-1C4D383AEB1A}" presName="tx1" presStyleLbl="revTx" presStyleIdx="1" presStyleCnt="5"/>
      <dgm:spPr/>
    </dgm:pt>
    <dgm:pt modelId="{D8B1882A-6A62-4B2E-9055-F03F09FEBEFF}" type="pres">
      <dgm:prSet presAssocID="{CDF08ADC-6C6B-4F41-83D0-1C4D383AEB1A}" presName="vert1" presStyleCnt="0"/>
      <dgm:spPr/>
    </dgm:pt>
    <dgm:pt modelId="{AE508AFB-6063-4891-A182-15E62E75B063}" type="pres">
      <dgm:prSet presAssocID="{69268246-6F39-4A31-8826-3BA35CBD5C27}" presName="thickLine" presStyleLbl="alignNode1" presStyleIdx="2" presStyleCnt="5"/>
      <dgm:spPr/>
    </dgm:pt>
    <dgm:pt modelId="{45E8550E-920F-41E8-8AC3-12C375A03351}" type="pres">
      <dgm:prSet presAssocID="{69268246-6F39-4A31-8826-3BA35CBD5C27}" presName="horz1" presStyleCnt="0"/>
      <dgm:spPr/>
    </dgm:pt>
    <dgm:pt modelId="{A31880FB-F962-4B22-968F-3950E7374F2E}" type="pres">
      <dgm:prSet presAssocID="{69268246-6F39-4A31-8826-3BA35CBD5C27}" presName="tx1" presStyleLbl="revTx" presStyleIdx="2" presStyleCnt="5"/>
      <dgm:spPr/>
    </dgm:pt>
    <dgm:pt modelId="{E26077C8-B061-4A0A-AD3E-76952CE923ED}" type="pres">
      <dgm:prSet presAssocID="{69268246-6F39-4A31-8826-3BA35CBD5C27}" presName="vert1" presStyleCnt="0"/>
      <dgm:spPr/>
    </dgm:pt>
    <dgm:pt modelId="{DE4C703D-3678-467F-9D47-2EE89BF3B72F}" type="pres">
      <dgm:prSet presAssocID="{DA581FC8-74CF-4F40-A774-DFFFEE79358D}" presName="thickLine" presStyleLbl="alignNode1" presStyleIdx="3" presStyleCnt="5"/>
      <dgm:spPr/>
    </dgm:pt>
    <dgm:pt modelId="{F6F4A4B2-3F7B-4F2E-B584-7A1880F84938}" type="pres">
      <dgm:prSet presAssocID="{DA581FC8-74CF-4F40-A774-DFFFEE79358D}" presName="horz1" presStyleCnt="0"/>
      <dgm:spPr/>
    </dgm:pt>
    <dgm:pt modelId="{2B5FBE41-760C-4B92-A97F-F7B7EA4FE717}" type="pres">
      <dgm:prSet presAssocID="{DA581FC8-74CF-4F40-A774-DFFFEE79358D}" presName="tx1" presStyleLbl="revTx" presStyleIdx="3" presStyleCnt="5"/>
      <dgm:spPr/>
    </dgm:pt>
    <dgm:pt modelId="{CE6B06C5-3E6C-413E-BE6D-4A314BEE7BD3}" type="pres">
      <dgm:prSet presAssocID="{DA581FC8-74CF-4F40-A774-DFFFEE79358D}" presName="vert1" presStyleCnt="0"/>
      <dgm:spPr/>
    </dgm:pt>
    <dgm:pt modelId="{08E58F3E-2DA5-4D39-BC89-FEB02EBFF2A7}" type="pres">
      <dgm:prSet presAssocID="{D2F0E63D-5941-4D5C-924D-2B1EC5F426DB}" presName="thickLine" presStyleLbl="alignNode1" presStyleIdx="4" presStyleCnt="5"/>
      <dgm:spPr/>
    </dgm:pt>
    <dgm:pt modelId="{657525C1-285E-4F29-A3DE-CDB9F2FA4EEA}" type="pres">
      <dgm:prSet presAssocID="{D2F0E63D-5941-4D5C-924D-2B1EC5F426DB}" presName="horz1" presStyleCnt="0"/>
      <dgm:spPr/>
    </dgm:pt>
    <dgm:pt modelId="{4D93490C-E0E1-4DFF-A5F2-294DD92CEE76}" type="pres">
      <dgm:prSet presAssocID="{D2F0E63D-5941-4D5C-924D-2B1EC5F426DB}" presName="tx1" presStyleLbl="revTx" presStyleIdx="4" presStyleCnt="5"/>
      <dgm:spPr/>
    </dgm:pt>
    <dgm:pt modelId="{007E64A8-ED41-4CFF-B1EF-719A1F682BE3}" type="pres">
      <dgm:prSet presAssocID="{D2F0E63D-5941-4D5C-924D-2B1EC5F426DB}" presName="vert1" presStyleCnt="0"/>
      <dgm:spPr/>
    </dgm:pt>
  </dgm:ptLst>
  <dgm:cxnLst>
    <dgm:cxn modelId="{A7940905-0E0B-4E59-8A2B-2AF9C353B7DB}" type="presOf" srcId="{DA581FC8-74CF-4F40-A774-DFFFEE79358D}" destId="{2B5FBE41-760C-4B92-A97F-F7B7EA4FE717}" srcOrd="0" destOrd="0" presId="urn:microsoft.com/office/officeart/2008/layout/LinedList"/>
    <dgm:cxn modelId="{B8452514-BE5A-4EFE-867F-A1992490F970}" srcId="{08400DCF-C6D0-4ACF-BB29-80A45D4409BC}" destId="{DA581FC8-74CF-4F40-A774-DFFFEE79358D}" srcOrd="3" destOrd="0" parTransId="{AAC7C939-AECB-44C3-8648-AD6010DD3DD3}" sibTransId="{09F87193-AF3C-4DA2-B2A9-284E92B0FB7E}"/>
    <dgm:cxn modelId="{AEB61926-D651-43C5-AE4D-34D6A8DB1F55}" type="presOf" srcId="{69268246-6F39-4A31-8826-3BA35CBD5C27}" destId="{A31880FB-F962-4B22-968F-3950E7374F2E}" srcOrd="0" destOrd="0" presId="urn:microsoft.com/office/officeart/2008/layout/LinedList"/>
    <dgm:cxn modelId="{C7533D32-AF91-4035-984C-7CF21BBE9CE7}" type="presOf" srcId="{0B366861-9FD9-4D4D-8439-B51402FE967A}" destId="{7189F0F7-4DF1-43CB-8BF7-0DE78BB63EE2}" srcOrd="0" destOrd="0" presId="urn:microsoft.com/office/officeart/2008/layout/LinedList"/>
    <dgm:cxn modelId="{D221785D-6B77-4369-985E-FD772D013E68}" srcId="{08400DCF-C6D0-4ACF-BB29-80A45D4409BC}" destId="{0B366861-9FD9-4D4D-8439-B51402FE967A}" srcOrd="0" destOrd="0" parTransId="{378B5DFD-CB95-4ABD-98FE-7533E3509955}" sibTransId="{02EAC45B-7E69-4060-958A-592D8EF1E420}"/>
    <dgm:cxn modelId="{2A0C8743-C7F9-4F3F-AC6D-FA340F59A23F}" type="presOf" srcId="{CDF08ADC-6C6B-4F41-83D0-1C4D383AEB1A}" destId="{B0763489-1495-4213-80BD-898589F4DE69}" srcOrd="0" destOrd="0" presId="urn:microsoft.com/office/officeart/2008/layout/LinedList"/>
    <dgm:cxn modelId="{A76C6C54-DE91-4F2F-861D-16BD854EC3BC}" srcId="{08400DCF-C6D0-4ACF-BB29-80A45D4409BC}" destId="{D2F0E63D-5941-4D5C-924D-2B1EC5F426DB}" srcOrd="4" destOrd="0" parTransId="{3CDAB302-7A09-4376-B670-1CBCD1EA3BE7}" sibTransId="{E51F1234-025E-484A-B08C-FD565B5E8CC0}"/>
    <dgm:cxn modelId="{5BDBAFA8-5D6A-4EEE-BE6B-640785AEBB65}" srcId="{08400DCF-C6D0-4ACF-BB29-80A45D4409BC}" destId="{69268246-6F39-4A31-8826-3BA35CBD5C27}" srcOrd="2" destOrd="0" parTransId="{E8EABAFD-15FA-40C7-A9F0-DE8186A9F8FA}" sibTransId="{1739C625-9821-4A48-8C20-9860C9A36DDA}"/>
    <dgm:cxn modelId="{1B7317AD-86B1-4BE3-9F88-83B5A462A909}" type="presOf" srcId="{08400DCF-C6D0-4ACF-BB29-80A45D4409BC}" destId="{A3D81BB8-7952-4128-BB45-2CFD996E70F0}" srcOrd="0" destOrd="0" presId="urn:microsoft.com/office/officeart/2008/layout/LinedList"/>
    <dgm:cxn modelId="{5FA252C7-3FB7-4121-A003-FDB3220EB9E6}" type="presOf" srcId="{D2F0E63D-5941-4D5C-924D-2B1EC5F426DB}" destId="{4D93490C-E0E1-4DFF-A5F2-294DD92CEE76}" srcOrd="0" destOrd="0" presId="urn:microsoft.com/office/officeart/2008/layout/LinedList"/>
    <dgm:cxn modelId="{DA55DCD0-9CD9-42CE-9C87-445828FC8628}" srcId="{08400DCF-C6D0-4ACF-BB29-80A45D4409BC}" destId="{CDF08ADC-6C6B-4F41-83D0-1C4D383AEB1A}" srcOrd="1" destOrd="0" parTransId="{E0535C14-BACD-4ED4-8029-0014D6FE962B}" sibTransId="{A3FA7941-A66E-4B6A-89D4-673D3F1B6DA9}"/>
    <dgm:cxn modelId="{7F4944BC-1B53-49C6-9255-163BF1F6238F}" type="presParOf" srcId="{A3D81BB8-7952-4128-BB45-2CFD996E70F0}" destId="{1BFB5881-237E-4075-A1E3-97B44BE9642C}" srcOrd="0" destOrd="0" presId="urn:microsoft.com/office/officeart/2008/layout/LinedList"/>
    <dgm:cxn modelId="{88D9A7E9-125C-4E7C-AE9E-6E92249FF485}" type="presParOf" srcId="{A3D81BB8-7952-4128-BB45-2CFD996E70F0}" destId="{939E97F8-A949-439F-A850-14098786330A}" srcOrd="1" destOrd="0" presId="urn:microsoft.com/office/officeart/2008/layout/LinedList"/>
    <dgm:cxn modelId="{B2381417-E398-488D-AE36-7A87DD2B5952}" type="presParOf" srcId="{939E97F8-A949-439F-A850-14098786330A}" destId="{7189F0F7-4DF1-43CB-8BF7-0DE78BB63EE2}" srcOrd="0" destOrd="0" presId="urn:microsoft.com/office/officeart/2008/layout/LinedList"/>
    <dgm:cxn modelId="{CB58EABB-2D66-4FDF-8A9D-B05ED6BCB5EC}" type="presParOf" srcId="{939E97F8-A949-439F-A850-14098786330A}" destId="{53BE430E-CA64-4DA1-A4BD-0A2E1908ED77}" srcOrd="1" destOrd="0" presId="urn:microsoft.com/office/officeart/2008/layout/LinedList"/>
    <dgm:cxn modelId="{157767B8-CFB8-4C06-B642-ED8859BCBBB9}" type="presParOf" srcId="{A3D81BB8-7952-4128-BB45-2CFD996E70F0}" destId="{06D59A10-E60F-48B4-BB19-78C19E161F90}" srcOrd="2" destOrd="0" presId="urn:microsoft.com/office/officeart/2008/layout/LinedList"/>
    <dgm:cxn modelId="{C0256880-FBFA-4107-BF64-92CA7805EADA}" type="presParOf" srcId="{A3D81BB8-7952-4128-BB45-2CFD996E70F0}" destId="{838C73F7-7E80-4671-857A-238D0AECB2C3}" srcOrd="3" destOrd="0" presId="urn:microsoft.com/office/officeart/2008/layout/LinedList"/>
    <dgm:cxn modelId="{70857648-C9F3-4279-B851-4E237782E92B}" type="presParOf" srcId="{838C73F7-7E80-4671-857A-238D0AECB2C3}" destId="{B0763489-1495-4213-80BD-898589F4DE69}" srcOrd="0" destOrd="0" presId="urn:microsoft.com/office/officeart/2008/layout/LinedList"/>
    <dgm:cxn modelId="{6298AB64-CE8D-4C42-95E8-2521DD3807ED}" type="presParOf" srcId="{838C73F7-7E80-4671-857A-238D0AECB2C3}" destId="{D8B1882A-6A62-4B2E-9055-F03F09FEBEFF}" srcOrd="1" destOrd="0" presId="urn:microsoft.com/office/officeart/2008/layout/LinedList"/>
    <dgm:cxn modelId="{90E4D18F-6E86-4515-B81E-78754E9468A6}" type="presParOf" srcId="{A3D81BB8-7952-4128-BB45-2CFD996E70F0}" destId="{AE508AFB-6063-4891-A182-15E62E75B063}" srcOrd="4" destOrd="0" presId="urn:microsoft.com/office/officeart/2008/layout/LinedList"/>
    <dgm:cxn modelId="{A03194D2-66EF-4C9C-88CA-F75A4D2CBBAA}" type="presParOf" srcId="{A3D81BB8-7952-4128-BB45-2CFD996E70F0}" destId="{45E8550E-920F-41E8-8AC3-12C375A03351}" srcOrd="5" destOrd="0" presId="urn:microsoft.com/office/officeart/2008/layout/LinedList"/>
    <dgm:cxn modelId="{6A552255-37EA-4FF1-BF82-D077140E0660}" type="presParOf" srcId="{45E8550E-920F-41E8-8AC3-12C375A03351}" destId="{A31880FB-F962-4B22-968F-3950E7374F2E}" srcOrd="0" destOrd="0" presId="urn:microsoft.com/office/officeart/2008/layout/LinedList"/>
    <dgm:cxn modelId="{4A097C1C-011E-45EA-A921-72EA5EDB34AA}" type="presParOf" srcId="{45E8550E-920F-41E8-8AC3-12C375A03351}" destId="{E26077C8-B061-4A0A-AD3E-76952CE923ED}" srcOrd="1" destOrd="0" presId="urn:microsoft.com/office/officeart/2008/layout/LinedList"/>
    <dgm:cxn modelId="{14CFF171-C5BA-48D4-A8C2-C9E7988CA7D7}" type="presParOf" srcId="{A3D81BB8-7952-4128-BB45-2CFD996E70F0}" destId="{DE4C703D-3678-467F-9D47-2EE89BF3B72F}" srcOrd="6" destOrd="0" presId="urn:microsoft.com/office/officeart/2008/layout/LinedList"/>
    <dgm:cxn modelId="{DDF2680D-2821-4828-84E9-6D168FFBBF8B}" type="presParOf" srcId="{A3D81BB8-7952-4128-BB45-2CFD996E70F0}" destId="{F6F4A4B2-3F7B-4F2E-B584-7A1880F84938}" srcOrd="7" destOrd="0" presId="urn:microsoft.com/office/officeart/2008/layout/LinedList"/>
    <dgm:cxn modelId="{12F64B34-F78F-494D-81E2-98E1E26A6246}" type="presParOf" srcId="{F6F4A4B2-3F7B-4F2E-B584-7A1880F84938}" destId="{2B5FBE41-760C-4B92-A97F-F7B7EA4FE717}" srcOrd="0" destOrd="0" presId="urn:microsoft.com/office/officeart/2008/layout/LinedList"/>
    <dgm:cxn modelId="{EB72FB9E-AC31-44EB-BF6C-023FC03B9735}" type="presParOf" srcId="{F6F4A4B2-3F7B-4F2E-B584-7A1880F84938}" destId="{CE6B06C5-3E6C-413E-BE6D-4A314BEE7BD3}" srcOrd="1" destOrd="0" presId="urn:microsoft.com/office/officeart/2008/layout/LinedList"/>
    <dgm:cxn modelId="{00DB6BEE-4C74-4000-BD22-E537A42605F3}" type="presParOf" srcId="{A3D81BB8-7952-4128-BB45-2CFD996E70F0}" destId="{08E58F3E-2DA5-4D39-BC89-FEB02EBFF2A7}" srcOrd="8" destOrd="0" presId="urn:microsoft.com/office/officeart/2008/layout/LinedList"/>
    <dgm:cxn modelId="{08DDBC8D-98EE-447B-A12C-C8B76FE3926E}" type="presParOf" srcId="{A3D81BB8-7952-4128-BB45-2CFD996E70F0}" destId="{657525C1-285E-4F29-A3DE-CDB9F2FA4EEA}" srcOrd="9" destOrd="0" presId="urn:microsoft.com/office/officeart/2008/layout/LinedList"/>
    <dgm:cxn modelId="{6A5E10C0-3559-4714-B1BA-40547E691C65}" type="presParOf" srcId="{657525C1-285E-4F29-A3DE-CDB9F2FA4EEA}" destId="{4D93490C-E0E1-4DFF-A5F2-294DD92CEE76}" srcOrd="0" destOrd="0" presId="urn:microsoft.com/office/officeart/2008/layout/LinedList"/>
    <dgm:cxn modelId="{24F8F525-2029-47B8-9CD6-AF29ADA6C95E}" type="presParOf" srcId="{657525C1-285E-4F29-A3DE-CDB9F2FA4EEA}" destId="{007E64A8-ED41-4CFF-B1EF-719A1F682BE3}"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FB5881-237E-4075-A1E3-97B44BE9642C}">
      <dsp:nvSpPr>
        <dsp:cNvPr id="0" name=""/>
        <dsp:cNvSpPr/>
      </dsp:nvSpPr>
      <dsp:spPr>
        <a:xfrm>
          <a:off x="0" y="367"/>
          <a:ext cx="8640960" cy="0"/>
        </a:xfrm>
        <a:prstGeom prst="lin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7189F0F7-4DF1-43CB-8BF7-0DE78BB63EE2}">
      <dsp:nvSpPr>
        <dsp:cNvPr id="0" name=""/>
        <dsp:cNvSpPr/>
      </dsp:nvSpPr>
      <dsp:spPr>
        <a:xfrm>
          <a:off x="0" y="367"/>
          <a:ext cx="8640960" cy="6012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i="0" kern="1200" baseline="0"/>
            <a:t>Luồng dữ liệu chính:</a:t>
          </a:r>
          <a:endParaRPr lang="en-US" sz="2300" kern="1200"/>
        </a:p>
      </dsp:txBody>
      <dsp:txXfrm>
        <a:off x="0" y="367"/>
        <a:ext cx="8640960" cy="601217"/>
      </dsp:txXfrm>
    </dsp:sp>
    <dsp:sp modelId="{06D59A10-E60F-48B4-BB19-78C19E161F90}">
      <dsp:nvSpPr>
        <dsp:cNvPr id="0" name=""/>
        <dsp:cNvSpPr/>
      </dsp:nvSpPr>
      <dsp:spPr>
        <a:xfrm>
          <a:off x="0" y="601585"/>
          <a:ext cx="8640960" cy="0"/>
        </a:xfrm>
        <a:prstGeom prst="lin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B0763489-1495-4213-80BD-898589F4DE69}">
      <dsp:nvSpPr>
        <dsp:cNvPr id="0" name=""/>
        <dsp:cNvSpPr/>
      </dsp:nvSpPr>
      <dsp:spPr>
        <a:xfrm>
          <a:off x="0" y="601585"/>
          <a:ext cx="8640960" cy="6012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i="0" kern="1200" baseline="0"/>
            <a:t>PC:</a:t>
          </a:r>
          <a:r>
            <a:rPr lang="en-US" sz="2300" b="0" i="0" kern="1200" baseline="0"/>
            <a:t> Chuyển ảnh sang hệ màu RGB565 (pixel thô).</a:t>
          </a:r>
          <a:endParaRPr lang="en-US" sz="2300" kern="1200"/>
        </a:p>
      </dsp:txBody>
      <dsp:txXfrm>
        <a:off x="0" y="601585"/>
        <a:ext cx="8640960" cy="601217"/>
      </dsp:txXfrm>
    </dsp:sp>
    <dsp:sp modelId="{AE508AFB-6063-4891-A182-15E62E75B063}">
      <dsp:nvSpPr>
        <dsp:cNvPr id="0" name=""/>
        <dsp:cNvSpPr/>
      </dsp:nvSpPr>
      <dsp:spPr>
        <a:xfrm>
          <a:off x="0" y="1202803"/>
          <a:ext cx="8640960" cy="0"/>
        </a:xfrm>
        <a:prstGeom prst="lin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A31880FB-F962-4B22-968F-3950E7374F2E}">
      <dsp:nvSpPr>
        <dsp:cNvPr id="0" name=""/>
        <dsp:cNvSpPr/>
      </dsp:nvSpPr>
      <dsp:spPr>
        <a:xfrm>
          <a:off x="0" y="1202803"/>
          <a:ext cx="8640960" cy="6012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i="0" kern="1200" baseline="0" dirty="0"/>
            <a:t>Giao </a:t>
          </a:r>
          <a:r>
            <a:rPr lang="en-US" sz="2300" b="1" i="0" kern="1200" baseline="0" dirty="0" err="1"/>
            <a:t>tiếp</a:t>
          </a:r>
          <a:r>
            <a:rPr lang="en-US" sz="2300" b="1" i="0" kern="1200" baseline="0" dirty="0"/>
            <a:t>:</a:t>
          </a:r>
          <a:r>
            <a:rPr lang="en-US" sz="2300" b="0" i="0" kern="1200" baseline="0" dirty="0"/>
            <a:t> </a:t>
          </a:r>
          <a:r>
            <a:rPr lang="en-US" sz="2300" b="0" i="0" kern="1200" baseline="0" dirty="0" err="1"/>
            <a:t>Truyền</a:t>
          </a:r>
          <a:r>
            <a:rPr lang="en-US" sz="2300" b="0" i="0" kern="1200" baseline="0" dirty="0"/>
            <a:t> qua USB-UART CP2102 </a:t>
          </a:r>
          <a:r>
            <a:rPr lang="en-US" sz="2300" b="0" i="0" kern="1200" baseline="0" dirty="0" err="1"/>
            <a:t>với</a:t>
          </a:r>
          <a:r>
            <a:rPr lang="en-US" sz="2300" b="0" i="0" kern="1200" baseline="0" dirty="0"/>
            <a:t> Baud rate </a:t>
          </a:r>
          <a:r>
            <a:rPr lang="en-US" sz="2300" b="0" i="0" u="none" kern="1200" dirty="0"/>
            <a:t>921,600 bps</a:t>
          </a:r>
          <a:r>
            <a:rPr lang="en-US" sz="2300" b="0" i="0" kern="1200" baseline="0" dirty="0"/>
            <a:t>.</a:t>
          </a:r>
          <a:endParaRPr lang="en-US" sz="2300" kern="1200" dirty="0"/>
        </a:p>
      </dsp:txBody>
      <dsp:txXfrm>
        <a:off x="0" y="1202803"/>
        <a:ext cx="8640960" cy="601217"/>
      </dsp:txXfrm>
    </dsp:sp>
    <dsp:sp modelId="{DE4C703D-3678-467F-9D47-2EE89BF3B72F}">
      <dsp:nvSpPr>
        <dsp:cNvPr id="0" name=""/>
        <dsp:cNvSpPr/>
      </dsp:nvSpPr>
      <dsp:spPr>
        <a:xfrm>
          <a:off x="0" y="1804020"/>
          <a:ext cx="8640960" cy="0"/>
        </a:xfrm>
        <a:prstGeom prst="lin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2B5FBE41-760C-4B92-A97F-F7B7EA4FE717}">
      <dsp:nvSpPr>
        <dsp:cNvPr id="0" name=""/>
        <dsp:cNvSpPr/>
      </dsp:nvSpPr>
      <dsp:spPr>
        <a:xfrm>
          <a:off x="0" y="1804020"/>
          <a:ext cx="8640960" cy="6012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i="0" kern="1200" baseline="0"/>
            <a:t>Lưu trữ:</a:t>
          </a:r>
          <a:r>
            <a:rPr lang="en-US" sz="2300" b="0" i="0" kern="1200" baseline="0"/>
            <a:t> Dữ liệu được ghép thành 16-bit và lưu vào SRAM.</a:t>
          </a:r>
          <a:endParaRPr lang="en-US" sz="2300" kern="1200"/>
        </a:p>
      </dsp:txBody>
      <dsp:txXfrm>
        <a:off x="0" y="1804020"/>
        <a:ext cx="8640960" cy="601217"/>
      </dsp:txXfrm>
    </dsp:sp>
    <dsp:sp modelId="{08E58F3E-2DA5-4D39-BC89-FEB02EBFF2A7}">
      <dsp:nvSpPr>
        <dsp:cNvPr id="0" name=""/>
        <dsp:cNvSpPr/>
      </dsp:nvSpPr>
      <dsp:spPr>
        <a:xfrm>
          <a:off x="0" y="2405238"/>
          <a:ext cx="8640960" cy="0"/>
        </a:xfrm>
        <a:prstGeom prst="lin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4D93490C-E0E1-4DFF-A5F2-294DD92CEE76}">
      <dsp:nvSpPr>
        <dsp:cNvPr id="0" name=""/>
        <dsp:cNvSpPr/>
      </dsp:nvSpPr>
      <dsp:spPr>
        <a:xfrm>
          <a:off x="0" y="2405238"/>
          <a:ext cx="8640960" cy="6012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i="0" kern="1200" baseline="0"/>
            <a:t>Hiển thị:</a:t>
          </a:r>
          <a:r>
            <a:rPr lang="en-US" sz="2300" b="0" i="0" kern="1200" baseline="0"/>
            <a:t> VGA Controller đọc từ SRAM và xuất ra màn hình.</a:t>
          </a:r>
          <a:endParaRPr lang="en-US" sz="2300" kern="1200"/>
        </a:p>
      </dsp:txBody>
      <dsp:txXfrm>
        <a:off x="0" y="2405238"/>
        <a:ext cx="8640960" cy="60121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B41815E-765A-40A8-99C6-F127D7A12C4B}" type="datetimeFigureOut">
              <a:rPr kumimoji="1" lang="ja-JP" altLang="en-US" smtClean="0"/>
              <a:t>2026/5/21</a:t>
            </a:fld>
            <a:endParaRPr kumimoji="1" lang="ja-JP" altLang="en-US"/>
          </a:p>
        </p:txBody>
      </p:sp>
      <p:sp>
        <p:nvSpPr>
          <p:cNvPr id="4" name="フッター プレースホル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96E1689-3E24-4715-81AA-F8F7237FC61E}" type="slidenum">
              <a:rPr kumimoji="1" lang="ja-JP" altLang="en-US" smtClean="0"/>
              <a:t>‹#›</a:t>
            </a:fld>
            <a:endParaRPr kumimoji="1" lang="ja-JP" altLang="en-US"/>
          </a:p>
        </p:txBody>
      </p:sp>
    </p:spTree>
    <p:extLst>
      <p:ext uri="{BB962C8B-B14F-4D97-AF65-F5344CB8AC3E}">
        <p14:creationId xmlns:p14="http://schemas.microsoft.com/office/powerpoint/2010/main" val="12542573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2DC1322-60E5-4FB1-AE3F-C5810C4969C1}" type="datetimeFigureOut">
              <a:rPr kumimoji="1" lang="ja-JP" altLang="en-US" smtClean="0"/>
              <a:pPr/>
              <a:t>2026/5/21</a:t>
            </a:fld>
            <a:endParaRPr kumimoji="1" lang="ja-JP" altLang="en-US"/>
          </a:p>
        </p:txBody>
      </p:sp>
      <p:sp>
        <p:nvSpPr>
          <p:cNvPr id="4" name="スライド イメージ プレースホルダー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9D7235-7D46-4FEA-A007-68D1C591E286}" type="slidenum">
              <a:rPr kumimoji="1" lang="ja-JP" altLang="en-US" smtClean="0"/>
              <a:pPr/>
              <a:t>‹#›</a:t>
            </a:fld>
            <a:endParaRPr kumimoji="1" lang="ja-JP" altLang="en-US"/>
          </a:p>
        </p:txBody>
      </p:sp>
    </p:spTree>
    <p:extLst>
      <p:ext uri="{BB962C8B-B14F-4D97-AF65-F5344CB8AC3E}">
        <p14:creationId xmlns:p14="http://schemas.microsoft.com/office/powerpoint/2010/main" val="271875256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9D7235-7D46-4FEA-A007-68D1C591E286}" type="slidenum">
              <a:rPr kumimoji="1" lang="ja-JP" altLang="en-US" smtClean="0"/>
              <a:pPr/>
              <a:t>3</a:t>
            </a:fld>
            <a:endParaRPr kumimoji="1" lang="ja-JP" altLang="en-US"/>
          </a:p>
        </p:txBody>
      </p:sp>
    </p:spTree>
    <p:extLst>
      <p:ext uri="{BB962C8B-B14F-4D97-AF65-F5344CB8AC3E}">
        <p14:creationId xmlns:p14="http://schemas.microsoft.com/office/powerpoint/2010/main" val="26486440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9D7235-7D46-4FEA-A007-68D1C591E286}" type="slidenum">
              <a:rPr kumimoji="1" lang="ja-JP" altLang="en-US" smtClean="0"/>
              <a:pPr/>
              <a:t>5</a:t>
            </a:fld>
            <a:endParaRPr kumimoji="1" lang="ja-JP" altLang="en-US"/>
          </a:p>
        </p:txBody>
      </p:sp>
    </p:spTree>
    <p:extLst>
      <p:ext uri="{BB962C8B-B14F-4D97-AF65-F5344CB8AC3E}">
        <p14:creationId xmlns:p14="http://schemas.microsoft.com/office/powerpoint/2010/main" val="37643671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9D7235-7D46-4FEA-A007-68D1C591E286}" type="slidenum">
              <a:rPr kumimoji="1" lang="ja-JP" altLang="en-US" smtClean="0"/>
              <a:pPr/>
              <a:t>6</a:t>
            </a:fld>
            <a:endParaRPr kumimoji="1" lang="ja-JP" altLang="en-US"/>
          </a:p>
        </p:txBody>
      </p:sp>
    </p:spTree>
    <p:extLst>
      <p:ext uri="{BB962C8B-B14F-4D97-AF65-F5344CB8AC3E}">
        <p14:creationId xmlns:p14="http://schemas.microsoft.com/office/powerpoint/2010/main" val="37170933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FF866-E266-E516-A7FD-2F98AFF847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649E19-26F7-D8A5-29FE-54CBA98A7E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025446-D6E8-FDC9-39DE-CFE4B45BA4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2AF0CA-36E7-B96C-9FEE-E3B7B8787494}"/>
              </a:ext>
            </a:extLst>
          </p:cNvPr>
          <p:cNvSpPr>
            <a:spLocks noGrp="1"/>
          </p:cNvSpPr>
          <p:nvPr>
            <p:ph type="sldNum" sz="quarter" idx="5"/>
          </p:nvPr>
        </p:nvSpPr>
        <p:spPr/>
        <p:txBody>
          <a:bodyPr/>
          <a:lstStyle/>
          <a:p>
            <a:fld id="{269D7235-7D46-4FEA-A007-68D1C591E286}" type="slidenum">
              <a:rPr kumimoji="1" lang="ja-JP" altLang="en-US" smtClean="0"/>
              <a:pPr/>
              <a:t>7</a:t>
            </a:fld>
            <a:endParaRPr kumimoji="1" lang="ja-JP" altLang="en-US"/>
          </a:p>
        </p:txBody>
      </p:sp>
    </p:spTree>
    <p:extLst>
      <p:ext uri="{BB962C8B-B14F-4D97-AF65-F5344CB8AC3E}">
        <p14:creationId xmlns:p14="http://schemas.microsoft.com/office/powerpoint/2010/main" val="32989712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94E11-EBC7-2FAA-C0AF-6DC4C42B89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8D9800-5929-8494-02C0-D4DA7DC683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0A5CFA-4493-4CBB-E2EB-7CAAB0B74D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0E5281-1452-9FA8-928B-428A3284674F}"/>
              </a:ext>
            </a:extLst>
          </p:cNvPr>
          <p:cNvSpPr>
            <a:spLocks noGrp="1"/>
          </p:cNvSpPr>
          <p:nvPr>
            <p:ph type="sldNum" sz="quarter" idx="5"/>
          </p:nvPr>
        </p:nvSpPr>
        <p:spPr/>
        <p:txBody>
          <a:bodyPr/>
          <a:lstStyle/>
          <a:p>
            <a:fld id="{269D7235-7D46-4FEA-A007-68D1C591E286}" type="slidenum">
              <a:rPr kumimoji="1" lang="ja-JP" altLang="en-US" smtClean="0"/>
              <a:pPr/>
              <a:t>8</a:t>
            </a:fld>
            <a:endParaRPr kumimoji="1" lang="ja-JP" altLang="en-US"/>
          </a:p>
        </p:txBody>
      </p:sp>
    </p:spTree>
    <p:extLst>
      <p:ext uri="{BB962C8B-B14F-4D97-AF65-F5344CB8AC3E}">
        <p14:creationId xmlns:p14="http://schemas.microsoft.com/office/powerpoint/2010/main" val="15254332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9D7235-7D46-4FEA-A007-68D1C591E286}" type="slidenum">
              <a:rPr kumimoji="1" lang="ja-JP" altLang="en-US" smtClean="0"/>
              <a:pPr/>
              <a:t>10</a:t>
            </a:fld>
            <a:endParaRPr kumimoji="1" lang="ja-JP" altLang="en-US"/>
          </a:p>
        </p:txBody>
      </p:sp>
    </p:spTree>
    <p:extLst>
      <p:ext uri="{BB962C8B-B14F-4D97-AF65-F5344CB8AC3E}">
        <p14:creationId xmlns:p14="http://schemas.microsoft.com/office/powerpoint/2010/main" val="2664844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9D7235-7D46-4FEA-A007-68D1C591E286}" type="slidenum">
              <a:rPr kumimoji="1" lang="ja-JP" altLang="en-US" smtClean="0"/>
              <a:pPr/>
              <a:t>13</a:t>
            </a:fld>
            <a:endParaRPr kumimoji="1" lang="ja-JP" altLang="en-US"/>
          </a:p>
        </p:txBody>
      </p:sp>
    </p:spTree>
    <p:extLst>
      <p:ext uri="{BB962C8B-B14F-4D97-AF65-F5344CB8AC3E}">
        <p14:creationId xmlns:p14="http://schemas.microsoft.com/office/powerpoint/2010/main" val="26825248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9D7235-7D46-4FEA-A007-68D1C591E286}" type="slidenum">
              <a:rPr kumimoji="1" lang="ja-JP" altLang="en-US" smtClean="0"/>
              <a:pPr/>
              <a:t>14</a:t>
            </a:fld>
            <a:endParaRPr kumimoji="1" lang="ja-JP" altLang="en-US"/>
          </a:p>
        </p:txBody>
      </p:sp>
    </p:spTree>
    <p:extLst>
      <p:ext uri="{BB962C8B-B14F-4D97-AF65-F5344CB8AC3E}">
        <p14:creationId xmlns:p14="http://schemas.microsoft.com/office/powerpoint/2010/main" val="34157850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9D7235-7D46-4FEA-A007-68D1C591E286}" type="slidenum">
              <a:rPr kumimoji="1" lang="ja-JP" altLang="en-US" smtClean="0"/>
              <a:pPr/>
              <a:t>15</a:t>
            </a:fld>
            <a:endParaRPr kumimoji="1" lang="ja-JP" altLang="en-US"/>
          </a:p>
        </p:txBody>
      </p:sp>
    </p:spTree>
    <p:extLst>
      <p:ext uri="{BB962C8B-B14F-4D97-AF65-F5344CB8AC3E}">
        <p14:creationId xmlns:p14="http://schemas.microsoft.com/office/powerpoint/2010/main" val="29986022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348EC-16B1-CE4D-B10C-B9A0920985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FEE12-B0A1-CE44-51D5-FD3277C467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1B4DBA-D391-118D-F9DB-69515FBD81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037A57-ADEB-F40E-33EE-6C030D8FE2F0}"/>
              </a:ext>
            </a:extLst>
          </p:cNvPr>
          <p:cNvSpPr>
            <a:spLocks noGrp="1"/>
          </p:cNvSpPr>
          <p:nvPr>
            <p:ph type="sldNum" sz="quarter" idx="5"/>
          </p:nvPr>
        </p:nvSpPr>
        <p:spPr/>
        <p:txBody>
          <a:bodyPr/>
          <a:lstStyle/>
          <a:p>
            <a:fld id="{269D7235-7D46-4FEA-A007-68D1C591E286}" type="slidenum">
              <a:rPr kumimoji="1" lang="ja-JP" altLang="en-US" smtClean="0"/>
              <a:pPr/>
              <a:t>16</a:t>
            </a:fld>
            <a:endParaRPr kumimoji="1" lang="ja-JP" altLang="en-US"/>
          </a:p>
        </p:txBody>
      </p:sp>
    </p:spTree>
    <p:extLst>
      <p:ext uri="{BB962C8B-B14F-4D97-AF65-F5344CB8AC3E}">
        <p14:creationId xmlns:p14="http://schemas.microsoft.com/office/powerpoint/2010/main" val="25212848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C7698-D6F0-8D59-2686-BC91CDDB12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538718-B446-9222-B77A-787A01C4C5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1A4869-150C-3471-22EA-C900C91C59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C473AE-36E7-C223-A737-B7760D9067BB}"/>
              </a:ext>
            </a:extLst>
          </p:cNvPr>
          <p:cNvSpPr>
            <a:spLocks noGrp="1"/>
          </p:cNvSpPr>
          <p:nvPr>
            <p:ph type="sldNum" sz="quarter" idx="5"/>
          </p:nvPr>
        </p:nvSpPr>
        <p:spPr/>
        <p:txBody>
          <a:bodyPr/>
          <a:lstStyle/>
          <a:p>
            <a:fld id="{269D7235-7D46-4FEA-A007-68D1C591E286}" type="slidenum">
              <a:rPr kumimoji="1" lang="ja-JP" altLang="en-US" smtClean="0"/>
              <a:pPr/>
              <a:t>17</a:t>
            </a:fld>
            <a:endParaRPr kumimoji="1" lang="ja-JP" altLang="en-US"/>
          </a:p>
        </p:txBody>
      </p:sp>
    </p:spTree>
    <p:extLst>
      <p:ext uri="{BB962C8B-B14F-4D97-AF65-F5344CB8AC3E}">
        <p14:creationId xmlns:p14="http://schemas.microsoft.com/office/powerpoint/2010/main" val="31792466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9DF36-D4D3-EB67-8398-86C8DB6577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054EC2-2C10-592D-6C6C-4ADD6D9B52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BF777F-BA40-29E8-73CC-F5CC5866D7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23E505-08C4-F33C-5092-F10DCE3DD95C}"/>
              </a:ext>
            </a:extLst>
          </p:cNvPr>
          <p:cNvSpPr>
            <a:spLocks noGrp="1"/>
          </p:cNvSpPr>
          <p:nvPr>
            <p:ph type="sldNum" sz="quarter" idx="5"/>
          </p:nvPr>
        </p:nvSpPr>
        <p:spPr/>
        <p:txBody>
          <a:bodyPr/>
          <a:lstStyle/>
          <a:p>
            <a:fld id="{269D7235-7D46-4FEA-A007-68D1C591E286}" type="slidenum">
              <a:rPr kumimoji="1" lang="ja-JP" altLang="en-US" smtClean="0"/>
              <a:pPr/>
              <a:t>18</a:t>
            </a:fld>
            <a:endParaRPr kumimoji="1" lang="ja-JP" altLang="en-US"/>
          </a:p>
        </p:txBody>
      </p:sp>
    </p:spTree>
    <p:extLst>
      <p:ext uri="{BB962C8B-B14F-4D97-AF65-F5344CB8AC3E}">
        <p14:creationId xmlns:p14="http://schemas.microsoft.com/office/powerpoint/2010/main" val="517286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9D7235-7D46-4FEA-A007-68D1C591E286}" type="slidenum">
              <a:rPr kumimoji="1" lang="ja-JP" altLang="en-US" smtClean="0"/>
              <a:pPr/>
              <a:t>20</a:t>
            </a:fld>
            <a:endParaRPr kumimoji="1" lang="ja-JP" altLang="en-US"/>
          </a:p>
        </p:txBody>
      </p:sp>
    </p:spTree>
    <p:extLst>
      <p:ext uri="{BB962C8B-B14F-4D97-AF65-F5344CB8AC3E}">
        <p14:creationId xmlns:p14="http://schemas.microsoft.com/office/powerpoint/2010/main" val="2791744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9D7235-7D46-4FEA-A007-68D1C591E286}" type="slidenum">
              <a:rPr kumimoji="1" lang="ja-JP" altLang="en-US" smtClean="0"/>
              <a:pPr/>
              <a:t>22</a:t>
            </a:fld>
            <a:endParaRPr kumimoji="1" lang="ja-JP" altLang="en-US"/>
          </a:p>
        </p:txBody>
      </p:sp>
    </p:spTree>
    <p:extLst>
      <p:ext uri="{BB962C8B-B14F-4D97-AF65-F5344CB8AC3E}">
        <p14:creationId xmlns:p14="http://schemas.microsoft.com/office/powerpoint/2010/main" val="11680083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pic>
        <p:nvPicPr>
          <p:cNvPr id="37902" name="Picture 14" descr="OFDM"/>
          <p:cNvPicPr>
            <a:picLocks noChangeAspect="1" noChangeArrowheads="1"/>
          </p:cNvPicPr>
          <p:nvPr/>
        </p:nvPicPr>
        <p:blipFill>
          <a:blip r:embed="rId2" cstate="print"/>
          <a:srcRect/>
          <a:stretch>
            <a:fillRect/>
          </a:stretch>
        </p:blipFill>
        <p:spPr bwMode="auto">
          <a:xfrm>
            <a:off x="0" y="4654550"/>
            <a:ext cx="9144000" cy="1485900"/>
          </a:xfrm>
          <a:prstGeom prst="rect">
            <a:avLst/>
          </a:prstGeom>
          <a:noFill/>
        </p:spPr>
      </p:pic>
      <p:sp>
        <p:nvSpPr>
          <p:cNvPr id="37892" name="Rectangle 4"/>
          <p:cNvSpPr>
            <a:spLocks noGrp="1" noChangeArrowheads="1"/>
          </p:cNvSpPr>
          <p:nvPr>
            <p:ph type="ctrTitle" hasCustomPrompt="1"/>
          </p:nvPr>
        </p:nvSpPr>
        <p:spPr>
          <a:xfrm>
            <a:off x="684213" y="2133600"/>
            <a:ext cx="7772400" cy="1470025"/>
          </a:xfrm>
        </p:spPr>
        <p:txBody>
          <a:bodyPr/>
          <a:lstStyle>
            <a:lvl1pPr algn="ctr">
              <a:defRPr kumimoji="0" baseline="0"/>
            </a:lvl1pPr>
          </a:lstStyle>
          <a:p>
            <a:r>
              <a:rPr lang="en-US" altLang="ja-JP" dirty="0"/>
              <a:t>Master Presentation Title Format</a:t>
            </a:r>
            <a:endParaRPr lang="ja-JP" altLang="ja-JP" dirty="0"/>
          </a:p>
        </p:txBody>
      </p:sp>
      <p:sp>
        <p:nvSpPr>
          <p:cNvPr id="37900" name="Rectangle 12"/>
          <p:cNvSpPr>
            <a:spLocks noChangeArrowheads="1"/>
          </p:cNvSpPr>
          <p:nvPr/>
        </p:nvSpPr>
        <p:spPr bwMode="auto">
          <a:xfrm flipH="1">
            <a:off x="0" y="4652963"/>
            <a:ext cx="9144000" cy="1560512"/>
          </a:xfrm>
          <a:prstGeom prst="rect">
            <a:avLst/>
          </a:prstGeom>
          <a:solidFill>
            <a:schemeClr val="bg1">
              <a:alpha val="30000"/>
            </a:schemeClr>
          </a:solidFill>
          <a:ln w="9525">
            <a:noFill/>
            <a:miter lim="800000"/>
            <a:headEnd/>
            <a:tailEnd/>
          </a:ln>
          <a:effectLst/>
        </p:spPr>
        <p:txBody>
          <a:bodyPr wrap="none" anchor="ctr"/>
          <a:lstStyle/>
          <a:p>
            <a:endParaRPr lang="ja-JP" altLang="en-US"/>
          </a:p>
        </p:txBody>
      </p:sp>
      <p:sp>
        <p:nvSpPr>
          <p:cNvPr id="37893" name="Rectangle 5"/>
          <p:cNvSpPr>
            <a:spLocks noGrp="1" noChangeArrowheads="1"/>
          </p:cNvSpPr>
          <p:nvPr>
            <p:ph type="subTitle" idx="1" hasCustomPrompt="1"/>
          </p:nvPr>
        </p:nvSpPr>
        <p:spPr>
          <a:xfrm>
            <a:off x="1371600" y="3886200"/>
            <a:ext cx="6400800" cy="1752600"/>
          </a:xfrm>
        </p:spPr>
        <p:txBody>
          <a:bodyPr/>
          <a:lstStyle>
            <a:lvl1pPr marL="0" indent="0" algn="ctr">
              <a:buFont typeface="Wingdings" pitchFamily="2" charset="2"/>
              <a:buNone/>
              <a:defRPr baseline="0"/>
            </a:lvl1pPr>
          </a:lstStyle>
          <a:p>
            <a:r>
              <a:rPr lang="en-US" altLang="ja-JP" dirty="0"/>
              <a:t>Master Presentation Sub-Title Format</a:t>
            </a:r>
            <a:endParaRPr lang="ja-JP" altLang="ja-JP" dirty="0"/>
          </a:p>
        </p:txBody>
      </p:sp>
      <p:sp>
        <p:nvSpPr>
          <p:cNvPr id="3" name="Date Placeholder 2"/>
          <p:cNvSpPr>
            <a:spLocks noGrp="1"/>
          </p:cNvSpPr>
          <p:nvPr>
            <p:ph type="dt" sz="half" idx="10"/>
          </p:nvPr>
        </p:nvSpPr>
        <p:spPr/>
        <p:txBody>
          <a:bodyPr/>
          <a:lstStyle/>
          <a:p>
            <a:fld id="{6F52207E-8A09-4FC6-83E9-3D1773E47D00}" type="datetime1">
              <a:rPr kumimoji="1" lang="en-US" altLang="ja-JP" smtClean="0"/>
              <a:t>5/21/2026</a:t>
            </a:fld>
            <a:endParaRPr kumimoji="1" lang="ja-JP" altLang="en-US"/>
          </a:p>
        </p:txBody>
      </p:sp>
      <p:sp>
        <p:nvSpPr>
          <p:cNvPr id="4" name="Footer Placeholder 3"/>
          <p:cNvSpPr>
            <a:spLocks noGrp="1"/>
          </p:cNvSpPr>
          <p:nvPr>
            <p:ph type="ftr" sz="quarter" idx="11"/>
          </p:nvPr>
        </p:nvSpPr>
        <p:spPr/>
        <p:txBody>
          <a:bodyPr/>
          <a:lstStyle/>
          <a:p>
            <a:r>
              <a:rPr kumimoji="1" lang="en-US" altLang="ja-JP"/>
              <a:t>Copyrights 2020 CE-UIT. All Rights Reserved.</a:t>
            </a:r>
            <a:endParaRPr kumimoji="1" lang="ja-JP" altLang="en-US" dirty="0"/>
          </a:p>
        </p:txBody>
      </p:sp>
      <p:sp>
        <p:nvSpPr>
          <p:cNvPr id="5" name="Slide Number Placeholder 4"/>
          <p:cNvSpPr>
            <a:spLocks noGrp="1"/>
          </p:cNvSpPr>
          <p:nvPr>
            <p:ph type="sldNum" sz="quarter" idx="12"/>
          </p:nvPr>
        </p:nvSpPr>
        <p:spPr/>
        <p:txBody>
          <a:bodyPr/>
          <a:lstStyle/>
          <a:p>
            <a:fld id="{800C8475-47C1-49C9-BEE5-594F8CF4D71F}" type="slidenum">
              <a:rPr kumimoji="1" lang="ja-JP" altLang="en-US" smtClean="0"/>
              <a:pPr/>
              <a:t>‹#›</a:t>
            </a:fld>
            <a:endParaRPr kumimoji="1" lang="ja-JP" altLang="en-US"/>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46" y="10715"/>
            <a:ext cx="1762101" cy="1762101"/>
          </a:xfrm>
          <a:prstGeom prst="rect">
            <a:avLst/>
          </a:prstGeom>
        </p:spPr>
      </p:pic>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668344" y="72008"/>
            <a:ext cx="1362874" cy="16288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a:lvl1pPr>
          </a:lstStyle>
          <a:p>
            <a:r>
              <a:rPr lang="en-US" altLang="ja-JP" dirty="0"/>
              <a:t>Master Slide Title Format</a:t>
            </a:r>
            <a:endParaRPr lang="ja-JP" altLang="en-US" dirty="0"/>
          </a:p>
        </p:txBody>
      </p:sp>
      <p:sp>
        <p:nvSpPr>
          <p:cNvPr id="3" name="コンテンツ プレースホルダ 2"/>
          <p:cNvSpPr>
            <a:spLocks noGrp="1"/>
          </p:cNvSpPr>
          <p:nvPr>
            <p:ph idx="1" hasCustomPrompt="1"/>
          </p:nvPr>
        </p:nvSpPr>
        <p:spPr/>
        <p:txBody>
          <a:bodyPr/>
          <a:lstStyle>
            <a:lvl1pPr algn="just">
              <a:defRPr sz="2600"/>
            </a:lvl1pPr>
            <a:lvl2pPr algn="just">
              <a:defRPr baseline="0"/>
            </a:lvl2pPr>
            <a:lvl3pPr algn="just">
              <a:defRPr sz="2200" baseline="0"/>
            </a:lvl3pPr>
            <a:lvl4pPr algn="just">
              <a:defRPr sz="2000" baseline="0"/>
            </a:lvl4pPr>
            <a:lvl5pPr>
              <a:defRPr baseline="0"/>
            </a:lvl5pPr>
          </a:lstStyle>
          <a:p>
            <a:pPr lvl="0"/>
            <a:r>
              <a:rPr lang="en-US" altLang="ja-JP" dirty="0"/>
              <a:t>Master Slide Content Format</a:t>
            </a:r>
            <a:endParaRPr lang="ja-JP" altLang="en-US" dirty="0"/>
          </a:p>
          <a:p>
            <a:pPr lvl="1"/>
            <a:r>
              <a:rPr lang="en-US" altLang="ja-JP" dirty="0"/>
              <a:t>Level 2</a:t>
            </a:r>
            <a:endParaRPr lang="ja-JP" altLang="en-US" dirty="0"/>
          </a:p>
          <a:p>
            <a:pPr lvl="2"/>
            <a:r>
              <a:rPr lang="en-US" altLang="ja-JP" dirty="0"/>
              <a:t>Level 3</a:t>
            </a:r>
            <a:endParaRPr lang="ja-JP" altLang="en-US" dirty="0"/>
          </a:p>
          <a:p>
            <a:pPr lvl="3"/>
            <a:r>
              <a:rPr lang="en-US" altLang="ja-JP" dirty="0"/>
              <a:t>Level 4</a:t>
            </a:r>
            <a:endParaRPr lang="ja-JP" altLang="en-US" dirty="0"/>
          </a:p>
          <a:p>
            <a:pPr lvl="4"/>
            <a:r>
              <a:rPr lang="en-US" altLang="ja-JP" dirty="0"/>
              <a:t>Level 5</a:t>
            </a:r>
            <a:endParaRPr lang="ja-JP" altLang="en-US" dirty="0"/>
          </a:p>
        </p:txBody>
      </p:sp>
      <p:sp>
        <p:nvSpPr>
          <p:cNvPr id="4" name="日付プレースホルダ 3"/>
          <p:cNvSpPr>
            <a:spLocks noGrp="1"/>
          </p:cNvSpPr>
          <p:nvPr>
            <p:ph type="dt" sz="half" idx="10"/>
          </p:nvPr>
        </p:nvSpPr>
        <p:spPr/>
        <p:txBody>
          <a:bodyPr/>
          <a:lstStyle>
            <a:lvl1pPr>
              <a:defRPr/>
            </a:lvl1pPr>
          </a:lstStyle>
          <a:p>
            <a:fld id="{F7681EE8-9FE2-425D-8FB4-74C399BDEDA0}" type="datetime1">
              <a:rPr kumimoji="1" lang="en-US" altLang="ja-JP" smtClean="0"/>
              <a:t>5/21/2026</a:t>
            </a:fld>
            <a:endParaRPr kumimoji="1" lang="ja-JP" altLang="en-US"/>
          </a:p>
        </p:txBody>
      </p:sp>
      <p:sp>
        <p:nvSpPr>
          <p:cNvPr id="6" name="スライド番号プレースホルダ 5"/>
          <p:cNvSpPr>
            <a:spLocks noGrp="1"/>
          </p:cNvSpPr>
          <p:nvPr>
            <p:ph type="sldNum" sz="quarter" idx="12"/>
          </p:nvPr>
        </p:nvSpPr>
        <p:spPr/>
        <p:txBody>
          <a:bodyPr/>
          <a:lstStyle>
            <a:lvl1pPr>
              <a:defRPr/>
            </a:lvl1pPr>
          </a:lstStyle>
          <a:p>
            <a:fld id="{800C8475-47C1-49C9-BEE5-594F8CF4D71F}" type="slidenum">
              <a:rPr kumimoji="1" lang="ja-JP" altLang="en-US" smtClean="0"/>
              <a:pPr/>
              <a:t>‹#›</a:t>
            </a:fld>
            <a:endParaRPr kumimoji="1" lang="ja-JP" altLang="en-US"/>
          </a:p>
        </p:txBody>
      </p:sp>
      <p:sp>
        <p:nvSpPr>
          <p:cNvPr id="7" name="Footer Placeholder 3"/>
          <p:cNvSpPr>
            <a:spLocks noGrp="1"/>
          </p:cNvSpPr>
          <p:nvPr>
            <p:ph type="ftr" sz="quarter" idx="11"/>
          </p:nvPr>
        </p:nvSpPr>
        <p:spPr>
          <a:xfrm>
            <a:off x="1762101" y="6524625"/>
            <a:ext cx="5618212" cy="288925"/>
          </a:xfrm>
        </p:spPr>
        <p:txBody>
          <a:bodyPr/>
          <a:lstStyle/>
          <a:p>
            <a:r>
              <a:rPr kumimoji="1" lang="en-US" altLang="ja-JP"/>
              <a:t>Copyrights 2020 CE-UIT. All Rights Reserved.</a:t>
            </a:r>
            <a:endParaRPr kumimoji="1" lang="ja-JP"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3BAD0F7-3350-4E06-B588-1E0EA9C9F1FB}" type="datetime1">
              <a:rPr kumimoji="1" lang="en-US" altLang="ja-JP" smtClean="0"/>
              <a:t>5/21/2026</a:t>
            </a:fld>
            <a:endParaRPr kumimoji="1" lang="ja-JP" altLang="en-US"/>
          </a:p>
        </p:txBody>
      </p:sp>
      <p:sp>
        <p:nvSpPr>
          <p:cNvPr id="5" name="Slide Number Placeholder 4"/>
          <p:cNvSpPr>
            <a:spLocks noGrp="1"/>
          </p:cNvSpPr>
          <p:nvPr>
            <p:ph type="sldNum" sz="quarter" idx="12"/>
          </p:nvPr>
        </p:nvSpPr>
        <p:spPr/>
        <p:txBody>
          <a:bodyPr/>
          <a:lstStyle/>
          <a:p>
            <a:fld id="{800C8475-47C1-49C9-BEE5-594F8CF4D71F}" type="slidenum">
              <a:rPr kumimoji="1" lang="ja-JP" altLang="en-US" smtClean="0"/>
              <a:pPr/>
              <a:t>‹#›</a:t>
            </a:fld>
            <a:endParaRPr kumimoji="1" lang="ja-JP" altLang="en-US"/>
          </a:p>
        </p:txBody>
      </p:sp>
      <p:sp>
        <p:nvSpPr>
          <p:cNvPr id="6" name="Footer Placeholder 3"/>
          <p:cNvSpPr>
            <a:spLocks noGrp="1"/>
          </p:cNvSpPr>
          <p:nvPr>
            <p:ph type="ftr" sz="quarter" idx="11"/>
          </p:nvPr>
        </p:nvSpPr>
        <p:spPr>
          <a:xfrm>
            <a:off x="1762101" y="6524625"/>
            <a:ext cx="5618212" cy="288925"/>
          </a:xfrm>
        </p:spPr>
        <p:txBody>
          <a:bodyPr/>
          <a:lstStyle/>
          <a:p>
            <a:r>
              <a:rPr kumimoji="1" lang="en-US" altLang="ja-JP"/>
              <a:t>Copyrights 2020 CE-UIT. All Rights Reserved.</a:t>
            </a:r>
            <a:endParaRPr kumimoji="1" lang="ja-JP" altLang="en-US" dirty="0"/>
          </a:p>
        </p:txBody>
      </p:sp>
    </p:spTree>
    <p:extLst>
      <p:ext uri="{BB962C8B-B14F-4D97-AF65-F5344CB8AC3E}">
        <p14:creationId xmlns:p14="http://schemas.microsoft.com/office/powerpoint/2010/main" val="2277760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722313" y="4406900"/>
            <a:ext cx="7772400" cy="1362075"/>
          </a:xfrm>
        </p:spPr>
        <p:txBody>
          <a:bodyPr anchor="t"/>
          <a:lstStyle>
            <a:lvl1pPr algn="l">
              <a:defRPr sz="4000" b="0" cap="all" baseline="0"/>
            </a:lvl1pPr>
          </a:lstStyle>
          <a:p>
            <a:r>
              <a:rPr lang="en-US" altLang="ja-JP" dirty="0"/>
              <a:t>Master Slide Title Format</a:t>
            </a:r>
            <a:endParaRPr lang="ja-JP" altLang="en-US" dirty="0"/>
          </a:p>
        </p:txBody>
      </p:sp>
      <p:sp>
        <p:nvSpPr>
          <p:cNvPr id="3" name="テキスト プレースホルダ 2"/>
          <p:cNvSpPr>
            <a:spLocks noGrp="1"/>
          </p:cNvSpPr>
          <p:nvPr>
            <p:ph type="body" idx="1" hasCustomPrompt="1"/>
          </p:nvPr>
        </p:nvSpPr>
        <p:spPr>
          <a:xfrm>
            <a:off x="722313" y="2906713"/>
            <a:ext cx="7772400" cy="1500187"/>
          </a:xfrm>
        </p:spPr>
        <p:txBody>
          <a:bodyPr anchor="b"/>
          <a:lstStyle>
            <a:lvl1pPr marL="0" indent="0">
              <a:buNone/>
              <a:defRPr sz="2000" baseline="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ja-JP" dirty="0"/>
              <a:t>Master Slide Content Format</a:t>
            </a:r>
            <a:endParaRPr lang="ja-JP" altLang="en-US" dirty="0"/>
          </a:p>
        </p:txBody>
      </p:sp>
      <p:sp>
        <p:nvSpPr>
          <p:cNvPr id="4" name="日付プレースホルダ 3"/>
          <p:cNvSpPr>
            <a:spLocks noGrp="1"/>
          </p:cNvSpPr>
          <p:nvPr>
            <p:ph type="dt" sz="half" idx="10"/>
          </p:nvPr>
        </p:nvSpPr>
        <p:spPr/>
        <p:txBody>
          <a:bodyPr/>
          <a:lstStyle>
            <a:lvl1pPr>
              <a:defRPr/>
            </a:lvl1pPr>
          </a:lstStyle>
          <a:p>
            <a:fld id="{E47B8097-A83C-4868-B5B8-F5134B7BBCC6}" type="datetime1">
              <a:rPr kumimoji="1" lang="en-US" altLang="ja-JP" smtClean="0"/>
              <a:t>5/21/2026</a:t>
            </a:fld>
            <a:endParaRPr kumimoji="1" lang="ja-JP" altLang="en-US"/>
          </a:p>
        </p:txBody>
      </p:sp>
      <p:sp>
        <p:nvSpPr>
          <p:cNvPr id="6" name="スライド番号プレースホルダ 5"/>
          <p:cNvSpPr>
            <a:spLocks noGrp="1"/>
          </p:cNvSpPr>
          <p:nvPr>
            <p:ph type="sldNum" sz="quarter" idx="12"/>
          </p:nvPr>
        </p:nvSpPr>
        <p:spPr/>
        <p:txBody>
          <a:bodyPr/>
          <a:lstStyle>
            <a:lvl1pPr>
              <a:defRPr/>
            </a:lvl1pPr>
          </a:lstStyle>
          <a:p>
            <a:fld id="{800C8475-47C1-49C9-BEE5-594F8CF4D71F}" type="slidenum">
              <a:rPr kumimoji="1" lang="ja-JP" altLang="en-US" smtClean="0"/>
              <a:pPr/>
              <a:t>‹#›</a:t>
            </a:fld>
            <a:endParaRPr kumimoji="1" lang="ja-JP" altLang="en-US"/>
          </a:p>
        </p:txBody>
      </p:sp>
      <p:sp>
        <p:nvSpPr>
          <p:cNvPr id="8" name="Footer Placeholder 3"/>
          <p:cNvSpPr>
            <a:spLocks noGrp="1"/>
          </p:cNvSpPr>
          <p:nvPr>
            <p:ph type="ftr" sz="quarter" idx="11"/>
          </p:nvPr>
        </p:nvSpPr>
        <p:spPr>
          <a:xfrm>
            <a:off x="1762101" y="6524625"/>
            <a:ext cx="5618212" cy="288925"/>
          </a:xfrm>
        </p:spPr>
        <p:txBody>
          <a:bodyPr/>
          <a:lstStyle/>
          <a:p>
            <a:r>
              <a:rPr kumimoji="1" lang="en-US" altLang="ja-JP"/>
              <a:t>Copyrights 2020 CE-UIT. All Rights Reserved.</a:t>
            </a:r>
            <a:endParaRPr kumimoji="1" lang="ja-JP"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つの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lang="en-US" altLang="ja-JP" dirty="0"/>
              <a:t>Master Slide Title Format</a:t>
            </a:r>
            <a:endParaRPr lang="ja-JP" altLang="en-US" dirty="0"/>
          </a:p>
        </p:txBody>
      </p:sp>
      <p:sp>
        <p:nvSpPr>
          <p:cNvPr id="3" name="コンテンツ プレースホルダ 2"/>
          <p:cNvSpPr>
            <a:spLocks noGrp="1"/>
          </p:cNvSpPr>
          <p:nvPr>
            <p:ph sz="half" idx="1" hasCustomPrompt="1"/>
          </p:nvPr>
        </p:nvSpPr>
        <p:spPr>
          <a:xfrm>
            <a:off x="468313" y="1628775"/>
            <a:ext cx="4038600" cy="4525963"/>
          </a:xfrm>
        </p:spPr>
        <p:txBody>
          <a:bodyPr/>
          <a:lstStyle>
            <a:lvl1pPr>
              <a:defRPr sz="2800"/>
            </a:lvl1pPr>
            <a:lvl2pPr>
              <a:defRPr sz="2400" baseline="0"/>
            </a:lvl2pPr>
            <a:lvl3pPr>
              <a:defRPr sz="2000" baseline="0"/>
            </a:lvl3pPr>
            <a:lvl4pPr>
              <a:defRPr sz="1800" baseline="0"/>
            </a:lvl4pPr>
            <a:lvl5pPr>
              <a:defRPr sz="1800" baseline="0"/>
            </a:lvl5pPr>
            <a:lvl6pPr>
              <a:defRPr sz="1800"/>
            </a:lvl6pPr>
            <a:lvl7pPr>
              <a:defRPr sz="1800"/>
            </a:lvl7pPr>
            <a:lvl8pPr>
              <a:defRPr sz="1800"/>
            </a:lvl8pPr>
            <a:lvl9pPr>
              <a:defRPr sz="1800"/>
            </a:lvl9pPr>
          </a:lstStyle>
          <a:p>
            <a:pPr lvl="0"/>
            <a:r>
              <a:rPr lang="en-US" altLang="ja-JP" dirty="0"/>
              <a:t>Master Slide Content Format</a:t>
            </a:r>
            <a:endParaRPr lang="ja-JP" altLang="en-US" dirty="0"/>
          </a:p>
          <a:p>
            <a:pPr lvl="1"/>
            <a:r>
              <a:rPr lang="en-US" altLang="ja-JP" dirty="0"/>
              <a:t>Level 2</a:t>
            </a:r>
            <a:endParaRPr lang="ja-JP" altLang="en-US" dirty="0"/>
          </a:p>
          <a:p>
            <a:pPr lvl="2"/>
            <a:r>
              <a:rPr lang="en-US" altLang="ja-JP" dirty="0"/>
              <a:t>Level 3</a:t>
            </a:r>
            <a:endParaRPr lang="ja-JP" altLang="en-US" dirty="0"/>
          </a:p>
          <a:p>
            <a:pPr lvl="3"/>
            <a:r>
              <a:rPr lang="en-US" altLang="ja-JP" dirty="0"/>
              <a:t>Level 4</a:t>
            </a:r>
            <a:endParaRPr lang="ja-JP" altLang="en-US" dirty="0"/>
          </a:p>
          <a:p>
            <a:pPr lvl="4"/>
            <a:r>
              <a:rPr lang="en-US" altLang="ja-JP" dirty="0"/>
              <a:t>Level 5</a:t>
            </a:r>
            <a:endParaRPr lang="ja-JP" altLang="en-US" dirty="0"/>
          </a:p>
        </p:txBody>
      </p:sp>
      <p:sp>
        <p:nvSpPr>
          <p:cNvPr id="5" name="日付プレースホルダ 4"/>
          <p:cNvSpPr>
            <a:spLocks noGrp="1"/>
          </p:cNvSpPr>
          <p:nvPr>
            <p:ph type="dt" sz="half" idx="10"/>
          </p:nvPr>
        </p:nvSpPr>
        <p:spPr/>
        <p:txBody>
          <a:bodyPr/>
          <a:lstStyle>
            <a:lvl1pPr>
              <a:defRPr/>
            </a:lvl1pPr>
          </a:lstStyle>
          <a:p>
            <a:fld id="{BA136E8E-48A6-4CCA-8C49-35959C36CF6D}" type="datetime1">
              <a:rPr kumimoji="1" lang="en-US" altLang="ja-JP" smtClean="0"/>
              <a:t>5/21/2026</a:t>
            </a:fld>
            <a:endParaRPr kumimoji="1" lang="ja-JP" altLang="en-US"/>
          </a:p>
        </p:txBody>
      </p:sp>
      <p:sp>
        <p:nvSpPr>
          <p:cNvPr id="7" name="スライド番号プレースホルダ 6"/>
          <p:cNvSpPr>
            <a:spLocks noGrp="1"/>
          </p:cNvSpPr>
          <p:nvPr>
            <p:ph type="sldNum" sz="quarter" idx="12"/>
          </p:nvPr>
        </p:nvSpPr>
        <p:spPr/>
        <p:txBody>
          <a:bodyPr/>
          <a:lstStyle>
            <a:lvl1pPr>
              <a:defRPr/>
            </a:lvl1pPr>
          </a:lstStyle>
          <a:p>
            <a:fld id="{800C8475-47C1-49C9-BEE5-594F8CF4D71F}" type="slidenum">
              <a:rPr kumimoji="1" lang="ja-JP" altLang="en-US" smtClean="0"/>
              <a:pPr/>
              <a:t>‹#›</a:t>
            </a:fld>
            <a:endParaRPr kumimoji="1" lang="ja-JP" altLang="en-US"/>
          </a:p>
        </p:txBody>
      </p:sp>
      <p:sp>
        <p:nvSpPr>
          <p:cNvPr id="9" name="コンテンツ プレースホルダ 2"/>
          <p:cNvSpPr>
            <a:spLocks noGrp="1"/>
          </p:cNvSpPr>
          <p:nvPr>
            <p:ph sz="half" idx="13" hasCustomPrompt="1"/>
          </p:nvPr>
        </p:nvSpPr>
        <p:spPr>
          <a:xfrm>
            <a:off x="4709864" y="1628800"/>
            <a:ext cx="4038600" cy="4525963"/>
          </a:xfrm>
        </p:spPr>
        <p:txBody>
          <a:bodyPr/>
          <a:lstStyle>
            <a:lvl1pPr>
              <a:defRPr sz="2800"/>
            </a:lvl1pPr>
            <a:lvl2pPr>
              <a:defRPr sz="2400" baseline="0"/>
            </a:lvl2pPr>
            <a:lvl3pPr>
              <a:defRPr sz="2000" baseline="0"/>
            </a:lvl3pPr>
            <a:lvl4pPr>
              <a:defRPr sz="1800" baseline="0"/>
            </a:lvl4pPr>
            <a:lvl5pPr>
              <a:defRPr sz="1800" baseline="0"/>
            </a:lvl5pPr>
            <a:lvl6pPr>
              <a:defRPr sz="1800"/>
            </a:lvl6pPr>
            <a:lvl7pPr>
              <a:defRPr sz="1800"/>
            </a:lvl7pPr>
            <a:lvl8pPr>
              <a:defRPr sz="1800"/>
            </a:lvl8pPr>
            <a:lvl9pPr>
              <a:defRPr sz="1800"/>
            </a:lvl9pPr>
          </a:lstStyle>
          <a:p>
            <a:pPr lvl="0"/>
            <a:r>
              <a:rPr lang="en-US" altLang="ja-JP" dirty="0"/>
              <a:t>Master Slide Content Format</a:t>
            </a:r>
            <a:endParaRPr lang="ja-JP" altLang="en-US" dirty="0"/>
          </a:p>
          <a:p>
            <a:pPr lvl="1"/>
            <a:r>
              <a:rPr lang="en-US" altLang="ja-JP" dirty="0"/>
              <a:t>Level 2</a:t>
            </a:r>
            <a:endParaRPr lang="ja-JP" altLang="en-US" dirty="0"/>
          </a:p>
          <a:p>
            <a:pPr lvl="2"/>
            <a:r>
              <a:rPr lang="en-US" altLang="ja-JP" dirty="0"/>
              <a:t>Level 3</a:t>
            </a:r>
            <a:endParaRPr lang="ja-JP" altLang="en-US" dirty="0"/>
          </a:p>
          <a:p>
            <a:pPr lvl="3"/>
            <a:r>
              <a:rPr lang="en-US" altLang="ja-JP" dirty="0"/>
              <a:t>Level 4</a:t>
            </a:r>
            <a:endParaRPr lang="ja-JP" altLang="en-US" dirty="0"/>
          </a:p>
          <a:p>
            <a:pPr lvl="4"/>
            <a:r>
              <a:rPr lang="en-US" altLang="ja-JP" dirty="0"/>
              <a:t>Level 5</a:t>
            </a:r>
            <a:endParaRPr lang="ja-JP" altLang="en-US" dirty="0"/>
          </a:p>
        </p:txBody>
      </p:sp>
      <p:sp>
        <p:nvSpPr>
          <p:cNvPr id="10" name="Footer Placeholder 3"/>
          <p:cNvSpPr>
            <a:spLocks noGrp="1"/>
          </p:cNvSpPr>
          <p:nvPr>
            <p:ph type="ftr" sz="quarter" idx="11"/>
          </p:nvPr>
        </p:nvSpPr>
        <p:spPr>
          <a:xfrm>
            <a:off x="1762101" y="6524625"/>
            <a:ext cx="5618212" cy="288925"/>
          </a:xfrm>
        </p:spPr>
        <p:txBody>
          <a:bodyPr/>
          <a:lstStyle/>
          <a:p>
            <a:r>
              <a:rPr kumimoji="1" lang="en-US" altLang="ja-JP"/>
              <a:t>Copyrights 2020 CE-UIT . All Rights Reserved.</a:t>
            </a:r>
            <a:endParaRPr kumimoji="1" lang="ja-JP"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65" name="Picture 41" descr="OFDM"/>
          <p:cNvPicPr>
            <a:picLocks noChangeAspect="1" noChangeArrowheads="1"/>
          </p:cNvPicPr>
          <p:nvPr/>
        </p:nvPicPr>
        <p:blipFill>
          <a:blip r:embed="rId7" cstate="print"/>
          <a:srcRect/>
          <a:stretch>
            <a:fillRect/>
          </a:stretch>
        </p:blipFill>
        <p:spPr bwMode="auto">
          <a:xfrm>
            <a:off x="179388" y="84138"/>
            <a:ext cx="7983537" cy="1296987"/>
          </a:xfrm>
          <a:prstGeom prst="rect">
            <a:avLst/>
          </a:prstGeom>
          <a:noFill/>
        </p:spPr>
      </p:pic>
      <p:sp>
        <p:nvSpPr>
          <p:cNvPr id="1066" name="Rectangle 42"/>
          <p:cNvSpPr>
            <a:spLocks noChangeArrowheads="1"/>
          </p:cNvSpPr>
          <p:nvPr/>
        </p:nvSpPr>
        <p:spPr bwMode="auto">
          <a:xfrm>
            <a:off x="0" y="44450"/>
            <a:ext cx="8640763" cy="1296988"/>
          </a:xfrm>
          <a:prstGeom prst="rect">
            <a:avLst/>
          </a:prstGeom>
          <a:solidFill>
            <a:schemeClr val="bg1">
              <a:alpha val="60001"/>
            </a:schemeClr>
          </a:solidFill>
          <a:ln w="9525">
            <a:noFill/>
            <a:miter lim="800000"/>
            <a:headEnd/>
            <a:tailEnd/>
          </a:ln>
          <a:effectLst/>
        </p:spPr>
        <p:txBody>
          <a:bodyPr wrap="none" anchor="ctr"/>
          <a:lstStyle/>
          <a:p>
            <a:endParaRPr lang="ja-JP" altLang="en-US">
              <a:latin typeface="Times New Roman" pitchFamily="18" charset="0"/>
              <a:cs typeface="Times New Roman" pitchFamily="18" charset="0"/>
            </a:endParaRPr>
          </a:p>
        </p:txBody>
      </p:sp>
      <p:sp>
        <p:nvSpPr>
          <p:cNvPr id="1026" name="Rectangle 2"/>
          <p:cNvSpPr>
            <a:spLocks noGrp="1" noChangeArrowheads="1"/>
          </p:cNvSpPr>
          <p:nvPr>
            <p:ph type="title"/>
          </p:nvPr>
        </p:nvSpPr>
        <p:spPr bwMode="auto">
          <a:xfrm>
            <a:off x="1331913" y="287338"/>
            <a:ext cx="7354887" cy="69339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ltLang="ja-JP" dirty="0"/>
              <a:t>Master Slide Title Format</a:t>
            </a:r>
            <a:endParaRPr lang="ja-JP" altLang="en-US" dirty="0"/>
          </a:p>
        </p:txBody>
      </p:sp>
      <p:sp>
        <p:nvSpPr>
          <p:cNvPr id="1027" name="Rectangle 3"/>
          <p:cNvSpPr>
            <a:spLocks noGrp="1" noChangeArrowheads="1"/>
          </p:cNvSpPr>
          <p:nvPr>
            <p:ph type="body" idx="1"/>
          </p:nvPr>
        </p:nvSpPr>
        <p:spPr bwMode="auto">
          <a:xfrm>
            <a:off x="251520" y="1412776"/>
            <a:ext cx="8640960" cy="482453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ja-JP" dirty="0"/>
              <a:t>Master Slide Content Format</a:t>
            </a:r>
            <a:endParaRPr lang="ja-JP" altLang="en-US" dirty="0"/>
          </a:p>
          <a:p>
            <a:pPr lvl="1"/>
            <a:r>
              <a:rPr lang="en-US" altLang="ja-JP" dirty="0"/>
              <a:t>Level 2</a:t>
            </a:r>
            <a:endParaRPr lang="ja-JP" altLang="en-US" dirty="0"/>
          </a:p>
          <a:p>
            <a:pPr lvl="2"/>
            <a:r>
              <a:rPr lang="en-US" altLang="ja-JP" dirty="0"/>
              <a:t>Level 3</a:t>
            </a:r>
            <a:endParaRPr lang="ja-JP" altLang="en-US" dirty="0"/>
          </a:p>
          <a:p>
            <a:pPr lvl="3"/>
            <a:r>
              <a:rPr lang="en-US" altLang="ja-JP" dirty="0"/>
              <a:t>Level 4</a:t>
            </a:r>
            <a:endParaRPr lang="ja-JP" altLang="en-US" dirty="0"/>
          </a:p>
          <a:p>
            <a:pPr lvl="4"/>
            <a:r>
              <a:rPr lang="en-US" altLang="ja-JP" dirty="0"/>
              <a:t>Level 5</a:t>
            </a:r>
            <a:endParaRPr lang="ja-JP" altLang="en-US" dirty="0"/>
          </a:p>
        </p:txBody>
      </p:sp>
      <p:sp>
        <p:nvSpPr>
          <p:cNvPr id="1028" name="Rectangle 4"/>
          <p:cNvSpPr>
            <a:spLocks noGrp="1" noChangeArrowheads="1"/>
          </p:cNvSpPr>
          <p:nvPr>
            <p:ph type="dt" sz="half" idx="2"/>
          </p:nvPr>
        </p:nvSpPr>
        <p:spPr bwMode="auto">
          <a:xfrm>
            <a:off x="251520" y="6525344"/>
            <a:ext cx="2133600" cy="28820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Times New Roman" pitchFamily="18" charset="0"/>
                <a:cs typeface="Times New Roman" pitchFamily="18" charset="0"/>
              </a:defRPr>
            </a:lvl1pPr>
          </a:lstStyle>
          <a:p>
            <a:fld id="{547C34CA-7153-4941-88F2-C5EB28E4F17F}" type="datetime1">
              <a:rPr kumimoji="1" lang="en-US" altLang="ja-JP" smtClean="0"/>
              <a:t>5/21/2026</a:t>
            </a:fld>
            <a:endParaRPr kumimoji="1" lang="ja-JP" altLang="en-US"/>
          </a:p>
        </p:txBody>
      </p:sp>
      <p:sp>
        <p:nvSpPr>
          <p:cNvPr id="1029" name="Rectangle 5"/>
          <p:cNvSpPr>
            <a:spLocks noGrp="1" noChangeArrowheads="1"/>
          </p:cNvSpPr>
          <p:nvPr>
            <p:ph type="ftr" sz="quarter" idx="3"/>
          </p:nvPr>
        </p:nvSpPr>
        <p:spPr bwMode="auto">
          <a:xfrm>
            <a:off x="1762101" y="6524625"/>
            <a:ext cx="5618212" cy="2889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kumimoji="0" sz="1000">
                <a:latin typeface="Times New Roman" pitchFamily="18" charset="0"/>
                <a:cs typeface="Times New Roman" pitchFamily="18" charset="0"/>
              </a:defRPr>
            </a:lvl1pPr>
          </a:lstStyle>
          <a:p>
            <a:r>
              <a:rPr kumimoji="1" lang="en-US" altLang="ja-JP"/>
              <a:t>Copyrights 2017 CE-UIT. All Rights Reserved.</a:t>
            </a:r>
            <a:endParaRPr kumimoji="1" lang="ja-JP" altLang="en-US" dirty="0"/>
          </a:p>
        </p:txBody>
      </p:sp>
      <p:sp>
        <p:nvSpPr>
          <p:cNvPr id="1030" name="Rectangle 6"/>
          <p:cNvSpPr>
            <a:spLocks noGrp="1" noChangeArrowheads="1"/>
          </p:cNvSpPr>
          <p:nvPr>
            <p:ph type="sldNum" sz="quarter" idx="4"/>
          </p:nvPr>
        </p:nvSpPr>
        <p:spPr bwMode="auto">
          <a:xfrm>
            <a:off x="7139880" y="6524625"/>
            <a:ext cx="1752600" cy="2889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atin typeface="Times New Roman" pitchFamily="18" charset="0"/>
                <a:cs typeface="Times New Roman" pitchFamily="18" charset="0"/>
              </a:defRPr>
            </a:lvl1pPr>
          </a:lstStyle>
          <a:p>
            <a:fld id="{800C8475-47C1-49C9-BEE5-594F8CF4D71F}" type="slidenum">
              <a:rPr kumimoji="1" lang="ja-JP" altLang="en-US" smtClean="0"/>
              <a:pPr/>
              <a:t>‹#›</a:t>
            </a:fld>
            <a:endParaRPr kumimoji="1" lang="ja-JP" altLang="en-US"/>
          </a:p>
        </p:txBody>
      </p:sp>
      <p:sp>
        <p:nvSpPr>
          <p:cNvPr id="1052" name="Line 28"/>
          <p:cNvSpPr>
            <a:spLocks noChangeShapeType="1"/>
          </p:cNvSpPr>
          <p:nvPr/>
        </p:nvSpPr>
        <p:spPr bwMode="auto">
          <a:xfrm>
            <a:off x="144463" y="1123680"/>
            <a:ext cx="8496300" cy="0"/>
          </a:xfrm>
          <a:prstGeom prst="line">
            <a:avLst/>
          </a:prstGeom>
          <a:noFill/>
          <a:ln w="9525">
            <a:solidFill>
              <a:srgbClr val="3366CC"/>
            </a:solidFill>
            <a:round/>
            <a:headEnd/>
            <a:tailEnd/>
          </a:ln>
          <a:effectLst/>
        </p:spPr>
        <p:txBody>
          <a:bodyPr/>
          <a:lstStyle/>
          <a:p>
            <a:endParaRPr lang="ja-JP" altLang="en-US" dirty="0">
              <a:latin typeface="Times New Roman" pitchFamily="18" charset="0"/>
              <a:cs typeface="Times New Roman" pitchFamily="18" charset="0"/>
            </a:endParaRPr>
          </a:p>
        </p:txBody>
      </p:sp>
      <p:pic>
        <p:nvPicPr>
          <p:cNvPr id="3" name="Picture 2"/>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07504" y="1592"/>
            <a:ext cx="1116507" cy="1116507"/>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63" r:id="rId4"/>
    <p:sldLayoutId id="2147483664" r:id="rId5"/>
  </p:sldLayoutIdLst>
  <p:hf hdr="0"/>
  <p:txStyles>
    <p:titleStyle>
      <a:lvl1pPr algn="l" rtl="0" eaLnBrk="1" fontAlgn="base" hangingPunct="1">
        <a:spcBef>
          <a:spcPct val="0"/>
        </a:spcBef>
        <a:spcAft>
          <a:spcPct val="0"/>
        </a:spcAft>
        <a:defRPr kumimoji="1" sz="3200" baseline="0">
          <a:solidFill>
            <a:srgbClr val="3366CC"/>
          </a:solidFill>
          <a:latin typeface="Times New Roman" pitchFamily="18" charset="0"/>
          <a:ea typeface="+mj-ea"/>
          <a:cs typeface="Times New Roman" pitchFamily="18" charset="0"/>
        </a:defRPr>
      </a:lvl1pPr>
      <a:lvl2pPr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2pPr>
      <a:lvl3pPr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3pPr>
      <a:lvl4pPr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4pPr>
      <a:lvl5pPr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5pPr>
      <a:lvl6pPr marL="457200"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6pPr>
      <a:lvl7pPr marL="914400"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7pPr>
      <a:lvl8pPr marL="1371600"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8pPr>
      <a:lvl9pPr marL="1828800"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9pPr>
    </p:titleStyle>
    <p:bodyStyle>
      <a:lvl1pPr marL="342900" indent="-342900" algn="just" rtl="0" eaLnBrk="1" fontAlgn="base" hangingPunct="1">
        <a:spcBef>
          <a:spcPct val="20000"/>
        </a:spcBef>
        <a:spcAft>
          <a:spcPct val="0"/>
        </a:spcAft>
        <a:buClr>
          <a:srgbClr val="003399"/>
        </a:buClr>
        <a:buFont typeface="Wingdings" pitchFamily="2" charset="2"/>
        <a:buChar char="n"/>
        <a:defRPr kumimoji="1" sz="2600" baseline="0">
          <a:solidFill>
            <a:schemeClr val="tx1"/>
          </a:solidFill>
          <a:latin typeface="Times New Roman" pitchFamily="18" charset="0"/>
          <a:ea typeface="+mn-ea"/>
          <a:cs typeface="Times New Roman" pitchFamily="18" charset="0"/>
        </a:defRPr>
      </a:lvl1pPr>
      <a:lvl2pPr marL="742950" indent="-285750" algn="just" rtl="0" eaLnBrk="1" fontAlgn="base" hangingPunct="1">
        <a:spcBef>
          <a:spcPct val="20000"/>
        </a:spcBef>
        <a:spcAft>
          <a:spcPct val="0"/>
        </a:spcAft>
        <a:buClr>
          <a:srgbClr val="003399"/>
        </a:buClr>
        <a:buFont typeface="Wingdings" pitchFamily="2" charset="2"/>
        <a:buChar char="p"/>
        <a:defRPr kumimoji="1" sz="2400" baseline="0">
          <a:solidFill>
            <a:schemeClr val="tx1"/>
          </a:solidFill>
          <a:latin typeface="Times New Roman" pitchFamily="18" charset="0"/>
          <a:ea typeface="+mn-ea"/>
          <a:cs typeface="Times New Roman" pitchFamily="18" charset="0"/>
        </a:defRPr>
      </a:lvl2pPr>
      <a:lvl3pPr marL="1143000" indent="-228600" algn="just" rtl="0" eaLnBrk="1" fontAlgn="base" hangingPunct="1">
        <a:spcBef>
          <a:spcPct val="20000"/>
        </a:spcBef>
        <a:spcAft>
          <a:spcPct val="0"/>
        </a:spcAft>
        <a:buClr>
          <a:srgbClr val="003399"/>
        </a:buClr>
        <a:buFont typeface="Wingdings" pitchFamily="2" charset="2"/>
        <a:buChar char="n"/>
        <a:defRPr kumimoji="1" sz="2200" baseline="0">
          <a:solidFill>
            <a:schemeClr val="tx1"/>
          </a:solidFill>
          <a:latin typeface="Times New Roman" pitchFamily="18" charset="0"/>
          <a:ea typeface="+mn-ea"/>
          <a:cs typeface="Times New Roman" pitchFamily="18" charset="0"/>
        </a:defRPr>
      </a:lvl3pPr>
      <a:lvl4pPr marL="1600200" indent="-228600" algn="just" rtl="0" eaLnBrk="1" fontAlgn="base" hangingPunct="1">
        <a:spcBef>
          <a:spcPct val="20000"/>
        </a:spcBef>
        <a:spcAft>
          <a:spcPct val="0"/>
        </a:spcAft>
        <a:buClr>
          <a:srgbClr val="003399"/>
        </a:buClr>
        <a:buFont typeface="Wingdings" pitchFamily="2" charset="2"/>
        <a:buChar char="p"/>
        <a:defRPr kumimoji="1" sz="2000" baseline="0">
          <a:solidFill>
            <a:schemeClr val="tx1"/>
          </a:solidFill>
          <a:latin typeface="Times New Roman" pitchFamily="18" charset="0"/>
          <a:ea typeface="+mn-ea"/>
          <a:cs typeface="Times New Roman" pitchFamily="18" charset="0"/>
        </a:defRPr>
      </a:lvl4pPr>
      <a:lvl5pPr marL="2057400" indent="-228600" algn="l" rtl="0" eaLnBrk="1" fontAlgn="base" hangingPunct="1">
        <a:spcBef>
          <a:spcPct val="20000"/>
        </a:spcBef>
        <a:spcAft>
          <a:spcPct val="0"/>
        </a:spcAft>
        <a:buClr>
          <a:srgbClr val="003399"/>
        </a:buClr>
        <a:buFont typeface="Wingdings" pitchFamily="2" charset="2"/>
        <a:buChar char="n"/>
        <a:defRPr kumimoji="1" sz="1800" baseline="0">
          <a:solidFill>
            <a:schemeClr val="tx1"/>
          </a:solidFill>
          <a:latin typeface="Times New Roman" pitchFamily="18" charset="0"/>
          <a:ea typeface="+mn-ea"/>
          <a:cs typeface="Times New Roman" pitchFamily="18" charset="0"/>
        </a:defRPr>
      </a:lvl5pPr>
      <a:lvl6pPr marL="25146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6pPr>
      <a:lvl7pPr marL="29718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7pPr>
      <a:lvl8pPr marL="34290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8pPr>
      <a:lvl9pPr marL="38862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302386" y="2098316"/>
            <a:ext cx="8609013" cy="1470025"/>
          </a:xfrm>
        </p:spPr>
        <p:txBody>
          <a:bodyPr/>
          <a:lstStyle/>
          <a:p>
            <a:r>
              <a:rPr kumimoji="1" lang="en-US" altLang="ja-JP" sz="2400" dirty="0">
                <a:solidFill>
                  <a:srgbClr val="FF9933"/>
                </a:solidFill>
              </a:rPr>
              <a:t>MÔ TẢ ĐỒ ÁN</a:t>
            </a:r>
            <a:br>
              <a:rPr kumimoji="1" lang="en-US" altLang="ja-JP" dirty="0">
                <a:solidFill>
                  <a:srgbClr val="FF9933"/>
                </a:solidFill>
              </a:rPr>
            </a:br>
            <a:r>
              <a:rPr lang="vi-VN" sz="2000" b="1" dirty="0"/>
              <a:t>Tên đồ án:</a:t>
            </a:r>
            <a:r>
              <a:rPr lang="vi-VN" sz="2000" dirty="0"/>
              <a:t> Hiện thực hệ thống giao tiếp PC &lt;-&gt; DE2, gởi ảnh từ PC, lưu vào SRAMSDRAM trên board, sau đó đọc ảnh từ bộ nhớ và hiển thị lên VGA</a:t>
            </a:r>
            <a:endParaRPr kumimoji="1" lang="ja-JP" altLang="en-US" sz="2000" dirty="0">
              <a:solidFill>
                <a:srgbClr val="FF9933"/>
              </a:solidFill>
            </a:endParaRPr>
          </a:p>
        </p:txBody>
      </p:sp>
      <p:sp>
        <p:nvSpPr>
          <p:cNvPr id="3" name="サブタイトル 2"/>
          <p:cNvSpPr>
            <a:spLocks noGrp="1"/>
          </p:cNvSpPr>
          <p:nvPr>
            <p:ph type="subTitle" idx="1"/>
          </p:nvPr>
        </p:nvSpPr>
        <p:spPr>
          <a:xfrm>
            <a:off x="1370807" y="3542144"/>
            <a:ext cx="6400800" cy="533400"/>
          </a:xfrm>
        </p:spPr>
        <p:txBody>
          <a:bodyPr/>
          <a:lstStyle/>
          <a:p>
            <a:r>
              <a:rPr lang="en-US" b="1" dirty="0"/>
              <a:t>Môn </a:t>
            </a:r>
            <a:r>
              <a:rPr lang="en-US" b="1" dirty="0" err="1"/>
              <a:t>học</a:t>
            </a:r>
            <a:r>
              <a:rPr lang="en-US" b="1" dirty="0"/>
              <a:t>:</a:t>
            </a:r>
            <a:r>
              <a:rPr lang="en-US" dirty="0"/>
              <a:t> </a:t>
            </a:r>
            <a:r>
              <a:rPr lang="en-US" dirty="0" err="1"/>
              <a:t>Thiết</a:t>
            </a:r>
            <a:r>
              <a:rPr lang="en-US" dirty="0"/>
              <a:t> </a:t>
            </a:r>
            <a:r>
              <a:rPr lang="en-US" dirty="0" err="1"/>
              <a:t>kế</a:t>
            </a:r>
            <a:r>
              <a:rPr lang="en-US" dirty="0"/>
              <a:t> </a:t>
            </a:r>
            <a:r>
              <a:rPr lang="en-US" dirty="0" err="1"/>
              <a:t>hệ</a:t>
            </a:r>
            <a:r>
              <a:rPr lang="en-US" dirty="0"/>
              <a:t> </a:t>
            </a:r>
            <a:r>
              <a:rPr lang="en-US" dirty="0" err="1"/>
              <a:t>thống</a:t>
            </a:r>
            <a:r>
              <a:rPr lang="en-US" dirty="0"/>
              <a:t> </a:t>
            </a:r>
            <a:r>
              <a:rPr lang="en-US" dirty="0" err="1"/>
              <a:t>số</a:t>
            </a:r>
            <a:r>
              <a:rPr lang="en-US" dirty="0"/>
              <a:t> </a:t>
            </a:r>
            <a:r>
              <a:rPr lang="en-US" dirty="0" err="1"/>
              <a:t>với</a:t>
            </a:r>
            <a:r>
              <a:rPr lang="en-US" dirty="0"/>
              <a:t> HDL - CE213.Q23</a:t>
            </a:r>
            <a:endParaRPr lang="en-US" altLang="ja-JP" dirty="0"/>
          </a:p>
        </p:txBody>
      </p:sp>
      <p:sp>
        <p:nvSpPr>
          <p:cNvPr id="4" name="日付プレースホルダ 3"/>
          <p:cNvSpPr>
            <a:spLocks noGrp="1"/>
          </p:cNvSpPr>
          <p:nvPr>
            <p:ph type="dt" sz="half" idx="10"/>
          </p:nvPr>
        </p:nvSpPr>
        <p:spPr>
          <a:xfrm>
            <a:off x="251520" y="6525344"/>
            <a:ext cx="2133600" cy="288206"/>
          </a:xfrm>
        </p:spPr>
        <p:txBody>
          <a:bodyPr/>
          <a:lstStyle/>
          <a:p>
            <a:fld id="{0DA31E94-D226-4D30-9A93-5BB7AC33FD00}" type="datetime1">
              <a:rPr kumimoji="1" lang="en-US" altLang="ja-JP" smtClean="0"/>
              <a:t>5/21/2026</a:t>
            </a:fld>
            <a:endParaRPr kumimoji="1" lang="ja-JP" altLang="en-US" dirty="0"/>
          </a:p>
        </p:txBody>
      </p:sp>
      <p:sp>
        <p:nvSpPr>
          <p:cNvPr id="5" name="フッター プレースホルダ 4"/>
          <p:cNvSpPr>
            <a:spLocks noGrp="1"/>
          </p:cNvSpPr>
          <p:nvPr>
            <p:ph type="ftr" sz="quarter" idx="11"/>
          </p:nvPr>
        </p:nvSpPr>
        <p:spPr>
          <a:xfrm>
            <a:off x="1762101" y="6524625"/>
            <a:ext cx="5618212" cy="288925"/>
          </a:xfrm>
        </p:spPr>
        <p:txBody>
          <a:bodyPr/>
          <a:lstStyle/>
          <a:p>
            <a:r>
              <a:rPr kumimoji="1" lang="en-US" altLang="ja-JP"/>
              <a:t>Copyrights 2020 CE-UIT. All Rights Reserved.</a:t>
            </a:r>
            <a:endParaRPr kumimoji="1" lang="ja-JP" altLang="en-US" dirty="0"/>
          </a:p>
        </p:txBody>
      </p:sp>
      <p:sp>
        <p:nvSpPr>
          <p:cNvPr id="6" name="スライド番号プレースホルダ 5"/>
          <p:cNvSpPr>
            <a:spLocks noGrp="1"/>
          </p:cNvSpPr>
          <p:nvPr>
            <p:ph type="sldNum" sz="quarter" idx="12"/>
          </p:nvPr>
        </p:nvSpPr>
        <p:spPr>
          <a:xfrm>
            <a:off x="7139880" y="6524625"/>
            <a:ext cx="1752600" cy="288925"/>
          </a:xfrm>
        </p:spPr>
        <p:txBody>
          <a:bodyPr/>
          <a:lstStyle/>
          <a:p>
            <a:fld id="{800C8475-47C1-49C9-BEE5-594F8CF4D71F}" type="slidenum">
              <a:rPr kumimoji="1" lang="ja-JP" altLang="en-US" smtClean="0"/>
              <a:pPr/>
              <a:t>1</a:t>
            </a:fld>
            <a:endParaRPr kumimoji="1" lang="ja-JP" altLang="en-US" dirty="0"/>
          </a:p>
        </p:txBody>
      </p:sp>
      <p:sp>
        <p:nvSpPr>
          <p:cNvPr id="7" name="サブタイトル 2">
            <a:extLst>
              <a:ext uri="{FF2B5EF4-FFF2-40B4-BE49-F238E27FC236}">
                <a16:creationId xmlns:a16="http://schemas.microsoft.com/office/drawing/2014/main" id="{6C1969B9-3B59-E4BD-949F-7EEB34F6D384}"/>
              </a:ext>
            </a:extLst>
          </p:cNvPr>
          <p:cNvSpPr txBox="1">
            <a:spLocks/>
          </p:cNvSpPr>
          <p:nvPr/>
        </p:nvSpPr>
        <p:spPr bwMode="auto">
          <a:xfrm>
            <a:off x="533400" y="4426319"/>
            <a:ext cx="6400800" cy="11717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rgbClr val="003399"/>
              </a:buClr>
              <a:buFont typeface="Wingdings" pitchFamily="2" charset="2"/>
              <a:buNone/>
              <a:defRPr kumimoji="1" sz="2600" baseline="0">
                <a:solidFill>
                  <a:schemeClr val="tx1"/>
                </a:solidFill>
                <a:latin typeface="Times New Roman" pitchFamily="18" charset="0"/>
                <a:ea typeface="+mn-ea"/>
                <a:cs typeface="Times New Roman" pitchFamily="18" charset="0"/>
              </a:defRPr>
            </a:lvl1pPr>
            <a:lvl2pPr marL="742950" indent="-285750" algn="just" rtl="0" eaLnBrk="1" fontAlgn="base" hangingPunct="1">
              <a:spcBef>
                <a:spcPct val="20000"/>
              </a:spcBef>
              <a:spcAft>
                <a:spcPct val="0"/>
              </a:spcAft>
              <a:buClr>
                <a:srgbClr val="003399"/>
              </a:buClr>
              <a:buFont typeface="Wingdings" pitchFamily="2" charset="2"/>
              <a:buChar char="p"/>
              <a:defRPr kumimoji="1" sz="2400" baseline="0">
                <a:solidFill>
                  <a:schemeClr val="tx1"/>
                </a:solidFill>
                <a:latin typeface="Times New Roman" pitchFamily="18" charset="0"/>
                <a:ea typeface="+mn-ea"/>
                <a:cs typeface="Times New Roman" pitchFamily="18" charset="0"/>
              </a:defRPr>
            </a:lvl2pPr>
            <a:lvl3pPr marL="1143000" indent="-228600" algn="just" rtl="0" eaLnBrk="1" fontAlgn="base" hangingPunct="1">
              <a:spcBef>
                <a:spcPct val="20000"/>
              </a:spcBef>
              <a:spcAft>
                <a:spcPct val="0"/>
              </a:spcAft>
              <a:buClr>
                <a:srgbClr val="003399"/>
              </a:buClr>
              <a:buFont typeface="Wingdings" pitchFamily="2" charset="2"/>
              <a:buChar char="n"/>
              <a:defRPr kumimoji="1" sz="2200" baseline="0">
                <a:solidFill>
                  <a:schemeClr val="tx1"/>
                </a:solidFill>
                <a:latin typeface="Times New Roman" pitchFamily="18" charset="0"/>
                <a:ea typeface="+mn-ea"/>
                <a:cs typeface="Times New Roman" pitchFamily="18" charset="0"/>
              </a:defRPr>
            </a:lvl3pPr>
            <a:lvl4pPr marL="1600200" indent="-228600" algn="just" rtl="0" eaLnBrk="1" fontAlgn="base" hangingPunct="1">
              <a:spcBef>
                <a:spcPct val="20000"/>
              </a:spcBef>
              <a:spcAft>
                <a:spcPct val="0"/>
              </a:spcAft>
              <a:buClr>
                <a:srgbClr val="003399"/>
              </a:buClr>
              <a:buFont typeface="Wingdings" pitchFamily="2" charset="2"/>
              <a:buChar char="p"/>
              <a:defRPr kumimoji="1" sz="2000" baseline="0">
                <a:solidFill>
                  <a:schemeClr val="tx1"/>
                </a:solidFill>
                <a:latin typeface="Times New Roman" pitchFamily="18" charset="0"/>
                <a:ea typeface="+mn-ea"/>
                <a:cs typeface="Times New Roman" pitchFamily="18" charset="0"/>
              </a:defRPr>
            </a:lvl4pPr>
            <a:lvl5pPr marL="2057400" indent="-228600" algn="l" rtl="0" eaLnBrk="1" fontAlgn="base" hangingPunct="1">
              <a:spcBef>
                <a:spcPct val="20000"/>
              </a:spcBef>
              <a:spcAft>
                <a:spcPct val="0"/>
              </a:spcAft>
              <a:buClr>
                <a:srgbClr val="003399"/>
              </a:buClr>
              <a:buFont typeface="Wingdings" pitchFamily="2" charset="2"/>
              <a:buChar char="n"/>
              <a:defRPr kumimoji="1" sz="1800" baseline="0">
                <a:solidFill>
                  <a:schemeClr val="tx1"/>
                </a:solidFill>
                <a:latin typeface="Times New Roman" pitchFamily="18" charset="0"/>
                <a:ea typeface="+mn-ea"/>
                <a:cs typeface="Times New Roman" pitchFamily="18" charset="0"/>
              </a:defRPr>
            </a:lvl5pPr>
            <a:lvl6pPr marL="25146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6pPr>
            <a:lvl7pPr marL="29718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7pPr>
            <a:lvl8pPr marL="34290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8pPr>
            <a:lvl9pPr marL="38862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9pPr>
          </a:lstStyle>
          <a:p>
            <a:pPr algn="just"/>
            <a:r>
              <a:rPr lang="en-US" sz="2000" dirty="0"/>
              <a:t>Sinh </a:t>
            </a:r>
            <a:r>
              <a:rPr lang="en-US" sz="2000" dirty="0" err="1"/>
              <a:t>viên</a:t>
            </a:r>
            <a:r>
              <a:rPr lang="en-US" sz="2000" dirty="0"/>
              <a:t> </a:t>
            </a:r>
            <a:r>
              <a:rPr lang="en-US" sz="2000" dirty="0" err="1"/>
              <a:t>thực</a:t>
            </a:r>
            <a:r>
              <a:rPr lang="en-US" sz="2000" dirty="0"/>
              <a:t> </a:t>
            </a:r>
            <a:r>
              <a:rPr lang="en-US" sz="2000" dirty="0" err="1"/>
              <a:t>hiện</a:t>
            </a:r>
            <a:r>
              <a:rPr lang="en-US" sz="2000" dirty="0"/>
              <a:t>:</a:t>
            </a:r>
          </a:p>
          <a:p>
            <a:pPr algn="just"/>
            <a:r>
              <a:rPr lang="en-US" sz="2000" dirty="0" err="1"/>
              <a:t>Trần</a:t>
            </a:r>
            <a:r>
              <a:rPr lang="en-US" sz="2000" dirty="0"/>
              <a:t> Hoàng Thông – 23521529</a:t>
            </a:r>
          </a:p>
          <a:p>
            <a:pPr algn="just"/>
            <a:r>
              <a:rPr lang="en-US" sz="2000" dirty="0" err="1"/>
              <a:t>Trần</a:t>
            </a:r>
            <a:r>
              <a:rPr lang="en-US" sz="2000" dirty="0"/>
              <a:t> Minh Tiến – 23521586</a:t>
            </a:r>
            <a:endParaRPr lang="en-US" altLang="ja-JP" sz="2000" kern="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7CDCC-99A0-910C-DF5C-C35B35014FBA}"/>
              </a:ext>
            </a:extLst>
          </p:cNvPr>
          <p:cNvSpPr>
            <a:spLocks noGrp="1"/>
          </p:cNvSpPr>
          <p:nvPr>
            <p:ph type="title"/>
          </p:nvPr>
        </p:nvSpPr>
        <p:spPr>
          <a:xfrm>
            <a:off x="1331913" y="287338"/>
            <a:ext cx="7354887" cy="693390"/>
          </a:xfrm>
        </p:spPr>
        <p:txBody>
          <a:bodyPr wrap="square" anchor="ctr">
            <a:normAutofit/>
          </a:bodyPr>
          <a:lstStyle/>
          <a:p>
            <a:r>
              <a:rPr lang="en-US" dirty="0" err="1"/>
              <a:t>Mô</a:t>
            </a:r>
            <a:r>
              <a:rPr lang="en-US" dirty="0"/>
              <a:t> </a:t>
            </a:r>
            <a:r>
              <a:rPr lang="en-US" dirty="0" err="1"/>
              <a:t>tả</a:t>
            </a:r>
            <a:r>
              <a:rPr lang="en-US" dirty="0"/>
              <a:t> </a:t>
            </a:r>
            <a:r>
              <a:rPr lang="en-US" dirty="0" err="1"/>
              <a:t>đề</a:t>
            </a:r>
            <a:r>
              <a:rPr lang="en-US" dirty="0"/>
              <a:t> </a:t>
            </a:r>
            <a:r>
              <a:rPr lang="en-US" dirty="0" err="1"/>
              <a:t>tài</a:t>
            </a:r>
            <a:endParaRPr lang="en-US" dirty="0"/>
          </a:p>
        </p:txBody>
      </p:sp>
      <p:sp>
        <p:nvSpPr>
          <p:cNvPr id="3" name="Content Placeholder 2">
            <a:extLst>
              <a:ext uri="{FF2B5EF4-FFF2-40B4-BE49-F238E27FC236}">
                <a16:creationId xmlns:a16="http://schemas.microsoft.com/office/drawing/2014/main" id="{FD90E193-BC08-1CBC-E61E-A64D57D77E5E}"/>
              </a:ext>
            </a:extLst>
          </p:cNvPr>
          <p:cNvSpPr>
            <a:spLocks noGrp="1"/>
          </p:cNvSpPr>
          <p:nvPr>
            <p:ph sz="half" idx="1"/>
          </p:nvPr>
        </p:nvSpPr>
        <p:spPr>
          <a:xfrm>
            <a:off x="468313" y="1628775"/>
            <a:ext cx="4038600" cy="4525963"/>
          </a:xfrm>
        </p:spPr>
        <p:txBody>
          <a:bodyPr wrap="square" anchor="t">
            <a:normAutofit/>
          </a:bodyPr>
          <a:lstStyle/>
          <a:p>
            <a:r>
              <a:rPr lang="en-US" b="1" dirty="0" err="1"/>
              <a:t>Mục</a:t>
            </a:r>
            <a:r>
              <a:rPr lang="en-US" b="1" dirty="0"/>
              <a:t> </a:t>
            </a:r>
            <a:r>
              <a:rPr lang="en-US" b="1" dirty="0" err="1"/>
              <a:t>tiêu</a:t>
            </a:r>
            <a:r>
              <a:rPr lang="en-US" b="1" dirty="0"/>
              <a:t>:</a:t>
            </a:r>
            <a:r>
              <a:rPr lang="vi-VN" dirty="0"/>
              <a:t>Việc truyền tải và hiển thị dữ liệu hình ảnh dung lượng lớn từ máy tính (PC) xuống các bo mạch nhúng yêu cầu sự phối hợp chặt chẽ về băng thông truyền thông, tốc độ lưu trữ và định thời hiển thị thời gian thực</a:t>
            </a:r>
            <a:endParaRPr lang="en-US" dirty="0"/>
          </a:p>
        </p:txBody>
      </p:sp>
      <p:sp>
        <p:nvSpPr>
          <p:cNvPr id="4" name="Date Placeholder 3">
            <a:extLst>
              <a:ext uri="{FF2B5EF4-FFF2-40B4-BE49-F238E27FC236}">
                <a16:creationId xmlns:a16="http://schemas.microsoft.com/office/drawing/2014/main" id="{81B9842E-D998-CF98-96AB-97C3B995B820}"/>
              </a:ext>
            </a:extLst>
          </p:cNvPr>
          <p:cNvSpPr>
            <a:spLocks noGrp="1"/>
          </p:cNvSpPr>
          <p:nvPr>
            <p:ph type="dt" sz="half" idx="10"/>
          </p:nvPr>
        </p:nvSpPr>
        <p:spPr>
          <a:xfrm>
            <a:off x="251520" y="6525344"/>
            <a:ext cx="2133600" cy="288206"/>
          </a:xfrm>
        </p:spPr>
        <p:txBody>
          <a:bodyPr wrap="square" anchor="t">
            <a:normAutofit/>
          </a:bodyPr>
          <a:lstStyle/>
          <a:p>
            <a:pPr>
              <a:spcAft>
                <a:spcPts val="600"/>
              </a:spcAft>
            </a:pPr>
            <a:fld id="{F7681EE8-9FE2-425D-8FB4-74C399BDEDA0}" type="datetime1">
              <a:rPr kumimoji="1" lang="en-US" altLang="ja-JP" smtClean="0"/>
              <a:pPr>
                <a:spcAft>
                  <a:spcPts val="600"/>
                </a:spcAft>
              </a:pPr>
              <a:t>5/21/2026</a:t>
            </a:fld>
            <a:endParaRPr kumimoji="1" lang="ja-JP" altLang="en-US"/>
          </a:p>
        </p:txBody>
      </p:sp>
      <p:sp>
        <p:nvSpPr>
          <p:cNvPr id="5" name="Slide Number Placeholder 4">
            <a:extLst>
              <a:ext uri="{FF2B5EF4-FFF2-40B4-BE49-F238E27FC236}">
                <a16:creationId xmlns:a16="http://schemas.microsoft.com/office/drawing/2014/main" id="{39666175-BCA3-BEF5-1BBB-123D008400E6}"/>
              </a:ext>
            </a:extLst>
          </p:cNvPr>
          <p:cNvSpPr>
            <a:spLocks noGrp="1"/>
          </p:cNvSpPr>
          <p:nvPr>
            <p:ph type="sldNum" sz="quarter" idx="12"/>
          </p:nvPr>
        </p:nvSpPr>
        <p:spPr>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2</a:t>
            </a:fld>
            <a:endParaRPr kumimoji="1" lang="ja-JP" altLang="en-US"/>
          </a:p>
        </p:txBody>
      </p:sp>
      <p:pic>
        <p:nvPicPr>
          <p:cNvPr id="2051" name="Picture 3" descr="Các bài thí nghiệm cơ bản trên FPGA">
            <a:extLst>
              <a:ext uri="{FF2B5EF4-FFF2-40B4-BE49-F238E27FC236}">
                <a16:creationId xmlns:a16="http://schemas.microsoft.com/office/drawing/2014/main" id="{F4DA2926-B908-6D44-2F88-F1CF7C4444C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09864" y="2311679"/>
            <a:ext cx="4038600" cy="3160204"/>
          </a:xfrm>
          <a:prstGeom prst="rect">
            <a:avLst/>
          </a:prstGeom>
          <a:solidFill>
            <a:srgbClr val="FFFFFF"/>
          </a:solidFill>
        </p:spPr>
      </p:pic>
      <p:sp>
        <p:nvSpPr>
          <p:cNvPr id="6" name="Footer Placeholder 5">
            <a:extLst>
              <a:ext uri="{FF2B5EF4-FFF2-40B4-BE49-F238E27FC236}">
                <a16:creationId xmlns:a16="http://schemas.microsoft.com/office/drawing/2014/main" id="{CC74AB3C-C7BF-4388-E17C-154B0D1A6803}"/>
              </a:ext>
            </a:extLst>
          </p:cNvPr>
          <p:cNvSpPr>
            <a:spLocks noGrp="1"/>
          </p:cNvSpPr>
          <p:nvPr>
            <p:ph type="ftr" sz="quarter" idx="11"/>
          </p:nvPr>
        </p:nvSpPr>
        <p:spPr>
          <a:xfrm>
            <a:off x="1762101" y="6524625"/>
            <a:ext cx="5618212" cy="288925"/>
          </a:xfrm>
        </p:spPr>
        <p:txBody>
          <a:bodyPr wrap="square" anchor="t">
            <a:normAutofit/>
          </a:bodyPr>
          <a:lstStyle/>
          <a:p>
            <a:pPr>
              <a:spcAft>
                <a:spcPts val="600"/>
              </a:spcAft>
            </a:pPr>
            <a:r>
              <a:rPr kumimoji="1" lang="en-US" altLang="ja-JP"/>
              <a:t>Copyrights 2020 CE-UIT. All Rights Reserved.</a:t>
            </a:r>
            <a:endParaRPr kumimoji="1" lang="ja-JP" altLang="en-US"/>
          </a:p>
        </p:txBody>
      </p:sp>
    </p:spTree>
    <p:extLst>
      <p:ext uri="{BB962C8B-B14F-4D97-AF65-F5344CB8AC3E}">
        <p14:creationId xmlns:p14="http://schemas.microsoft.com/office/powerpoint/2010/main" val="624264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CBCE4EE4-3B8E-79BB-994C-01B6672C5BB3}"/>
              </a:ext>
            </a:extLst>
          </p:cNvPr>
          <p:cNvSpPr>
            <a:spLocks noGrp="1"/>
          </p:cNvSpPr>
          <p:nvPr>
            <p:ph type="title"/>
          </p:nvPr>
        </p:nvSpPr>
        <p:spPr>
          <a:xfrm>
            <a:off x="1331913" y="287338"/>
            <a:ext cx="7354887" cy="693390"/>
          </a:xfrm>
        </p:spPr>
        <p:txBody>
          <a:bodyPr/>
          <a:lstStyle/>
          <a:p>
            <a:endParaRPr lang="en-US"/>
          </a:p>
        </p:txBody>
      </p:sp>
      <p:sp>
        <p:nvSpPr>
          <p:cNvPr id="4" name="Date Placeholder 3">
            <a:extLst>
              <a:ext uri="{FF2B5EF4-FFF2-40B4-BE49-F238E27FC236}">
                <a16:creationId xmlns:a16="http://schemas.microsoft.com/office/drawing/2014/main" id="{1E8326E3-608D-43C9-9602-4EA9A98B7A68}"/>
              </a:ext>
            </a:extLst>
          </p:cNvPr>
          <p:cNvSpPr>
            <a:spLocks noGrp="1"/>
          </p:cNvSpPr>
          <p:nvPr>
            <p:ph type="dt" sz="half" idx="10"/>
          </p:nvPr>
        </p:nvSpPr>
        <p:spPr>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5/21/2026</a:t>
            </a:fld>
            <a:endParaRPr kumimoji="1" lang="ja-JP" altLang="en-US"/>
          </a:p>
        </p:txBody>
      </p:sp>
      <p:sp>
        <p:nvSpPr>
          <p:cNvPr id="5" name="Slide Number Placeholder 4">
            <a:extLst>
              <a:ext uri="{FF2B5EF4-FFF2-40B4-BE49-F238E27FC236}">
                <a16:creationId xmlns:a16="http://schemas.microsoft.com/office/drawing/2014/main" id="{FD98A188-957C-EA68-028D-92AA71928403}"/>
              </a:ext>
            </a:extLst>
          </p:cNvPr>
          <p:cNvSpPr>
            <a:spLocks noGrp="1"/>
          </p:cNvSpPr>
          <p:nvPr>
            <p:ph type="sldNum" sz="quarter" idx="12"/>
          </p:nvPr>
        </p:nvSpPr>
        <p:spPr>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3</a:t>
            </a:fld>
            <a:endParaRPr kumimoji="1" lang="ja-JP" altLang="en-US"/>
          </a:p>
        </p:txBody>
      </p:sp>
      <p:sp>
        <p:nvSpPr>
          <p:cNvPr id="7" name="Footer Placeholder 6">
            <a:extLst>
              <a:ext uri="{FF2B5EF4-FFF2-40B4-BE49-F238E27FC236}">
                <a16:creationId xmlns:a16="http://schemas.microsoft.com/office/drawing/2014/main" id="{DE9A1B9F-B382-CDDE-BF1B-53EC2F795FF5}"/>
              </a:ext>
            </a:extLst>
          </p:cNvPr>
          <p:cNvSpPr>
            <a:spLocks noGrp="1"/>
          </p:cNvSpPr>
          <p:nvPr>
            <p:ph type="ftr" sz="quarter" idx="11"/>
          </p:nvPr>
        </p:nvSpPr>
        <p:spPr>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graphicFrame>
        <p:nvGraphicFramePr>
          <p:cNvPr id="10" name="Rectangle 1">
            <a:extLst>
              <a:ext uri="{FF2B5EF4-FFF2-40B4-BE49-F238E27FC236}">
                <a16:creationId xmlns:a16="http://schemas.microsoft.com/office/drawing/2014/main" id="{01BA4A5F-5F0E-5BA5-5046-9A4F54A0D580}"/>
              </a:ext>
            </a:extLst>
          </p:cNvPr>
          <p:cNvGraphicFramePr>
            <a:graphicFrameLocks noGrp="1"/>
          </p:cNvGraphicFramePr>
          <p:nvPr>
            <p:ph idx="1"/>
            <p:extLst>
              <p:ext uri="{D42A27DB-BD31-4B8C-83A1-F6EECF244321}">
                <p14:modId xmlns:p14="http://schemas.microsoft.com/office/powerpoint/2010/main" val="2175010953"/>
              </p:ext>
            </p:extLst>
          </p:nvPr>
        </p:nvGraphicFramePr>
        <p:xfrm>
          <a:off x="251520" y="1412776"/>
          <a:ext cx="8640960" cy="30068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Content Placeholder 7">
            <a:extLst>
              <a:ext uri="{FF2B5EF4-FFF2-40B4-BE49-F238E27FC236}">
                <a16:creationId xmlns:a16="http://schemas.microsoft.com/office/drawing/2014/main" id="{086D4D2A-F619-E9C3-8F29-D9534187C8D2}"/>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52400" y="4419600"/>
            <a:ext cx="8642350" cy="1630933"/>
          </a:xfrm>
          <a:prstGeom prst="rect">
            <a:avLst/>
          </a:prstGeom>
          <a:noFill/>
          <a:ln w="9525">
            <a:noFill/>
            <a:miter lim="800000"/>
            <a:headEnd/>
            <a:tailEnd/>
          </a:ln>
          <a:effectLst/>
        </p:spPr>
      </p:pic>
    </p:spTree>
    <p:extLst>
      <p:ext uri="{BB962C8B-B14F-4D97-AF65-F5344CB8AC3E}">
        <p14:creationId xmlns:p14="http://schemas.microsoft.com/office/powerpoint/2010/main" val="2763130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E94C625-CB6A-FA32-B455-9D13B2A5BEE1}"/>
              </a:ext>
            </a:extLst>
          </p:cNvPr>
          <p:cNvSpPr>
            <a:spLocks noGrp="1"/>
          </p:cNvSpPr>
          <p:nvPr>
            <p:ph type="title"/>
          </p:nvPr>
        </p:nvSpPr>
        <p:spPr>
          <a:xfrm>
            <a:off x="1331913" y="287338"/>
            <a:ext cx="7354887" cy="693390"/>
          </a:xfrm>
        </p:spPr>
        <p:txBody>
          <a:bodyPr vert="horz" wrap="square" lIns="91440" tIns="45720" rIns="91440" bIns="45720" numCol="1" anchor="ctr" anchorCtr="0" compatLnSpc="1">
            <a:prstTxWarp prst="textNoShape">
              <a:avLst/>
            </a:prstTxWarp>
            <a:normAutofit/>
          </a:bodyPr>
          <a:lstStyle/>
          <a:p>
            <a:r>
              <a:rPr lang="vi-VN" dirty="0"/>
              <a:t>Sơ đồ kết nối hệ thống</a:t>
            </a:r>
            <a:endParaRPr lang="en-US" dirty="0"/>
          </a:p>
        </p:txBody>
      </p:sp>
      <p:sp>
        <p:nvSpPr>
          <p:cNvPr id="10" name="Rectangle 1">
            <a:extLst>
              <a:ext uri="{FF2B5EF4-FFF2-40B4-BE49-F238E27FC236}">
                <a16:creationId xmlns:a16="http://schemas.microsoft.com/office/drawing/2014/main" id="{2FB5A6CF-6410-E660-FD64-CDE8B5943894}"/>
              </a:ext>
            </a:extLst>
          </p:cNvPr>
          <p:cNvSpPr>
            <a:spLocks noChangeArrowheads="1"/>
          </p:cNvSpPr>
          <p:nvPr/>
        </p:nvSpPr>
        <p:spPr bwMode="auto">
          <a:xfrm>
            <a:off x="468312" y="1628775"/>
            <a:ext cx="2960687" cy="452596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fontScale="92500"/>
          </a:bodyPr>
          <a:lstStyle/>
          <a:p>
            <a:pPr marL="342900" marR="0" lvl="0" indent="-342900" algn="just" defTabSz="914400" fontAlgn="base" latinLnBrk="0">
              <a:spcBef>
                <a:spcPct val="20000"/>
              </a:spcBef>
              <a:spcAft>
                <a:spcPct val="0"/>
              </a:spcAft>
              <a:buClr>
                <a:srgbClr val="003399"/>
              </a:buClr>
              <a:buSzTx/>
              <a:buFont typeface="Wingdings" pitchFamily="2" charset="2"/>
              <a:buChar char="n"/>
              <a:tabLst/>
            </a:pPr>
            <a:r>
              <a:rPr lang="en-US" altLang="en-US" sz="2800" b="1" i="0" u="none" strike="noStrike" cap="none" normalizeH="0" dirty="0">
                <a:ln>
                  <a:noFill/>
                </a:ln>
                <a:effectLst/>
                <a:latin typeface="Times New Roman" pitchFamily="18" charset="0"/>
                <a:cs typeface="Times New Roman" pitchFamily="18" charset="0"/>
              </a:rPr>
              <a:t>Các </a:t>
            </a:r>
            <a:r>
              <a:rPr lang="en-US" altLang="en-US" sz="2800" b="1" i="0" u="none" strike="noStrike" cap="none" normalizeH="0" dirty="0" err="1">
                <a:ln>
                  <a:noFill/>
                </a:ln>
                <a:effectLst/>
                <a:latin typeface="Times New Roman" pitchFamily="18" charset="0"/>
                <a:cs typeface="Times New Roman" pitchFamily="18" charset="0"/>
              </a:rPr>
              <a:t>thành</a:t>
            </a:r>
            <a:r>
              <a:rPr lang="en-US" altLang="en-US" sz="2800" b="1" i="0" u="none" strike="noStrike" cap="none" normalizeH="0" dirty="0">
                <a:ln>
                  <a:noFill/>
                </a:ln>
                <a:effectLst/>
                <a:latin typeface="Times New Roman" pitchFamily="18" charset="0"/>
                <a:cs typeface="Times New Roman" pitchFamily="18" charset="0"/>
              </a:rPr>
              <a:t> </a:t>
            </a:r>
            <a:r>
              <a:rPr lang="en-US" altLang="en-US" sz="2800" b="1" i="0" u="none" strike="noStrike" cap="none" normalizeH="0" dirty="0" err="1">
                <a:ln>
                  <a:noFill/>
                </a:ln>
                <a:effectLst/>
                <a:latin typeface="Times New Roman" pitchFamily="18" charset="0"/>
                <a:cs typeface="Times New Roman" pitchFamily="18" charset="0"/>
              </a:rPr>
              <a:t>phần</a:t>
            </a:r>
            <a:r>
              <a:rPr lang="en-US" altLang="en-US" sz="2800" b="1" i="0" u="none" strike="noStrike" cap="none" normalizeH="0" dirty="0">
                <a:ln>
                  <a:noFill/>
                </a:ln>
                <a:effectLst/>
                <a:latin typeface="Times New Roman" pitchFamily="18" charset="0"/>
                <a:cs typeface="Times New Roman" pitchFamily="18" charset="0"/>
              </a:rPr>
              <a:t> </a:t>
            </a:r>
            <a:r>
              <a:rPr lang="en-US" altLang="en-US" sz="2800" b="1" i="0" u="none" strike="noStrike" cap="none" normalizeH="0" dirty="0" err="1">
                <a:ln>
                  <a:noFill/>
                </a:ln>
                <a:effectLst/>
                <a:latin typeface="Times New Roman" pitchFamily="18" charset="0"/>
                <a:cs typeface="Times New Roman" pitchFamily="18" charset="0"/>
              </a:rPr>
              <a:t>phần</a:t>
            </a:r>
            <a:r>
              <a:rPr lang="en-US" altLang="en-US" sz="2800" b="1" i="0" u="none" strike="noStrike" cap="none" normalizeH="0" dirty="0">
                <a:ln>
                  <a:noFill/>
                </a:ln>
                <a:effectLst/>
                <a:latin typeface="Times New Roman" pitchFamily="18" charset="0"/>
                <a:cs typeface="Times New Roman" pitchFamily="18" charset="0"/>
              </a:rPr>
              <a:t> </a:t>
            </a:r>
            <a:r>
              <a:rPr lang="en-US" altLang="en-US" sz="2800" b="1" i="0" u="none" strike="noStrike" cap="none" normalizeH="0" dirty="0" err="1">
                <a:ln>
                  <a:noFill/>
                </a:ln>
                <a:effectLst/>
                <a:latin typeface="Times New Roman" pitchFamily="18" charset="0"/>
                <a:cs typeface="Times New Roman" pitchFamily="18" charset="0"/>
              </a:rPr>
              <a:t>cứng</a:t>
            </a:r>
            <a:r>
              <a:rPr lang="en-US" altLang="en-US" sz="2800" b="1" i="0" u="none" strike="noStrike" cap="none" normalizeH="0" dirty="0">
                <a:ln>
                  <a:noFill/>
                </a:ln>
                <a:effectLst/>
                <a:latin typeface="Times New Roman" pitchFamily="18" charset="0"/>
                <a:cs typeface="Times New Roman" pitchFamily="18" charset="0"/>
              </a:rPr>
              <a:t>:</a:t>
            </a:r>
            <a:endParaRPr lang="en-US" altLang="en-US" sz="2800" b="0" i="0" u="none" strike="noStrike" cap="none" normalizeH="0" dirty="0">
              <a:ln>
                <a:noFill/>
              </a:ln>
              <a:effectLst/>
              <a:latin typeface="Times New Roman" pitchFamily="18" charset="0"/>
              <a:cs typeface="Times New Roman" pitchFamily="18" charset="0"/>
            </a:endParaRPr>
          </a:p>
          <a:p>
            <a:pPr marL="342900" marR="0" lvl="0" indent="-342900" algn="just" defTabSz="914400" fontAlgn="base" latinLnBrk="0">
              <a:spcBef>
                <a:spcPct val="20000"/>
              </a:spcBef>
              <a:spcAft>
                <a:spcPct val="0"/>
              </a:spcAft>
              <a:buClr>
                <a:srgbClr val="003399"/>
              </a:buClr>
              <a:buSzTx/>
              <a:buFont typeface="Wingdings" pitchFamily="2" charset="2"/>
              <a:buChar char="n"/>
              <a:tabLst/>
            </a:pPr>
            <a:r>
              <a:rPr lang="en-US" altLang="en-US" sz="2800" b="0" i="0" u="none" strike="noStrike" cap="none" normalizeH="0" dirty="0">
                <a:ln>
                  <a:noFill/>
                </a:ln>
                <a:effectLst/>
                <a:latin typeface="Times New Roman" pitchFamily="18" charset="0"/>
                <a:cs typeface="Times New Roman" pitchFamily="18" charset="0"/>
              </a:rPr>
              <a:t>FPGA DE2 Altera.</a:t>
            </a:r>
          </a:p>
          <a:p>
            <a:pPr marL="342900" marR="0" lvl="0" indent="-342900" algn="just" defTabSz="914400" fontAlgn="base" latinLnBrk="0">
              <a:spcBef>
                <a:spcPct val="20000"/>
              </a:spcBef>
              <a:spcAft>
                <a:spcPct val="0"/>
              </a:spcAft>
              <a:buClr>
                <a:srgbClr val="003399"/>
              </a:buClr>
              <a:buSzTx/>
              <a:buFont typeface="Wingdings" pitchFamily="2" charset="2"/>
              <a:buChar char="n"/>
              <a:tabLst/>
            </a:pPr>
            <a:r>
              <a:rPr lang="en-US" altLang="en-US" sz="2800" b="0" i="0" u="none" strike="noStrike" cap="none" normalizeH="0" dirty="0">
                <a:ln>
                  <a:noFill/>
                </a:ln>
                <a:effectLst/>
                <a:latin typeface="Times New Roman" pitchFamily="18" charset="0"/>
                <a:cs typeface="Times New Roman" pitchFamily="18" charset="0"/>
              </a:rPr>
              <a:t>USB-UART Converter (CP2102).</a:t>
            </a:r>
          </a:p>
          <a:p>
            <a:pPr marL="342900" marR="0" lvl="0" indent="-342900" algn="just" defTabSz="914400" fontAlgn="base" latinLnBrk="0">
              <a:spcBef>
                <a:spcPct val="20000"/>
              </a:spcBef>
              <a:spcAft>
                <a:spcPct val="0"/>
              </a:spcAft>
              <a:buClr>
                <a:srgbClr val="003399"/>
              </a:buClr>
              <a:buSzTx/>
              <a:buFont typeface="Wingdings" pitchFamily="2" charset="2"/>
              <a:buChar char="n"/>
              <a:tabLst/>
            </a:pPr>
            <a:r>
              <a:rPr lang="en-US" altLang="en-US" sz="2800" b="0" i="0" u="none" strike="noStrike" cap="none" normalizeH="0" dirty="0" err="1">
                <a:ln>
                  <a:noFill/>
                </a:ln>
                <a:effectLst/>
                <a:latin typeface="Times New Roman" pitchFamily="18" charset="0"/>
                <a:cs typeface="Times New Roman" pitchFamily="18" charset="0"/>
              </a:rPr>
              <a:t>Cáp</a:t>
            </a:r>
            <a:r>
              <a:rPr lang="en-US" altLang="en-US" sz="2800" b="0" i="0" u="none" strike="noStrike" cap="none" normalizeH="0" dirty="0">
                <a:ln>
                  <a:noFill/>
                </a:ln>
                <a:effectLst/>
                <a:latin typeface="Times New Roman" pitchFamily="18" charset="0"/>
                <a:cs typeface="Times New Roman" pitchFamily="18" charset="0"/>
              </a:rPr>
              <a:t> VGA </a:t>
            </a:r>
            <a:r>
              <a:rPr lang="en-US" altLang="en-US" sz="2800" b="0" i="0" u="none" strike="noStrike" cap="none" normalizeH="0" dirty="0" err="1">
                <a:ln>
                  <a:noFill/>
                </a:ln>
                <a:effectLst/>
                <a:latin typeface="Times New Roman" pitchFamily="18" charset="0"/>
                <a:cs typeface="Times New Roman" pitchFamily="18" charset="0"/>
              </a:rPr>
              <a:t>và</a:t>
            </a:r>
            <a:r>
              <a:rPr lang="en-US" altLang="en-US" sz="2800" b="0" i="0" u="none" strike="noStrike" cap="none" normalizeH="0" dirty="0">
                <a:ln>
                  <a:noFill/>
                </a:ln>
                <a:effectLst/>
                <a:latin typeface="Times New Roman" pitchFamily="18" charset="0"/>
                <a:cs typeface="Times New Roman" pitchFamily="18" charset="0"/>
              </a:rPr>
              <a:t> </a:t>
            </a:r>
            <a:r>
              <a:rPr lang="en-US" altLang="en-US" sz="2800" b="0" i="0" u="none" strike="noStrike" cap="none" normalizeH="0" dirty="0" err="1">
                <a:ln>
                  <a:noFill/>
                </a:ln>
                <a:effectLst/>
                <a:latin typeface="Times New Roman" pitchFamily="18" charset="0"/>
                <a:cs typeface="Times New Roman" pitchFamily="18" charset="0"/>
              </a:rPr>
              <a:t>Màn</a:t>
            </a:r>
            <a:r>
              <a:rPr lang="en-US" altLang="en-US" sz="2800" b="0" i="0" u="none" strike="noStrike" cap="none" normalizeH="0" dirty="0">
                <a:ln>
                  <a:noFill/>
                </a:ln>
                <a:effectLst/>
                <a:latin typeface="Times New Roman" pitchFamily="18" charset="0"/>
                <a:cs typeface="Times New Roman" pitchFamily="18" charset="0"/>
              </a:rPr>
              <a:t> </a:t>
            </a:r>
            <a:r>
              <a:rPr lang="en-US" altLang="en-US" sz="2800" b="0" i="0" u="none" strike="noStrike" cap="none" normalizeH="0" dirty="0" err="1">
                <a:ln>
                  <a:noFill/>
                </a:ln>
                <a:effectLst/>
                <a:latin typeface="Times New Roman" pitchFamily="18" charset="0"/>
                <a:cs typeface="Times New Roman" pitchFamily="18" charset="0"/>
              </a:rPr>
              <a:t>hình</a:t>
            </a:r>
            <a:r>
              <a:rPr lang="en-US" altLang="en-US" sz="2800" b="0" i="0" u="none" strike="noStrike" cap="none" normalizeH="0" dirty="0">
                <a:ln>
                  <a:noFill/>
                </a:ln>
                <a:effectLst/>
                <a:latin typeface="Times New Roman" pitchFamily="18" charset="0"/>
                <a:cs typeface="Times New Roman" pitchFamily="18" charset="0"/>
              </a:rPr>
              <a:t> (Monitor).</a:t>
            </a:r>
          </a:p>
          <a:p>
            <a:pPr marL="342900" marR="0" lvl="0" indent="-342900" algn="just" defTabSz="914400" fontAlgn="base" latinLnBrk="0">
              <a:spcBef>
                <a:spcPct val="20000"/>
              </a:spcBef>
              <a:spcAft>
                <a:spcPct val="0"/>
              </a:spcAft>
              <a:buClr>
                <a:srgbClr val="003399"/>
              </a:buClr>
              <a:buSzTx/>
              <a:buFont typeface="Wingdings" pitchFamily="2" charset="2"/>
              <a:buChar char="n"/>
              <a:tabLst/>
            </a:pPr>
            <a:endParaRPr lang="en-US" altLang="en-US" sz="2800" b="0" i="0" u="none" strike="noStrike" cap="none" normalizeH="0" dirty="0">
              <a:ln>
                <a:noFill/>
              </a:ln>
              <a:effectLst/>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AF0D6FBE-5EA6-74A3-4912-EC7D79B4F5F0}"/>
              </a:ext>
            </a:extLst>
          </p:cNvPr>
          <p:cNvSpPr>
            <a:spLocks noGrp="1"/>
          </p:cNvSpPr>
          <p:nvPr>
            <p:ph type="dt" sz="half" idx="10"/>
          </p:nvPr>
        </p:nvSpPr>
        <p:spPr>
          <a:xfrm>
            <a:off x="251520" y="6525344"/>
            <a:ext cx="2133600" cy="288206"/>
          </a:xfrm>
        </p:spPr>
        <p:txBody>
          <a:bodyPr vert="horz" wrap="square" lIns="91440" tIns="45720" rIns="91440" bIns="45720" numCol="1" anchor="t" anchorCtr="0" compatLnSpc="1">
            <a:prstTxWarp prst="textNoShape">
              <a:avLst/>
            </a:prstTxWarp>
            <a:normAutofit/>
          </a:bodyPr>
          <a:lstStyle/>
          <a:p>
            <a:pPr>
              <a:spcAft>
                <a:spcPts val="600"/>
              </a:spcAft>
            </a:pPr>
            <a:fld id="{BA136E8E-48A6-4CCA-8C49-35959C36CF6D}" type="datetime1">
              <a:rPr lang="en-US" altLang="ja-JP" smtClean="0"/>
              <a:pPr>
                <a:spcAft>
                  <a:spcPts val="600"/>
                </a:spcAft>
              </a:pPr>
              <a:t>5/21/2026</a:t>
            </a:fld>
            <a:endParaRPr lang="ja-JP" altLang="en-US"/>
          </a:p>
        </p:txBody>
      </p:sp>
      <p:sp>
        <p:nvSpPr>
          <p:cNvPr id="5" name="Slide Number Placeholder 4">
            <a:extLst>
              <a:ext uri="{FF2B5EF4-FFF2-40B4-BE49-F238E27FC236}">
                <a16:creationId xmlns:a16="http://schemas.microsoft.com/office/drawing/2014/main" id="{6641BABE-757B-5321-C380-77E1707F1B10}"/>
              </a:ext>
            </a:extLst>
          </p:cNvPr>
          <p:cNvSpPr>
            <a:spLocks noGrp="1"/>
          </p:cNvSpPr>
          <p:nvPr>
            <p:ph type="sldNum" sz="quarter" idx="12"/>
          </p:nvPr>
        </p:nvSpPr>
        <p:spPr>
          <a:xfrm>
            <a:off x="7139880" y="6524625"/>
            <a:ext cx="1752600" cy="288925"/>
          </a:xfrm>
        </p:spPr>
        <p:txBody>
          <a:bodyPr vert="horz" wrap="square" lIns="91440" tIns="45720" rIns="91440" bIns="45720" numCol="1" anchor="t" anchorCtr="0" compatLnSpc="1">
            <a:prstTxWarp prst="textNoShape">
              <a:avLst/>
            </a:prstTxWarp>
            <a:normAutofit/>
          </a:bodyPr>
          <a:lstStyle/>
          <a:p>
            <a:pPr>
              <a:spcAft>
                <a:spcPts val="600"/>
              </a:spcAft>
            </a:pPr>
            <a:fld id="{800C8475-47C1-49C9-BEE5-594F8CF4D71F}" type="slidenum">
              <a:rPr lang="ja-JP" altLang="en-US" smtClean="0"/>
              <a:pPr>
                <a:spcAft>
                  <a:spcPts val="600"/>
                </a:spcAft>
              </a:pPr>
              <a:t>4</a:t>
            </a:fld>
            <a:endParaRPr lang="ja-JP" altLang="en-US"/>
          </a:p>
        </p:txBody>
      </p:sp>
      <p:sp>
        <p:nvSpPr>
          <p:cNvPr id="7" name="Footer Placeholder 6">
            <a:extLst>
              <a:ext uri="{FF2B5EF4-FFF2-40B4-BE49-F238E27FC236}">
                <a16:creationId xmlns:a16="http://schemas.microsoft.com/office/drawing/2014/main" id="{25CAF089-C48B-AA0E-F3EB-3D0A3F6B74F8}"/>
              </a:ext>
            </a:extLst>
          </p:cNvPr>
          <p:cNvSpPr>
            <a:spLocks noGrp="1"/>
          </p:cNvSpPr>
          <p:nvPr>
            <p:ph type="ftr" sz="quarter" idx="11"/>
          </p:nvPr>
        </p:nvSpPr>
        <p:spPr>
          <a:xfrm>
            <a:off x="1762101" y="6524625"/>
            <a:ext cx="5618212" cy="288925"/>
          </a:xfrm>
        </p:spPr>
        <p:txBody>
          <a:bodyPr vert="horz" wrap="square" lIns="91440" tIns="45720" rIns="91440" bIns="45720" numCol="1" anchor="t" anchorCtr="0" compatLnSpc="1">
            <a:prstTxWarp prst="textNoShape">
              <a:avLst/>
            </a:prstTxWarp>
            <a:normAutofit/>
          </a:bodyPr>
          <a:lstStyle/>
          <a:p>
            <a:pPr>
              <a:spcAft>
                <a:spcPts val="600"/>
              </a:spcAft>
            </a:pPr>
            <a:r>
              <a:rPr kumimoji="1" lang="en-US" altLang="ja-JP"/>
              <a:t>Copyrights 2020 CE-UIT . All Rights Reserved.</a:t>
            </a:r>
            <a:endParaRPr kumimoji="1" lang="ja-JP" altLang="en-US"/>
          </a:p>
        </p:txBody>
      </p:sp>
      <p:pic>
        <p:nvPicPr>
          <p:cNvPr id="14" name="Picture 13" descr="Mạch chuyển USB to TTL CP2102">
            <a:extLst>
              <a:ext uri="{FF2B5EF4-FFF2-40B4-BE49-F238E27FC236}">
                <a16:creationId xmlns:a16="http://schemas.microsoft.com/office/drawing/2014/main" id="{EE92A8D4-02A4-0B25-F2DF-DEC28B128BEF}"/>
              </a:ext>
            </a:extLst>
          </p:cNvPr>
          <p:cNvPicPr>
            <a:picLocks noChangeAspect="1"/>
          </p:cNvPicPr>
          <p:nvPr/>
        </p:nvPicPr>
        <p:blipFill>
          <a:blip r:embed="rId2"/>
          <a:stretch>
            <a:fillRect/>
          </a:stretch>
        </p:blipFill>
        <p:spPr>
          <a:xfrm>
            <a:off x="5410200" y="1143000"/>
            <a:ext cx="2623655" cy="2623655"/>
          </a:xfrm>
          <a:prstGeom prst="rect">
            <a:avLst/>
          </a:prstGeom>
        </p:spPr>
      </p:pic>
      <p:pic>
        <p:nvPicPr>
          <p:cNvPr id="15" name="Picture 14" descr="DE2-115 FPGA Development and Education Kit | Altera">
            <a:extLst>
              <a:ext uri="{FF2B5EF4-FFF2-40B4-BE49-F238E27FC236}">
                <a16:creationId xmlns:a16="http://schemas.microsoft.com/office/drawing/2014/main" id="{2927D6B6-64A4-B938-7128-3F5348576B4B}"/>
              </a:ext>
            </a:extLst>
          </p:cNvPr>
          <p:cNvPicPr>
            <a:picLocks noChangeAspect="1"/>
          </p:cNvPicPr>
          <p:nvPr/>
        </p:nvPicPr>
        <p:blipFill>
          <a:blip r:embed="rId3"/>
          <a:stretch>
            <a:fillRect/>
          </a:stretch>
        </p:blipFill>
        <p:spPr>
          <a:xfrm>
            <a:off x="4725127" y="3457903"/>
            <a:ext cx="3877328" cy="2613319"/>
          </a:xfrm>
          <a:prstGeom prst="rect">
            <a:avLst/>
          </a:prstGeom>
        </p:spPr>
      </p:pic>
    </p:spTree>
    <p:extLst>
      <p:ext uri="{BB962C8B-B14F-4D97-AF65-F5344CB8AC3E}">
        <p14:creationId xmlns:p14="http://schemas.microsoft.com/office/powerpoint/2010/main" val="3159800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CBB0EC30-25C0-DAA3-9B13-485DCE1B6362}"/>
              </a:ext>
            </a:extLst>
          </p:cNvPr>
          <p:cNvSpPr>
            <a:spLocks noGrp="1"/>
          </p:cNvSpPr>
          <p:nvPr>
            <p:ph type="title"/>
          </p:nvPr>
        </p:nvSpPr>
        <p:spPr>
          <a:xfrm>
            <a:off x="1331913" y="287338"/>
            <a:ext cx="7354887" cy="693390"/>
          </a:xfrm>
        </p:spPr>
        <p:txBody>
          <a:bodyPr/>
          <a:lstStyle/>
          <a:p>
            <a:r>
              <a:rPr lang="en-US" dirty="0"/>
              <a:t>UART </a:t>
            </a:r>
          </a:p>
        </p:txBody>
      </p:sp>
      <p:pic>
        <p:nvPicPr>
          <p:cNvPr id="8" name="Picture 7" descr="Basics of UART Communication">
            <a:extLst>
              <a:ext uri="{FF2B5EF4-FFF2-40B4-BE49-F238E27FC236}">
                <a16:creationId xmlns:a16="http://schemas.microsoft.com/office/drawing/2014/main" id="{FCA31CC0-AB1A-592A-315E-5A8E5D8D5556}"/>
              </a:ext>
            </a:extLst>
          </p:cNvPr>
          <p:cNvPicPr>
            <a:picLocks noChangeAspect="1"/>
          </p:cNvPicPr>
          <p:nvPr/>
        </p:nvPicPr>
        <p:blipFill>
          <a:blip r:embed="rId3"/>
          <a:stretch>
            <a:fillRect/>
          </a:stretch>
        </p:blipFill>
        <p:spPr>
          <a:xfrm>
            <a:off x="304800" y="1426345"/>
            <a:ext cx="8640960" cy="2457763"/>
          </a:xfrm>
          <a:prstGeom prst="rect">
            <a:avLst/>
          </a:prstGeom>
          <a:noFill/>
        </p:spPr>
      </p:pic>
      <p:sp>
        <p:nvSpPr>
          <p:cNvPr id="4" name="Date Placeholder 3">
            <a:extLst>
              <a:ext uri="{FF2B5EF4-FFF2-40B4-BE49-F238E27FC236}">
                <a16:creationId xmlns:a16="http://schemas.microsoft.com/office/drawing/2014/main" id="{1DC02B45-EF40-3CC6-1F58-4BFE8241C811}"/>
              </a:ext>
            </a:extLst>
          </p:cNvPr>
          <p:cNvSpPr>
            <a:spLocks noGrp="1"/>
          </p:cNvSpPr>
          <p:nvPr>
            <p:ph type="dt" sz="half" idx="10"/>
          </p:nvPr>
        </p:nvSpPr>
        <p:spPr>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5/21/2026</a:t>
            </a:fld>
            <a:endParaRPr kumimoji="1" lang="ja-JP" altLang="en-US"/>
          </a:p>
        </p:txBody>
      </p:sp>
      <p:sp>
        <p:nvSpPr>
          <p:cNvPr id="5" name="Slide Number Placeholder 4">
            <a:extLst>
              <a:ext uri="{FF2B5EF4-FFF2-40B4-BE49-F238E27FC236}">
                <a16:creationId xmlns:a16="http://schemas.microsoft.com/office/drawing/2014/main" id="{7F6F8334-86B0-E3D2-B4C5-33362B3A7C4E}"/>
              </a:ext>
            </a:extLst>
          </p:cNvPr>
          <p:cNvSpPr>
            <a:spLocks noGrp="1"/>
          </p:cNvSpPr>
          <p:nvPr>
            <p:ph type="sldNum" sz="quarter" idx="12"/>
          </p:nvPr>
        </p:nvSpPr>
        <p:spPr>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5</a:t>
            </a:fld>
            <a:endParaRPr kumimoji="1" lang="ja-JP" altLang="en-US"/>
          </a:p>
        </p:txBody>
      </p:sp>
      <p:sp>
        <p:nvSpPr>
          <p:cNvPr id="7" name="Footer Placeholder 6">
            <a:extLst>
              <a:ext uri="{FF2B5EF4-FFF2-40B4-BE49-F238E27FC236}">
                <a16:creationId xmlns:a16="http://schemas.microsoft.com/office/drawing/2014/main" id="{AD888FB4-2FE3-6231-0CFC-C213C1674ABF}"/>
              </a:ext>
            </a:extLst>
          </p:cNvPr>
          <p:cNvSpPr>
            <a:spLocks noGrp="1"/>
          </p:cNvSpPr>
          <p:nvPr>
            <p:ph type="ftr" sz="quarter" idx="11"/>
          </p:nvPr>
        </p:nvSpPr>
        <p:spPr>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pic>
        <p:nvPicPr>
          <p:cNvPr id="10" name="Picture 9">
            <a:extLst>
              <a:ext uri="{FF2B5EF4-FFF2-40B4-BE49-F238E27FC236}">
                <a16:creationId xmlns:a16="http://schemas.microsoft.com/office/drawing/2014/main" id="{3F685C67-0D09-9EA8-F622-D9DEB4B59F20}"/>
              </a:ext>
            </a:extLst>
          </p:cNvPr>
          <p:cNvPicPr>
            <a:picLocks noChangeAspect="1"/>
          </p:cNvPicPr>
          <p:nvPr/>
        </p:nvPicPr>
        <p:blipFill>
          <a:blip r:embed="rId4"/>
          <a:stretch>
            <a:fillRect/>
          </a:stretch>
        </p:blipFill>
        <p:spPr>
          <a:xfrm>
            <a:off x="628524" y="4319215"/>
            <a:ext cx="7886951" cy="1447800"/>
          </a:xfrm>
          <a:prstGeom prst="rect">
            <a:avLst/>
          </a:prstGeom>
        </p:spPr>
      </p:pic>
    </p:spTree>
    <p:extLst>
      <p:ext uri="{BB962C8B-B14F-4D97-AF65-F5344CB8AC3E}">
        <p14:creationId xmlns:p14="http://schemas.microsoft.com/office/powerpoint/2010/main" val="61676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E8E9744-F88A-CE27-D14C-4B17293A7494}"/>
              </a:ext>
            </a:extLst>
          </p:cNvPr>
          <p:cNvSpPr>
            <a:spLocks noGrp="1"/>
          </p:cNvSpPr>
          <p:nvPr>
            <p:ph type="title"/>
          </p:nvPr>
        </p:nvSpPr>
        <p:spPr>
          <a:xfrm>
            <a:off x="1331913" y="287338"/>
            <a:ext cx="7354887" cy="693390"/>
          </a:xfrm>
        </p:spPr>
        <p:txBody>
          <a:bodyPr vert="horz" wrap="square" lIns="91440" tIns="45720" rIns="91440" bIns="45720" numCol="1" anchor="ctr" anchorCtr="0" compatLnSpc="1">
            <a:prstTxWarp prst="textNoShape">
              <a:avLst/>
            </a:prstTxWarp>
            <a:normAutofit/>
          </a:bodyPr>
          <a:lstStyle/>
          <a:p>
            <a:r>
              <a:rPr lang="en-US"/>
              <a:t>Khối</a:t>
            </a:r>
            <a:r>
              <a:rPr lang="en-US" dirty="0"/>
              <a:t> UART</a:t>
            </a:r>
          </a:p>
        </p:txBody>
      </p:sp>
      <p:sp>
        <p:nvSpPr>
          <p:cNvPr id="10" name="TextBox 9">
            <a:extLst>
              <a:ext uri="{FF2B5EF4-FFF2-40B4-BE49-F238E27FC236}">
                <a16:creationId xmlns:a16="http://schemas.microsoft.com/office/drawing/2014/main" id="{CC6EAB06-0D8C-203C-839F-FB8C0F9F8D45}"/>
              </a:ext>
            </a:extLst>
          </p:cNvPr>
          <p:cNvSpPr txBox="1"/>
          <p:nvPr/>
        </p:nvSpPr>
        <p:spPr bwMode="auto">
          <a:xfrm>
            <a:off x="283050" y="3581400"/>
            <a:ext cx="8251349"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rmAutofit/>
          </a:bodyPr>
          <a:lstStyle/>
          <a:p>
            <a:pPr marL="342900" indent="-342900" algn="just" fontAlgn="base">
              <a:lnSpc>
                <a:spcPct val="90000"/>
              </a:lnSpc>
              <a:spcBef>
                <a:spcPct val="20000"/>
              </a:spcBef>
              <a:spcAft>
                <a:spcPct val="0"/>
              </a:spcAft>
              <a:buClr>
                <a:srgbClr val="003399"/>
              </a:buClr>
              <a:buFont typeface="Wingdings" pitchFamily="2" charset="2"/>
              <a:buChar char="n"/>
            </a:pPr>
            <a:r>
              <a:rPr lang="en-US" sz="2400" b="0" i="0" u="none" strike="noStrike" dirty="0" err="1">
                <a:effectLst/>
                <a:latin typeface="Times New Roman" pitchFamily="18" charset="0"/>
                <a:cs typeface="Times New Roman" pitchFamily="18" charset="0"/>
              </a:rPr>
              <a:t>Gồm</a:t>
            </a:r>
            <a:r>
              <a:rPr lang="en-US" sz="2400" b="0" i="0" u="none" strike="noStrike" dirty="0">
                <a:effectLst/>
                <a:latin typeface="Times New Roman" pitchFamily="18" charset="0"/>
                <a:cs typeface="Times New Roman" pitchFamily="18" charset="0"/>
              </a:rPr>
              <a:t> 2 </a:t>
            </a:r>
            <a:r>
              <a:rPr lang="en-US" sz="2400" b="0" i="0" u="none" strike="noStrike" dirty="0" err="1">
                <a:effectLst/>
                <a:latin typeface="Times New Roman" pitchFamily="18" charset="0"/>
                <a:cs typeface="Times New Roman" pitchFamily="18" charset="0"/>
              </a:rPr>
              <a:t>khối</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uart</a:t>
            </a:r>
            <a:r>
              <a:rPr lang="en-US" sz="2400" b="0" i="0" u="none" strike="noStrike" dirty="0">
                <a:effectLst/>
                <a:latin typeface="Times New Roman" pitchFamily="18" charset="0"/>
                <a:cs typeface="Times New Roman" pitchFamily="18" charset="0"/>
              </a:rPr>
              <a:t> module </a:t>
            </a:r>
            <a:r>
              <a:rPr lang="en-US" sz="2400" b="0" i="0" u="none" strike="noStrike" dirty="0" err="1">
                <a:effectLst/>
                <a:latin typeface="Times New Roman" pitchFamily="18" charset="0"/>
                <a:cs typeface="Times New Roman" pitchFamily="18" charset="0"/>
              </a:rPr>
              <a:t>và</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uart</a:t>
            </a:r>
            <a:r>
              <a:rPr lang="en-US" sz="2400" b="0" i="0" u="none" strike="noStrike" dirty="0">
                <a:effectLst/>
                <a:latin typeface="Times New Roman" pitchFamily="18" charset="0"/>
                <a:cs typeface="Times New Roman" pitchFamily="18" charset="0"/>
              </a:rPr>
              <a:t> combine, </a:t>
            </a:r>
            <a:r>
              <a:rPr lang="en-US" sz="2400" b="0" i="0" u="none" strike="noStrike" dirty="0" err="1">
                <a:effectLst/>
                <a:latin typeface="Times New Roman" pitchFamily="18" charset="0"/>
                <a:cs typeface="Times New Roman" pitchFamily="18" charset="0"/>
              </a:rPr>
              <a:t>chức</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năng</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tổng</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thể</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là</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thu</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nhận</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dữ</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liệu</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hình</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ảnh</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được</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mã</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hóa</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gửi</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thông</a:t>
            </a:r>
            <a:r>
              <a:rPr lang="en-US" sz="2400" b="0" i="0" u="none" strike="noStrike" dirty="0">
                <a:effectLst/>
                <a:latin typeface="Times New Roman" pitchFamily="18" charset="0"/>
                <a:cs typeface="Times New Roman" pitchFamily="18" charset="0"/>
              </a:rPr>
              <a:t> qua USB-UART converter, ở </a:t>
            </a:r>
            <a:r>
              <a:rPr lang="en-US" sz="2400" b="0" i="0" u="none" strike="noStrike" dirty="0" err="1">
                <a:effectLst/>
                <a:latin typeface="Times New Roman" pitchFamily="18" charset="0"/>
                <a:cs typeface="Times New Roman" pitchFamily="18" charset="0"/>
              </a:rPr>
              <a:t>dạng</a:t>
            </a:r>
            <a:r>
              <a:rPr lang="en-US" sz="2400" b="0" i="0" u="none" strike="noStrike" dirty="0">
                <a:effectLst/>
                <a:latin typeface="Times New Roman" pitchFamily="18" charset="0"/>
                <a:cs typeface="Times New Roman" pitchFamily="18" charset="0"/>
              </a:rPr>
              <a:t> 8-bit </a:t>
            </a:r>
            <a:r>
              <a:rPr lang="en-US" sz="2400" b="0" i="0" u="none" strike="noStrike" dirty="0" err="1">
                <a:effectLst/>
                <a:latin typeface="Times New Roman" pitchFamily="18" charset="0"/>
                <a:cs typeface="Times New Roman" pitchFamily="18" charset="0"/>
              </a:rPr>
              <a:t>sau</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đó</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ghép</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dữ</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liệu</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thành</a:t>
            </a:r>
            <a:r>
              <a:rPr lang="en-US" sz="2400" b="0" i="0" u="none" strike="noStrike" dirty="0">
                <a:effectLst/>
                <a:latin typeface="Times New Roman" pitchFamily="18" charset="0"/>
                <a:cs typeface="Times New Roman" pitchFamily="18" charset="0"/>
              </a:rPr>
              <a:t> 16-bit </a:t>
            </a:r>
            <a:r>
              <a:rPr lang="en-US" sz="2400" b="0" i="0" u="none" strike="noStrike" dirty="0" err="1">
                <a:effectLst/>
                <a:latin typeface="Times New Roman" pitchFamily="18" charset="0"/>
                <a:cs typeface="Times New Roman" pitchFamily="18" charset="0"/>
              </a:rPr>
              <a:t>để</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phù</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hợp</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với</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lưu</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trữ</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của</a:t>
            </a:r>
            <a:r>
              <a:rPr lang="en-US" sz="2400" b="0" i="0" u="none" strike="noStrike" dirty="0">
                <a:effectLst/>
                <a:latin typeface="Times New Roman" pitchFamily="18" charset="0"/>
                <a:cs typeface="Times New Roman" pitchFamily="18" charset="0"/>
              </a:rPr>
              <a:t> </a:t>
            </a:r>
            <a:r>
              <a:rPr lang="en-US" sz="2400" b="0" i="0" u="none" strike="noStrike" dirty="0" err="1">
                <a:effectLst/>
                <a:latin typeface="Times New Roman" pitchFamily="18" charset="0"/>
                <a:cs typeface="Times New Roman" pitchFamily="18" charset="0"/>
              </a:rPr>
              <a:t>khối</a:t>
            </a:r>
            <a:r>
              <a:rPr lang="en-US" sz="2400" b="0" i="0" u="none" strike="noStrike" dirty="0">
                <a:effectLst/>
                <a:latin typeface="Times New Roman" pitchFamily="18" charset="0"/>
                <a:cs typeface="Times New Roman" pitchFamily="18" charset="0"/>
              </a:rPr>
              <a:t> SRAM.</a:t>
            </a:r>
            <a:endParaRPr lang="en-US" sz="2400" dirty="0">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EFFA0911-06E1-D120-8A7D-F82E10A07354}"/>
              </a:ext>
            </a:extLst>
          </p:cNvPr>
          <p:cNvSpPr>
            <a:spLocks noGrp="1"/>
          </p:cNvSpPr>
          <p:nvPr>
            <p:ph type="dt" sz="half" idx="10"/>
          </p:nvPr>
        </p:nvSpPr>
        <p:spPr>
          <a:xfrm>
            <a:off x="251520" y="6525344"/>
            <a:ext cx="2133600" cy="288206"/>
          </a:xfrm>
        </p:spPr>
        <p:txBody>
          <a:bodyPr vert="horz" wrap="square" lIns="91440" tIns="45720" rIns="91440" bIns="45720" numCol="1" anchor="t" anchorCtr="0" compatLnSpc="1">
            <a:prstTxWarp prst="textNoShape">
              <a:avLst/>
            </a:prstTxWarp>
            <a:normAutofit/>
          </a:bodyPr>
          <a:lstStyle/>
          <a:p>
            <a:pPr>
              <a:spcAft>
                <a:spcPts val="600"/>
              </a:spcAft>
            </a:pPr>
            <a:fld id="{BA136E8E-48A6-4CCA-8C49-35959C36CF6D}" type="datetime1">
              <a:rPr lang="en-US" altLang="ja-JP" smtClean="0"/>
              <a:pPr>
                <a:spcAft>
                  <a:spcPts val="600"/>
                </a:spcAft>
              </a:pPr>
              <a:t>5/21/2026</a:t>
            </a:fld>
            <a:endParaRPr lang="ja-JP" altLang="en-US"/>
          </a:p>
        </p:txBody>
      </p:sp>
      <p:sp>
        <p:nvSpPr>
          <p:cNvPr id="5" name="Slide Number Placeholder 4">
            <a:extLst>
              <a:ext uri="{FF2B5EF4-FFF2-40B4-BE49-F238E27FC236}">
                <a16:creationId xmlns:a16="http://schemas.microsoft.com/office/drawing/2014/main" id="{61305E87-9CD8-DA2F-126F-FF4A777371DF}"/>
              </a:ext>
            </a:extLst>
          </p:cNvPr>
          <p:cNvSpPr>
            <a:spLocks noGrp="1"/>
          </p:cNvSpPr>
          <p:nvPr>
            <p:ph type="sldNum" sz="quarter" idx="12"/>
          </p:nvPr>
        </p:nvSpPr>
        <p:spPr>
          <a:xfrm>
            <a:off x="7139880" y="6524625"/>
            <a:ext cx="1752600" cy="288925"/>
          </a:xfrm>
        </p:spPr>
        <p:txBody>
          <a:bodyPr vert="horz" wrap="square" lIns="91440" tIns="45720" rIns="91440" bIns="45720" numCol="1" anchor="t" anchorCtr="0" compatLnSpc="1">
            <a:prstTxWarp prst="textNoShape">
              <a:avLst/>
            </a:prstTxWarp>
            <a:normAutofit/>
          </a:bodyPr>
          <a:lstStyle/>
          <a:p>
            <a:pPr>
              <a:spcAft>
                <a:spcPts val="600"/>
              </a:spcAft>
            </a:pPr>
            <a:fld id="{800C8475-47C1-49C9-BEE5-594F8CF4D71F}" type="slidenum">
              <a:rPr lang="ja-JP" altLang="en-US" smtClean="0"/>
              <a:pPr>
                <a:spcAft>
                  <a:spcPts val="600"/>
                </a:spcAft>
              </a:pPr>
              <a:t>6</a:t>
            </a:fld>
            <a:endParaRPr lang="ja-JP" altLang="en-US"/>
          </a:p>
        </p:txBody>
      </p:sp>
      <p:pic>
        <p:nvPicPr>
          <p:cNvPr id="8" name="Content Placeholder 7">
            <a:extLst>
              <a:ext uri="{FF2B5EF4-FFF2-40B4-BE49-F238E27FC236}">
                <a16:creationId xmlns:a16="http://schemas.microsoft.com/office/drawing/2014/main" id="{4C76A91E-39FA-899C-6003-126AF73FAC9E}"/>
              </a:ext>
            </a:extLst>
          </p:cNvPr>
          <p:cNvPicPr>
            <a:picLocks noGrp="1" noChangeAspect="1"/>
          </p:cNvPicPr>
          <p:nvPr>
            <p:ph sz="half" idx="13"/>
          </p:nvPr>
        </p:nvPicPr>
        <p:blipFill>
          <a:blip r:embed="rId3"/>
          <a:stretch>
            <a:fillRect/>
          </a:stretch>
        </p:blipFill>
        <p:spPr>
          <a:xfrm>
            <a:off x="766427" y="1454523"/>
            <a:ext cx="7609559" cy="1674101"/>
          </a:xfrm>
          <a:prstGeom prst="rect">
            <a:avLst/>
          </a:prstGeom>
          <a:noFill/>
        </p:spPr>
      </p:pic>
      <p:sp>
        <p:nvSpPr>
          <p:cNvPr id="7" name="Footer Placeholder 6">
            <a:extLst>
              <a:ext uri="{FF2B5EF4-FFF2-40B4-BE49-F238E27FC236}">
                <a16:creationId xmlns:a16="http://schemas.microsoft.com/office/drawing/2014/main" id="{77005CF6-B174-5D01-F9F3-28DE03195B0D}"/>
              </a:ext>
            </a:extLst>
          </p:cNvPr>
          <p:cNvSpPr>
            <a:spLocks noGrp="1"/>
          </p:cNvSpPr>
          <p:nvPr>
            <p:ph type="ftr" sz="quarter" idx="11"/>
          </p:nvPr>
        </p:nvSpPr>
        <p:spPr>
          <a:xfrm>
            <a:off x="1762101" y="6524625"/>
            <a:ext cx="5618212" cy="288925"/>
          </a:xfrm>
        </p:spPr>
        <p:txBody>
          <a:bodyPr vert="horz" wrap="square" lIns="91440" tIns="45720" rIns="91440" bIns="45720" numCol="1" anchor="t" anchorCtr="0" compatLnSpc="1">
            <a:prstTxWarp prst="textNoShape">
              <a:avLst/>
            </a:prstTxWarp>
            <a:normAutofit/>
          </a:bodyPr>
          <a:lstStyle/>
          <a:p>
            <a:pPr>
              <a:spcAft>
                <a:spcPts val="600"/>
              </a:spcAft>
            </a:pPr>
            <a:r>
              <a:rPr kumimoji="1" lang="en-US" altLang="ja-JP"/>
              <a:t>Copyrights 2020 CE-UIT . All Rights Reserved.</a:t>
            </a:r>
            <a:endParaRPr kumimoji="1" lang="ja-JP" altLang="en-US"/>
          </a:p>
        </p:txBody>
      </p:sp>
    </p:spTree>
    <p:extLst>
      <p:ext uri="{BB962C8B-B14F-4D97-AF65-F5344CB8AC3E}">
        <p14:creationId xmlns:p14="http://schemas.microsoft.com/office/powerpoint/2010/main" val="2819401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42462-E8F8-AD85-0427-2F5DF0BE13E1}"/>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415620F1-86C0-AE92-CF1B-E393F359A286}"/>
              </a:ext>
            </a:extLst>
          </p:cNvPr>
          <p:cNvSpPr>
            <a:spLocks noGrp="1"/>
          </p:cNvSpPr>
          <p:nvPr>
            <p:ph type="title"/>
          </p:nvPr>
        </p:nvSpPr>
        <p:spPr>
          <a:xfrm>
            <a:off x="1331913" y="287338"/>
            <a:ext cx="7354887" cy="693390"/>
          </a:xfrm>
        </p:spPr>
        <p:txBody>
          <a:bodyPr vert="horz" wrap="square" lIns="91440" tIns="45720" rIns="91440" bIns="45720" numCol="1" anchor="ctr" anchorCtr="0" compatLnSpc="1">
            <a:prstTxWarp prst="textNoShape">
              <a:avLst/>
            </a:prstTxWarp>
            <a:normAutofit/>
          </a:bodyPr>
          <a:lstStyle/>
          <a:p>
            <a:r>
              <a:rPr lang="en-US"/>
              <a:t>Khối</a:t>
            </a:r>
            <a:r>
              <a:rPr lang="en-US" dirty="0"/>
              <a:t> UART</a:t>
            </a:r>
          </a:p>
        </p:txBody>
      </p:sp>
      <p:pic>
        <p:nvPicPr>
          <p:cNvPr id="8" name="Content Placeholder 7">
            <a:extLst>
              <a:ext uri="{FF2B5EF4-FFF2-40B4-BE49-F238E27FC236}">
                <a16:creationId xmlns:a16="http://schemas.microsoft.com/office/drawing/2014/main" id="{1370AF2D-03F5-B6F0-EF2B-CAD241D9D054}"/>
              </a:ext>
            </a:extLst>
          </p:cNvPr>
          <p:cNvPicPr>
            <a:picLocks noGrp="1" noChangeAspect="1"/>
          </p:cNvPicPr>
          <p:nvPr>
            <p:ph sz="half" idx="1"/>
          </p:nvPr>
        </p:nvPicPr>
        <p:blipFill>
          <a:blip r:embed="rId3"/>
          <a:stretch>
            <a:fillRect/>
          </a:stretch>
        </p:blipFill>
        <p:spPr>
          <a:xfrm>
            <a:off x="468313" y="3447511"/>
            <a:ext cx="4038600" cy="888491"/>
          </a:xfrm>
          <a:prstGeom prst="rect">
            <a:avLst/>
          </a:prstGeom>
          <a:noFill/>
        </p:spPr>
      </p:pic>
      <p:sp>
        <p:nvSpPr>
          <p:cNvPr id="4" name="Date Placeholder 3">
            <a:extLst>
              <a:ext uri="{FF2B5EF4-FFF2-40B4-BE49-F238E27FC236}">
                <a16:creationId xmlns:a16="http://schemas.microsoft.com/office/drawing/2014/main" id="{54561A71-C85C-B97D-D04E-34044090A420}"/>
              </a:ext>
            </a:extLst>
          </p:cNvPr>
          <p:cNvSpPr>
            <a:spLocks noGrp="1"/>
          </p:cNvSpPr>
          <p:nvPr>
            <p:ph type="dt" sz="half" idx="10"/>
          </p:nvPr>
        </p:nvSpPr>
        <p:spPr>
          <a:xfrm>
            <a:off x="251520" y="6525344"/>
            <a:ext cx="2133600" cy="288206"/>
          </a:xfrm>
        </p:spPr>
        <p:txBody>
          <a:bodyPr vert="horz" wrap="square" lIns="91440" tIns="45720" rIns="91440" bIns="45720" numCol="1" anchor="t" anchorCtr="0" compatLnSpc="1">
            <a:prstTxWarp prst="textNoShape">
              <a:avLst/>
            </a:prstTxWarp>
            <a:normAutofit/>
          </a:bodyPr>
          <a:lstStyle/>
          <a:p>
            <a:pPr>
              <a:spcAft>
                <a:spcPts val="600"/>
              </a:spcAft>
            </a:pPr>
            <a:fld id="{BA136E8E-48A6-4CCA-8C49-35959C36CF6D}" type="datetime1">
              <a:rPr lang="en-US" altLang="ja-JP" smtClean="0"/>
              <a:pPr>
                <a:spcAft>
                  <a:spcPts val="600"/>
                </a:spcAft>
              </a:pPr>
              <a:t>5/21/2026</a:t>
            </a:fld>
            <a:endParaRPr lang="ja-JP" altLang="en-US"/>
          </a:p>
        </p:txBody>
      </p:sp>
      <p:sp>
        <p:nvSpPr>
          <p:cNvPr id="5" name="Slide Number Placeholder 4">
            <a:extLst>
              <a:ext uri="{FF2B5EF4-FFF2-40B4-BE49-F238E27FC236}">
                <a16:creationId xmlns:a16="http://schemas.microsoft.com/office/drawing/2014/main" id="{72D06261-C9C0-FE5D-7C29-4B6B1C6C4E98}"/>
              </a:ext>
            </a:extLst>
          </p:cNvPr>
          <p:cNvSpPr>
            <a:spLocks noGrp="1"/>
          </p:cNvSpPr>
          <p:nvPr>
            <p:ph type="sldNum" sz="quarter" idx="12"/>
          </p:nvPr>
        </p:nvSpPr>
        <p:spPr>
          <a:xfrm>
            <a:off x="7139880" y="6524625"/>
            <a:ext cx="1752600" cy="288925"/>
          </a:xfrm>
        </p:spPr>
        <p:txBody>
          <a:bodyPr vert="horz" wrap="square" lIns="91440" tIns="45720" rIns="91440" bIns="45720" numCol="1" anchor="t" anchorCtr="0" compatLnSpc="1">
            <a:prstTxWarp prst="textNoShape">
              <a:avLst/>
            </a:prstTxWarp>
            <a:normAutofit/>
          </a:bodyPr>
          <a:lstStyle/>
          <a:p>
            <a:pPr>
              <a:spcAft>
                <a:spcPts val="600"/>
              </a:spcAft>
            </a:pPr>
            <a:fld id="{800C8475-47C1-49C9-BEE5-594F8CF4D71F}" type="slidenum">
              <a:rPr lang="ja-JP" altLang="en-US" smtClean="0"/>
              <a:pPr>
                <a:spcAft>
                  <a:spcPts val="600"/>
                </a:spcAft>
              </a:pPr>
              <a:t>7</a:t>
            </a:fld>
            <a:endParaRPr lang="ja-JP" altLang="en-US"/>
          </a:p>
        </p:txBody>
      </p:sp>
      <p:sp>
        <p:nvSpPr>
          <p:cNvPr id="10" name="TextBox 9">
            <a:extLst>
              <a:ext uri="{FF2B5EF4-FFF2-40B4-BE49-F238E27FC236}">
                <a16:creationId xmlns:a16="http://schemas.microsoft.com/office/drawing/2014/main" id="{D05FFCF6-3EFA-A5D9-7ACD-CFF93AA9F680}"/>
              </a:ext>
            </a:extLst>
          </p:cNvPr>
          <p:cNvSpPr txBox="1"/>
          <p:nvPr/>
        </p:nvSpPr>
        <p:spPr bwMode="auto">
          <a:xfrm>
            <a:off x="4709864" y="1628800"/>
            <a:ext cx="4038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rmAutofit/>
          </a:bodyPr>
          <a:lstStyle/>
          <a:p>
            <a:pPr marL="342900" indent="-342900" algn="just" fontAlgn="base">
              <a:lnSpc>
                <a:spcPct val="90000"/>
              </a:lnSpc>
              <a:spcBef>
                <a:spcPct val="20000"/>
              </a:spcBef>
              <a:spcAft>
                <a:spcPct val="0"/>
              </a:spcAft>
              <a:buClr>
                <a:srgbClr val="003399"/>
              </a:buClr>
              <a:buFont typeface="Wingdings" pitchFamily="2" charset="2"/>
              <a:buChar char="n"/>
            </a:pPr>
            <a:r>
              <a:rPr lang="en-US" sz="2000" b="1" dirty="0">
                <a:latin typeface="Times New Roman" pitchFamily="18" charset="0"/>
                <a:cs typeface="Times New Roman" pitchFamily="18" charset="0"/>
              </a:rPr>
              <a:t>Inputs: </a:t>
            </a:r>
            <a:endParaRPr lang="en-US" sz="2000" dirty="0">
              <a:latin typeface="Times New Roman" pitchFamily="18" charset="0"/>
              <a:cs typeface="Times New Roman" pitchFamily="18" charset="0"/>
            </a:endParaRPr>
          </a:p>
          <a:p>
            <a:pPr marL="342900" indent="-342900" algn="just" fontAlgn="base">
              <a:lnSpc>
                <a:spcPct val="90000"/>
              </a:lnSpc>
              <a:spcBef>
                <a:spcPct val="20000"/>
              </a:spcBef>
              <a:spcAft>
                <a:spcPct val="0"/>
              </a:spcAft>
              <a:buClr>
                <a:srgbClr val="003399"/>
              </a:buClr>
              <a:buFont typeface="Wingdings" pitchFamily="2" charset="2"/>
              <a:buChar char="n"/>
            </a:pPr>
            <a:r>
              <a:rPr lang="en-US" sz="2000" dirty="0">
                <a:latin typeface="Times New Roman" pitchFamily="18" charset="0"/>
                <a:cs typeface="Times New Roman" pitchFamily="18" charset="0"/>
              </a:rPr>
              <a:t>CLOCK_50: </a:t>
            </a:r>
            <a:r>
              <a:rPr lang="en-US" sz="2000" dirty="0" err="1">
                <a:latin typeface="Times New Roman" pitchFamily="18" charset="0"/>
                <a:cs typeface="Times New Roman" pitchFamily="18" charset="0"/>
              </a:rPr>
              <a:t>xung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nhịp</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hệ</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thống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dùng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để</a:t>
            </a:r>
            <a:r>
              <a:rPr lang="en-US" sz="2000" dirty="0">
                <a:latin typeface="Times New Roman" pitchFamily="18" charset="0"/>
                <a:cs typeface="Times New Roman" pitchFamily="18" charset="0"/>
              </a:rPr>
              <a:t> chia </a:t>
            </a:r>
            <a:r>
              <a:rPr lang="en-US" sz="2000" dirty="0" err="1">
                <a:latin typeface="Times New Roman" pitchFamily="18" charset="0"/>
                <a:cs typeface="Times New Roman" pitchFamily="18" charset="0"/>
              </a:rPr>
              <a:t>với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baudrate</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tần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số</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hoạt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động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của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mạch</a:t>
            </a:r>
            <a:r>
              <a:rPr lang="en-US" sz="2000" dirty="0">
                <a:latin typeface="Times New Roman" pitchFamily="18" charset="0"/>
                <a:cs typeface="Times New Roman" pitchFamily="18" charset="0"/>
              </a:rPr>
              <a:t>.</a:t>
            </a:r>
          </a:p>
          <a:p>
            <a:pPr marL="342900" indent="-342900" algn="just" fontAlgn="base">
              <a:lnSpc>
                <a:spcPct val="90000"/>
              </a:lnSpc>
              <a:spcBef>
                <a:spcPct val="20000"/>
              </a:spcBef>
              <a:spcAft>
                <a:spcPct val="0"/>
              </a:spcAft>
              <a:buClr>
                <a:srgbClr val="003399"/>
              </a:buClr>
              <a:buFont typeface="Wingdings" pitchFamily="2" charset="2"/>
              <a:buChar char="n"/>
            </a:pPr>
            <a:r>
              <a:rPr lang="en-US" sz="2000" dirty="0" err="1">
                <a:latin typeface="Times New Roman" pitchFamily="18" charset="0"/>
                <a:cs typeface="Times New Roman" pitchFamily="18" charset="0"/>
              </a:rPr>
              <a:t>Rst_n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Chân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tín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hiệu</a:t>
            </a:r>
            <a:r>
              <a:rPr lang="en-US" sz="2000" dirty="0">
                <a:latin typeface="Times New Roman" pitchFamily="18" charset="0"/>
                <a:cs typeface="Times New Roman" pitchFamily="18" charset="0"/>
              </a:rPr>
              <a:t> reset </a:t>
            </a:r>
            <a:r>
              <a:rPr lang="en-US" sz="2000" dirty="0" err="1">
                <a:latin typeface="Times New Roman" pitchFamily="18" charset="0"/>
                <a:cs typeface="Times New Roman" pitchFamily="18" charset="0"/>
              </a:rPr>
              <a:t>tích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cực</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mức</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thấp</a:t>
            </a:r>
            <a:r>
              <a:rPr lang="en-US" sz="2000" dirty="0">
                <a:latin typeface="Times New Roman" pitchFamily="18" charset="0"/>
                <a:cs typeface="Times New Roman" pitchFamily="18" charset="0"/>
              </a:rPr>
              <a:t>.</a:t>
            </a:r>
          </a:p>
          <a:p>
            <a:pPr marL="342900" indent="-342900" algn="just" fontAlgn="base">
              <a:lnSpc>
                <a:spcPct val="90000"/>
              </a:lnSpc>
              <a:spcBef>
                <a:spcPct val="20000"/>
              </a:spcBef>
              <a:spcAft>
                <a:spcPct val="0"/>
              </a:spcAft>
              <a:buClr>
                <a:srgbClr val="003399"/>
              </a:buClr>
              <a:buFont typeface="Wingdings" pitchFamily="2" charset="2"/>
              <a:buChar char="n"/>
            </a:pPr>
            <a:r>
              <a:rPr lang="en-US" sz="2000" dirty="0" err="1">
                <a:latin typeface="Times New Roman" pitchFamily="18" charset="0"/>
                <a:cs typeface="Times New Roman" pitchFamily="18" charset="0"/>
              </a:rPr>
              <a:t>Tx_en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Tín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hiệu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cho</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phép</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nhận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dữ</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liệu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từ</a:t>
            </a:r>
            <a:r>
              <a:rPr lang="en-US" sz="2000" dirty="0">
                <a:latin typeface="Times New Roman" pitchFamily="18" charset="0"/>
                <a:cs typeface="Times New Roman" pitchFamily="18" charset="0"/>
              </a:rPr>
              <a:t> USB-UART converter, </a:t>
            </a:r>
            <a:r>
              <a:rPr lang="en-US" sz="2000" dirty="0" err="1">
                <a:latin typeface="Times New Roman" pitchFamily="18" charset="0"/>
                <a:cs typeface="Times New Roman" pitchFamily="18" charset="0"/>
              </a:rPr>
              <a:t>hoạt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động</a:t>
            </a:r>
            <a:r>
              <a:rPr lang="en-US" sz="2000" dirty="0">
                <a:latin typeface="Times New Roman" pitchFamily="18" charset="0"/>
                <a:cs typeface="Times New Roman" pitchFamily="18" charset="0"/>
              </a:rPr>
              <a:t> ở </a:t>
            </a:r>
            <a:r>
              <a:rPr lang="en-US" sz="2000" dirty="0" err="1">
                <a:latin typeface="Times New Roman" pitchFamily="18" charset="0"/>
                <a:cs typeface="Times New Roman" pitchFamily="18" charset="0"/>
              </a:rPr>
              <a:t>mức</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cao</a:t>
            </a:r>
            <a:r>
              <a:rPr lang="en-US" sz="2000" dirty="0">
                <a:latin typeface="Times New Roman" pitchFamily="18" charset="0"/>
                <a:cs typeface="Times New Roman" pitchFamily="18" charset="0"/>
              </a:rPr>
              <a:t>.</a:t>
            </a:r>
          </a:p>
          <a:p>
            <a:pPr marL="342900" indent="-342900" algn="just" fontAlgn="base">
              <a:lnSpc>
                <a:spcPct val="90000"/>
              </a:lnSpc>
              <a:spcBef>
                <a:spcPct val="20000"/>
              </a:spcBef>
              <a:spcAft>
                <a:spcPct val="0"/>
              </a:spcAft>
              <a:buClr>
                <a:srgbClr val="003399"/>
              </a:buClr>
              <a:buFont typeface="Wingdings" pitchFamily="2" charset="2"/>
              <a:buChar char="n"/>
            </a:pPr>
            <a:r>
              <a:rPr lang="en-US" sz="2000" dirty="0" err="1">
                <a:latin typeface="Times New Roman" pitchFamily="18" charset="0"/>
                <a:cs typeface="Times New Roman" pitchFamily="18" charset="0"/>
              </a:rPr>
              <a:t>Tx_in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chân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đầu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vào</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cho</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tín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hiệu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của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truyền</a:t>
            </a:r>
            <a:r>
              <a:rPr lang="en-US" sz="2000" dirty="0">
                <a:latin typeface="Times New Roman" pitchFamily="18" charset="0"/>
                <a:cs typeface="Times New Roman" pitchFamily="18" charset="0"/>
              </a:rPr>
              <a:t> UART, </a:t>
            </a:r>
            <a:r>
              <a:rPr lang="en-US" sz="2000" dirty="0" err="1">
                <a:latin typeface="Times New Roman" pitchFamily="18" charset="0"/>
                <a:cs typeface="Times New Roman" pitchFamily="18" charset="0"/>
              </a:rPr>
              <a:t>kiểm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tra</a:t>
            </a:r>
            <a:r>
              <a:rPr lang="en-US" sz="2000" dirty="0">
                <a:latin typeface="Times New Roman" pitchFamily="18" charset="0"/>
                <a:cs typeface="Times New Roman" pitchFamily="18" charset="0"/>
              </a:rPr>
              <a:t> start bit </a:t>
            </a:r>
            <a:r>
              <a:rPr lang="en-US" sz="2000" dirty="0" err="1">
                <a:latin typeface="Times New Roman" pitchFamily="18" charset="0"/>
                <a:cs typeface="Times New Roman" pitchFamily="18" charset="0"/>
              </a:rPr>
              <a:t>và</a:t>
            </a:r>
            <a:r>
              <a:rPr lang="en-US" sz="2000" dirty="0">
                <a:latin typeface="Times New Roman" pitchFamily="18" charset="0"/>
                <a:cs typeface="Times New Roman" pitchFamily="18" charset="0"/>
              </a:rPr>
              <a:t> stop bit </a:t>
            </a:r>
            <a:r>
              <a:rPr lang="en-US" sz="2000" dirty="0" err="1">
                <a:latin typeface="Times New Roman" pitchFamily="18" charset="0"/>
                <a:cs typeface="Times New Roman" pitchFamily="18" charset="0"/>
              </a:rPr>
              <a:t>để</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chuyển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giữa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các</a:t>
            </a:r>
            <a:r>
              <a:rPr lang="en-US" sz="2000" dirty="0">
                <a:latin typeface="Times New Roman" pitchFamily="18" charset="0"/>
                <a:cs typeface="Times New Roman" pitchFamily="18" charset="0"/>
              </a:rPr>
              <a:t> state.</a:t>
            </a:r>
            <a:endParaRPr lang="en-US" sz="2000" b="1" dirty="0">
              <a:latin typeface="Times New Roman" pitchFamily="18" charset="0"/>
              <a:cs typeface="Times New Roman" pitchFamily="18" charset="0"/>
            </a:endParaRPr>
          </a:p>
          <a:p>
            <a:pPr marL="342900" indent="-342900" algn="just" fontAlgn="base">
              <a:lnSpc>
                <a:spcPct val="90000"/>
              </a:lnSpc>
              <a:spcBef>
                <a:spcPct val="20000"/>
              </a:spcBef>
              <a:spcAft>
                <a:spcPct val="0"/>
              </a:spcAft>
              <a:buClr>
                <a:srgbClr val="003399"/>
              </a:buClr>
              <a:buFont typeface="Wingdings" pitchFamily="2" charset="2"/>
              <a:buChar char="n"/>
            </a:pPr>
            <a:endParaRPr lang="en-US" sz="2000" dirty="0">
              <a:latin typeface="Times New Roman" pitchFamily="18" charset="0"/>
              <a:cs typeface="Times New Roman" pitchFamily="18" charset="0"/>
            </a:endParaRPr>
          </a:p>
        </p:txBody>
      </p:sp>
      <p:sp>
        <p:nvSpPr>
          <p:cNvPr id="7" name="Footer Placeholder 6">
            <a:extLst>
              <a:ext uri="{FF2B5EF4-FFF2-40B4-BE49-F238E27FC236}">
                <a16:creationId xmlns:a16="http://schemas.microsoft.com/office/drawing/2014/main" id="{64551CD5-9352-1E83-AECA-A4A4331439EE}"/>
              </a:ext>
            </a:extLst>
          </p:cNvPr>
          <p:cNvSpPr>
            <a:spLocks noGrp="1"/>
          </p:cNvSpPr>
          <p:nvPr>
            <p:ph type="ftr" sz="quarter" idx="11"/>
          </p:nvPr>
        </p:nvSpPr>
        <p:spPr>
          <a:xfrm>
            <a:off x="1762101" y="6524625"/>
            <a:ext cx="5618212" cy="288925"/>
          </a:xfrm>
        </p:spPr>
        <p:txBody>
          <a:bodyPr vert="horz" wrap="square" lIns="91440" tIns="45720" rIns="91440" bIns="45720" numCol="1" anchor="t" anchorCtr="0" compatLnSpc="1">
            <a:prstTxWarp prst="textNoShape">
              <a:avLst/>
            </a:prstTxWarp>
            <a:normAutofit/>
          </a:bodyPr>
          <a:lstStyle/>
          <a:p>
            <a:pPr>
              <a:spcAft>
                <a:spcPts val="600"/>
              </a:spcAft>
            </a:pPr>
            <a:r>
              <a:rPr kumimoji="1" lang="en-US" altLang="ja-JP"/>
              <a:t>Copyrights 2020 CE-UIT . All Rights Reserved.</a:t>
            </a:r>
            <a:endParaRPr kumimoji="1" lang="ja-JP" altLang="en-US"/>
          </a:p>
        </p:txBody>
      </p:sp>
    </p:spTree>
    <p:extLst>
      <p:ext uri="{BB962C8B-B14F-4D97-AF65-F5344CB8AC3E}">
        <p14:creationId xmlns:p14="http://schemas.microsoft.com/office/powerpoint/2010/main" val="13603369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3E289-3BA1-9C6C-24B3-DFCEE540CC03}"/>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24003F34-2029-576E-1AA1-5854A74B0485}"/>
              </a:ext>
            </a:extLst>
          </p:cNvPr>
          <p:cNvSpPr>
            <a:spLocks noGrp="1"/>
          </p:cNvSpPr>
          <p:nvPr>
            <p:ph type="title"/>
          </p:nvPr>
        </p:nvSpPr>
        <p:spPr>
          <a:xfrm>
            <a:off x="1331913" y="287338"/>
            <a:ext cx="7354887" cy="693390"/>
          </a:xfrm>
        </p:spPr>
        <p:txBody>
          <a:bodyPr vert="horz" wrap="square" lIns="91440" tIns="45720" rIns="91440" bIns="45720" numCol="1" anchor="ctr" anchorCtr="0" compatLnSpc="1">
            <a:prstTxWarp prst="textNoShape">
              <a:avLst/>
            </a:prstTxWarp>
            <a:normAutofit/>
          </a:bodyPr>
          <a:lstStyle/>
          <a:p>
            <a:r>
              <a:rPr lang="en-US"/>
              <a:t>Khối</a:t>
            </a:r>
            <a:r>
              <a:rPr lang="en-US" dirty="0"/>
              <a:t> UART</a:t>
            </a:r>
          </a:p>
        </p:txBody>
      </p:sp>
      <p:pic>
        <p:nvPicPr>
          <p:cNvPr id="8" name="Content Placeholder 7">
            <a:extLst>
              <a:ext uri="{FF2B5EF4-FFF2-40B4-BE49-F238E27FC236}">
                <a16:creationId xmlns:a16="http://schemas.microsoft.com/office/drawing/2014/main" id="{C561A442-8129-9ED6-925A-7E56304B5EB0}"/>
              </a:ext>
            </a:extLst>
          </p:cNvPr>
          <p:cNvPicPr>
            <a:picLocks noGrp="1" noChangeAspect="1"/>
          </p:cNvPicPr>
          <p:nvPr>
            <p:ph sz="half" idx="1"/>
          </p:nvPr>
        </p:nvPicPr>
        <p:blipFill>
          <a:blip r:embed="rId3"/>
          <a:stretch>
            <a:fillRect/>
          </a:stretch>
        </p:blipFill>
        <p:spPr>
          <a:xfrm>
            <a:off x="468313" y="3447511"/>
            <a:ext cx="4038600" cy="888491"/>
          </a:xfrm>
          <a:prstGeom prst="rect">
            <a:avLst/>
          </a:prstGeom>
          <a:noFill/>
        </p:spPr>
      </p:pic>
      <p:sp>
        <p:nvSpPr>
          <p:cNvPr id="4" name="Date Placeholder 3">
            <a:extLst>
              <a:ext uri="{FF2B5EF4-FFF2-40B4-BE49-F238E27FC236}">
                <a16:creationId xmlns:a16="http://schemas.microsoft.com/office/drawing/2014/main" id="{C33604D8-BD51-5B5A-8A93-3B390C95FD18}"/>
              </a:ext>
            </a:extLst>
          </p:cNvPr>
          <p:cNvSpPr>
            <a:spLocks noGrp="1"/>
          </p:cNvSpPr>
          <p:nvPr>
            <p:ph type="dt" sz="half" idx="10"/>
          </p:nvPr>
        </p:nvSpPr>
        <p:spPr>
          <a:xfrm>
            <a:off x="251520" y="6525344"/>
            <a:ext cx="2133600" cy="288206"/>
          </a:xfrm>
        </p:spPr>
        <p:txBody>
          <a:bodyPr vert="horz" wrap="square" lIns="91440" tIns="45720" rIns="91440" bIns="45720" numCol="1" anchor="t" anchorCtr="0" compatLnSpc="1">
            <a:prstTxWarp prst="textNoShape">
              <a:avLst/>
            </a:prstTxWarp>
            <a:normAutofit/>
          </a:bodyPr>
          <a:lstStyle/>
          <a:p>
            <a:pPr>
              <a:spcAft>
                <a:spcPts val="600"/>
              </a:spcAft>
            </a:pPr>
            <a:fld id="{BA136E8E-48A6-4CCA-8C49-35959C36CF6D}" type="datetime1">
              <a:rPr lang="en-US" altLang="ja-JP" smtClean="0"/>
              <a:pPr>
                <a:spcAft>
                  <a:spcPts val="600"/>
                </a:spcAft>
              </a:pPr>
              <a:t>5/21/2026</a:t>
            </a:fld>
            <a:endParaRPr lang="ja-JP" altLang="en-US"/>
          </a:p>
        </p:txBody>
      </p:sp>
      <p:sp>
        <p:nvSpPr>
          <p:cNvPr id="5" name="Slide Number Placeholder 4">
            <a:extLst>
              <a:ext uri="{FF2B5EF4-FFF2-40B4-BE49-F238E27FC236}">
                <a16:creationId xmlns:a16="http://schemas.microsoft.com/office/drawing/2014/main" id="{CF5831AF-83EF-8EBB-7804-A7A28F446DB6}"/>
              </a:ext>
            </a:extLst>
          </p:cNvPr>
          <p:cNvSpPr>
            <a:spLocks noGrp="1"/>
          </p:cNvSpPr>
          <p:nvPr>
            <p:ph type="sldNum" sz="quarter" idx="12"/>
          </p:nvPr>
        </p:nvSpPr>
        <p:spPr>
          <a:xfrm>
            <a:off x="7139880" y="6524625"/>
            <a:ext cx="1752600" cy="288925"/>
          </a:xfrm>
        </p:spPr>
        <p:txBody>
          <a:bodyPr vert="horz" wrap="square" lIns="91440" tIns="45720" rIns="91440" bIns="45720" numCol="1" anchor="t" anchorCtr="0" compatLnSpc="1">
            <a:prstTxWarp prst="textNoShape">
              <a:avLst/>
            </a:prstTxWarp>
            <a:normAutofit/>
          </a:bodyPr>
          <a:lstStyle/>
          <a:p>
            <a:pPr>
              <a:spcAft>
                <a:spcPts val="600"/>
              </a:spcAft>
            </a:pPr>
            <a:fld id="{800C8475-47C1-49C9-BEE5-594F8CF4D71F}" type="slidenum">
              <a:rPr lang="ja-JP" altLang="en-US" smtClean="0"/>
              <a:pPr>
                <a:spcAft>
                  <a:spcPts val="600"/>
                </a:spcAft>
              </a:pPr>
              <a:t>8</a:t>
            </a:fld>
            <a:endParaRPr lang="ja-JP" altLang="en-US"/>
          </a:p>
        </p:txBody>
      </p:sp>
      <p:sp>
        <p:nvSpPr>
          <p:cNvPr id="10" name="TextBox 9">
            <a:extLst>
              <a:ext uri="{FF2B5EF4-FFF2-40B4-BE49-F238E27FC236}">
                <a16:creationId xmlns:a16="http://schemas.microsoft.com/office/drawing/2014/main" id="{1ECBE2C6-451B-ADDC-0815-6E5535A46839}"/>
              </a:ext>
            </a:extLst>
          </p:cNvPr>
          <p:cNvSpPr txBox="1"/>
          <p:nvPr/>
        </p:nvSpPr>
        <p:spPr bwMode="auto">
          <a:xfrm>
            <a:off x="4709864" y="1628800"/>
            <a:ext cx="4038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rmAutofit/>
          </a:bodyPr>
          <a:lstStyle/>
          <a:p>
            <a:pPr marL="342900" indent="-342900" algn="just" fontAlgn="base">
              <a:lnSpc>
                <a:spcPct val="90000"/>
              </a:lnSpc>
              <a:spcBef>
                <a:spcPct val="20000"/>
              </a:spcBef>
              <a:spcAft>
                <a:spcPct val="0"/>
              </a:spcAft>
              <a:buClr>
                <a:srgbClr val="003399"/>
              </a:buClr>
              <a:buFont typeface="Wingdings" pitchFamily="2" charset="2"/>
              <a:buChar char="n"/>
            </a:pPr>
            <a:r>
              <a:rPr lang="en-US" sz="2200" b="1" dirty="0">
                <a:latin typeface="Times New Roman" pitchFamily="18" charset="0"/>
                <a:cs typeface="Times New Roman" pitchFamily="18" charset="0"/>
              </a:rPr>
              <a:t>Outputs:</a:t>
            </a:r>
          </a:p>
          <a:p>
            <a:pPr marL="342900" indent="-342900" algn="just" fontAlgn="base">
              <a:lnSpc>
                <a:spcPct val="90000"/>
              </a:lnSpc>
              <a:spcBef>
                <a:spcPct val="20000"/>
              </a:spcBef>
              <a:spcAft>
                <a:spcPct val="0"/>
              </a:spcAft>
              <a:buClr>
                <a:srgbClr val="003399"/>
              </a:buClr>
              <a:buFont typeface="Wingdings" pitchFamily="2" charset="2"/>
              <a:buChar char="n"/>
            </a:pPr>
            <a:r>
              <a:rPr lang="en-US" sz="2200" dirty="0">
                <a:latin typeface="Times New Roman" pitchFamily="18" charset="0"/>
                <a:cs typeface="Times New Roman" pitchFamily="18" charset="0"/>
              </a:rPr>
              <a:t>Finish signal: </a:t>
            </a:r>
            <a:r>
              <a:rPr lang="en-US" sz="2200" dirty="0" err="1">
                <a:latin typeface="Times New Roman" pitchFamily="18" charset="0"/>
                <a:cs typeface="Times New Roman" pitchFamily="18" charset="0"/>
              </a:rPr>
              <a:t>Tín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hiệu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cho</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thấy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đã</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truyền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thành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công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chuỗi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dữ</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liệu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cho</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Sram</a:t>
            </a:r>
            <a:r>
              <a:rPr lang="en-US" sz="2200" dirty="0">
                <a:latin typeface="Times New Roman" pitchFamily="18" charset="0"/>
                <a:cs typeface="Times New Roman" pitchFamily="18" charset="0"/>
              </a:rPr>
              <a:t>.</a:t>
            </a:r>
          </a:p>
          <a:p>
            <a:pPr marL="342900" indent="-342900" algn="just" fontAlgn="base">
              <a:lnSpc>
                <a:spcPct val="90000"/>
              </a:lnSpc>
              <a:spcBef>
                <a:spcPct val="20000"/>
              </a:spcBef>
              <a:spcAft>
                <a:spcPct val="0"/>
              </a:spcAft>
              <a:buClr>
                <a:srgbClr val="003399"/>
              </a:buClr>
              <a:buFont typeface="Wingdings" pitchFamily="2" charset="2"/>
              <a:buChar char="n"/>
            </a:pPr>
            <a:r>
              <a:rPr lang="en-US" sz="2200" dirty="0" err="1">
                <a:latin typeface="Times New Roman" pitchFamily="18" charset="0"/>
                <a:cs typeface="Times New Roman" pitchFamily="18" charset="0"/>
              </a:rPr>
              <a:t>Sram_enb</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Tín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hiệu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cho</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phép</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khối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Sram</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phía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sau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hoạt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động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để</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tiến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hành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lưu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trữ</a:t>
            </a:r>
            <a:r>
              <a:rPr lang="en-US" sz="2200" dirty="0">
                <a:latin typeface="Times New Roman" pitchFamily="18" charset="0"/>
                <a:cs typeface="Times New Roman" pitchFamily="18" charset="0"/>
              </a:rPr>
              <a:t>.</a:t>
            </a:r>
          </a:p>
          <a:p>
            <a:pPr marL="342900" indent="-342900" algn="just" fontAlgn="base">
              <a:lnSpc>
                <a:spcPct val="90000"/>
              </a:lnSpc>
              <a:spcBef>
                <a:spcPct val="20000"/>
              </a:spcBef>
              <a:spcAft>
                <a:spcPct val="0"/>
              </a:spcAft>
              <a:buClr>
                <a:srgbClr val="003399"/>
              </a:buClr>
              <a:buFont typeface="Wingdings" pitchFamily="2" charset="2"/>
              <a:buChar char="n"/>
            </a:pPr>
            <a:r>
              <a:rPr lang="en-US" sz="2200" dirty="0" err="1">
                <a:latin typeface="Times New Roman" pitchFamily="18" charset="0"/>
                <a:cs typeface="Times New Roman" pitchFamily="18" charset="0"/>
              </a:rPr>
              <a:t>Data_out</a:t>
            </a:r>
            <a:r>
              <a:rPr lang="en-US" sz="2200" dirty="0">
                <a:latin typeface="Times New Roman" pitchFamily="18" charset="0"/>
                <a:cs typeface="Times New Roman" pitchFamily="18" charset="0"/>
              </a:rPr>
              <a:t>[15:0]: </a:t>
            </a:r>
            <a:r>
              <a:rPr lang="en-US" sz="2200" dirty="0" err="1">
                <a:latin typeface="Times New Roman" pitchFamily="18" charset="0"/>
                <a:cs typeface="Times New Roman" pitchFamily="18" charset="0"/>
              </a:rPr>
              <a:t>Dữ</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liệu</a:t>
            </a:r>
            <a:r>
              <a:rPr lang="en-US" sz="2200" dirty="0">
                <a:latin typeface="Times New Roman" pitchFamily="18" charset="0"/>
                <a:cs typeface="Times New Roman" pitchFamily="18" charset="0"/>
              </a:rPr>
              <a:t> 16bit </a:t>
            </a:r>
            <a:r>
              <a:rPr lang="en-US" sz="2200" dirty="0" err="1">
                <a:latin typeface="Times New Roman" pitchFamily="18" charset="0"/>
                <a:cs typeface="Times New Roman" pitchFamily="18" charset="0"/>
              </a:rPr>
              <a:t>được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xuất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ra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sau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khi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đã</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tổng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hợp</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từ</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dữ</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liệu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nhận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vào</a:t>
            </a:r>
            <a:r>
              <a:rPr lang="en-US" sz="2200" dirty="0">
                <a:latin typeface="Times New Roman" pitchFamily="18" charset="0"/>
                <a:cs typeface="Times New Roman" pitchFamily="18" charset="0"/>
              </a:rPr>
              <a:t>.</a:t>
            </a:r>
          </a:p>
          <a:p>
            <a:pPr marL="342900" indent="-342900" algn="just" fontAlgn="base">
              <a:lnSpc>
                <a:spcPct val="90000"/>
              </a:lnSpc>
              <a:spcBef>
                <a:spcPct val="20000"/>
              </a:spcBef>
              <a:spcAft>
                <a:spcPct val="0"/>
              </a:spcAft>
              <a:buClr>
                <a:srgbClr val="003399"/>
              </a:buClr>
              <a:buFont typeface="Wingdings" pitchFamily="2" charset="2"/>
              <a:buChar char="n"/>
            </a:pPr>
            <a:r>
              <a:rPr lang="en-US" sz="2200" dirty="0">
                <a:latin typeface="Times New Roman" pitchFamily="18" charset="0"/>
                <a:cs typeface="Times New Roman" pitchFamily="18" charset="0"/>
              </a:rPr>
              <a:t>Address[18:0]: </a:t>
            </a:r>
            <a:r>
              <a:rPr lang="en-US" sz="2200" dirty="0" err="1">
                <a:latin typeface="Times New Roman" pitchFamily="18" charset="0"/>
                <a:cs typeface="Times New Roman" pitchFamily="18" charset="0"/>
              </a:rPr>
              <a:t>Tính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toán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trước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địa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chỉ</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lưu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của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dữ</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liệu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và</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gửi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địa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chỉ</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cho</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Sram</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để</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lưu</a:t>
            </a:r>
            <a:r>
              <a:rPr lang="en-US" sz="2200" dirty="0">
                <a:latin typeface="Times New Roman" pitchFamily="18" charset="0"/>
                <a:cs typeface="Times New Roman" pitchFamily="18" charset="0"/>
              </a:rPr>
              <a:t>.</a:t>
            </a:r>
          </a:p>
          <a:p>
            <a:pPr marL="342900" indent="-342900" algn="just" fontAlgn="base">
              <a:lnSpc>
                <a:spcPct val="90000"/>
              </a:lnSpc>
              <a:spcBef>
                <a:spcPct val="20000"/>
              </a:spcBef>
              <a:spcAft>
                <a:spcPct val="0"/>
              </a:spcAft>
              <a:buClr>
                <a:srgbClr val="003399"/>
              </a:buClr>
              <a:buFont typeface="Wingdings" pitchFamily="2" charset="2"/>
              <a:buChar char="n"/>
            </a:pPr>
            <a:endParaRPr lang="en-US" sz="2200" dirty="0">
              <a:latin typeface="Times New Roman" pitchFamily="18" charset="0"/>
              <a:cs typeface="Times New Roman" pitchFamily="18" charset="0"/>
            </a:endParaRPr>
          </a:p>
        </p:txBody>
      </p:sp>
      <p:sp>
        <p:nvSpPr>
          <p:cNvPr id="7" name="Footer Placeholder 6">
            <a:extLst>
              <a:ext uri="{FF2B5EF4-FFF2-40B4-BE49-F238E27FC236}">
                <a16:creationId xmlns:a16="http://schemas.microsoft.com/office/drawing/2014/main" id="{F7AABA7B-53C2-3656-053C-2E93C17B05D3}"/>
              </a:ext>
            </a:extLst>
          </p:cNvPr>
          <p:cNvSpPr>
            <a:spLocks noGrp="1"/>
          </p:cNvSpPr>
          <p:nvPr>
            <p:ph type="ftr" sz="quarter" idx="11"/>
          </p:nvPr>
        </p:nvSpPr>
        <p:spPr>
          <a:xfrm>
            <a:off x="1762101" y="6524625"/>
            <a:ext cx="5618212" cy="288925"/>
          </a:xfrm>
        </p:spPr>
        <p:txBody>
          <a:bodyPr vert="horz" wrap="square" lIns="91440" tIns="45720" rIns="91440" bIns="45720" numCol="1" anchor="t" anchorCtr="0" compatLnSpc="1">
            <a:prstTxWarp prst="textNoShape">
              <a:avLst/>
            </a:prstTxWarp>
            <a:normAutofit/>
          </a:bodyPr>
          <a:lstStyle/>
          <a:p>
            <a:pPr>
              <a:spcAft>
                <a:spcPts val="600"/>
              </a:spcAft>
            </a:pPr>
            <a:r>
              <a:rPr kumimoji="1" lang="en-US" altLang="ja-JP"/>
              <a:t>Copyrights 2020 CE-UIT . All Rights Reserved.</a:t>
            </a:r>
            <a:endParaRPr kumimoji="1" lang="ja-JP" altLang="en-US"/>
          </a:p>
        </p:txBody>
      </p:sp>
    </p:spTree>
    <p:extLst>
      <p:ext uri="{BB962C8B-B14F-4D97-AF65-F5344CB8AC3E}">
        <p14:creationId xmlns:p14="http://schemas.microsoft.com/office/powerpoint/2010/main" val="3991786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A56AA-4115-3F51-0699-9ED79FA919A0}"/>
              </a:ext>
            </a:extLst>
          </p:cNvPr>
          <p:cNvSpPr>
            <a:spLocks noGrp="1"/>
          </p:cNvSpPr>
          <p:nvPr>
            <p:ph type="title"/>
          </p:nvPr>
        </p:nvSpPr>
        <p:spPr>
          <a:xfrm>
            <a:off x="1331913" y="287338"/>
            <a:ext cx="7354887" cy="693390"/>
          </a:xfrm>
        </p:spPr>
        <p:txBody>
          <a:bodyPr wrap="square" anchor="ctr">
            <a:normAutofit/>
          </a:bodyPr>
          <a:lstStyle/>
          <a:p>
            <a:r>
              <a:rPr lang="en-US" dirty="0"/>
              <a:t>KHỐI UART MODULE</a:t>
            </a:r>
          </a:p>
        </p:txBody>
      </p:sp>
      <p:pic>
        <p:nvPicPr>
          <p:cNvPr id="8" name="Content Placeholder 7">
            <a:extLst>
              <a:ext uri="{FF2B5EF4-FFF2-40B4-BE49-F238E27FC236}">
                <a16:creationId xmlns:a16="http://schemas.microsoft.com/office/drawing/2014/main" id="{CBE71B84-AFFE-BE94-8F78-CAFCDF851129}"/>
              </a:ext>
            </a:extLst>
          </p:cNvPr>
          <p:cNvPicPr>
            <a:picLocks noGrp="1" noChangeAspect="1"/>
          </p:cNvPicPr>
          <p:nvPr>
            <p:ph idx="1"/>
          </p:nvPr>
        </p:nvPicPr>
        <p:blipFill>
          <a:blip r:embed="rId2"/>
          <a:stretch>
            <a:fillRect/>
          </a:stretch>
        </p:blipFill>
        <p:spPr>
          <a:xfrm>
            <a:off x="251520" y="2291273"/>
            <a:ext cx="8640960" cy="3067541"/>
          </a:xfrm>
          <a:prstGeom prst="rect">
            <a:avLst/>
          </a:prstGeom>
          <a:noFill/>
        </p:spPr>
      </p:pic>
      <p:sp>
        <p:nvSpPr>
          <p:cNvPr id="4" name="Date Placeholder 3">
            <a:extLst>
              <a:ext uri="{FF2B5EF4-FFF2-40B4-BE49-F238E27FC236}">
                <a16:creationId xmlns:a16="http://schemas.microsoft.com/office/drawing/2014/main" id="{130935D5-839A-90CE-CC7B-5EB853F39343}"/>
              </a:ext>
            </a:extLst>
          </p:cNvPr>
          <p:cNvSpPr>
            <a:spLocks noGrp="1"/>
          </p:cNvSpPr>
          <p:nvPr>
            <p:ph type="dt" sz="half" idx="10"/>
          </p:nvPr>
        </p:nvSpPr>
        <p:spPr>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5/21/2026</a:t>
            </a:fld>
            <a:endParaRPr kumimoji="1" lang="ja-JP" altLang="en-US"/>
          </a:p>
        </p:txBody>
      </p:sp>
      <p:sp>
        <p:nvSpPr>
          <p:cNvPr id="5" name="Slide Number Placeholder 4">
            <a:extLst>
              <a:ext uri="{FF2B5EF4-FFF2-40B4-BE49-F238E27FC236}">
                <a16:creationId xmlns:a16="http://schemas.microsoft.com/office/drawing/2014/main" id="{9E5F3CFB-1E2C-77BD-CD73-6D199A2F1C45}"/>
              </a:ext>
            </a:extLst>
          </p:cNvPr>
          <p:cNvSpPr>
            <a:spLocks noGrp="1"/>
          </p:cNvSpPr>
          <p:nvPr>
            <p:ph type="sldNum" sz="quarter" idx="12"/>
          </p:nvPr>
        </p:nvSpPr>
        <p:spPr>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9</a:t>
            </a:fld>
            <a:endParaRPr kumimoji="1" lang="ja-JP" altLang="en-US"/>
          </a:p>
        </p:txBody>
      </p:sp>
      <p:sp>
        <p:nvSpPr>
          <p:cNvPr id="7" name="Footer Placeholder 6">
            <a:extLst>
              <a:ext uri="{FF2B5EF4-FFF2-40B4-BE49-F238E27FC236}">
                <a16:creationId xmlns:a16="http://schemas.microsoft.com/office/drawing/2014/main" id="{6B1E9D3B-7A93-E917-45E4-2BFABC4B94B2}"/>
              </a:ext>
            </a:extLst>
          </p:cNvPr>
          <p:cNvSpPr>
            <a:spLocks noGrp="1"/>
          </p:cNvSpPr>
          <p:nvPr>
            <p:ph type="ftr" sz="quarter" idx="11"/>
          </p:nvPr>
        </p:nvSpPr>
        <p:spPr>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spTree>
    <p:extLst>
      <p:ext uri="{BB962C8B-B14F-4D97-AF65-F5344CB8AC3E}">
        <p14:creationId xmlns:p14="http://schemas.microsoft.com/office/powerpoint/2010/main" val="442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DEE05-B351-997B-C6FB-3C8F40A05C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72A179-5B17-51F1-76B4-E07117DFF00E}"/>
              </a:ext>
            </a:extLst>
          </p:cNvPr>
          <p:cNvSpPr>
            <a:spLocks noGrp="1"/>
          </p:cNvSpPr>
          <p:nvPr>
            <p:ph type="title"/>
          </p:nvPr>
        </p:nvSpPr>
        <p:spPr>
          <a:xfrm>
            <a:off x="1331913" y="287338"/>
            <a:ext cx="7354887" cy="693390"/>
          </a:xfrm>
        </p:spPr>
        <p:txBody>
          <a:bodyPr vert="horz" wrap="square" lIns="91440" tIns="45720" rIns="91440" bIns="45720" numCol="1" anchor="ctr" anchorCtr="0" compatLnSpc="1">
            <a:prstTxWarp prst="textNoShape">
              <a:avLst/>
            </a:prstTxWarp>
            <a:normAutofit/>
          </a:bodyPr>
          <a:lstStyle/>
          <a:p>
            <a:r>
              <a:rPr lang="en-US" dirty="0"/>
              <a:t>KHỐI UART MODULE</a:t>
            </a:r>
          </a:p>
        </p:txBody>
      </p:sp>
      <p:pic>
        <p:nvPicPr>
          <p:cNvPr id="3" name="Picture 2">
            <a:extLst>
              <a:ext uri="{FF2B5EF4-FFF2-40B4-BE49-F238E27FC236}">
                <a16:creationId xmlns:a16="http://schemas.microsoft.com/office/drawing/2014/main" id="{62E050C4-137D-7A00-464B-4C993CB44C0C}"/>
              </a:ext>
            </a:extLst>
          </p:cNvPr>
          <p:cNvPicPr>
            <a:picLocks noChangeAspect="1"/>
          </p:cNvPicPr>
          <p:nvPr/>
        </p:nvPicPr>
        <p:blipFill>
          <a:blip r:embed="rId3"/>
          <a:srcRect l="10481" r="5862" b="-2"/>
          <a:stretch>
            <a:fillRect/>
          </a:stretch>
        </p:blipFill>
        <p:spPr>
          <a:xfrm>
            <a:off x="468313" y="1628775"/>
            <a:ext cx="4038600" cy="4525963"/>
          </a:xfrm>
          <a:prstGeom prst="rect">
            <a:avLst/>
          </a:prstGeom>
          <a:noFill/>
        </p:spPr>
      </p:pic>
      <p:sp>
        <p:nvSpPr>
          <p:cNvPr id="4" name="Date Placeholder 3">
            <a:extLst>
              <a:ext uri="{FF2B5EF4-FFF2-40B4-BE49-F238E27FC236}">
                <a16:creationId xmlns:a16="http://schemas.microsoft.com/office/drawing/2014/main" id="{C4B1B28D-70E6-F3A7-E612-6B27C9CA8BFD}"/>
              </a:ext>
            </a:extLst>
          </p:cNvPr>
          <p:cNvSpPr>
            <a:spLocks noGrp="1"/>
          </p:cNvSpPr>
          <p:nvPr>
            <p:ph type="dt" sz="half" idx="10"/>
          </p:nvPr>
        </p:nvSpPr>
        <p:spPr>
          <a:xfrm>
            <a:off x="251520" y="6525344"/>
            <a:ext cx="2133600" cy="288206"/>
          </a:xfrm>
        </p:spPr>
        <p:txBody>
          <a:bodyPr vert="horz" wrap="square" lIns="91440" tIns="45720" rIns="91440" bIns="45720" numCol="1" anchor="t" anchorCtr="0" compatLnSpc="1">
            <a:prstTxWarp prst="textNoShape">
              <a:avLst/>
            </a:prstTxWarp>
            <a:normAutofit/>
          </a:bodyPr>
          <a:lstStyle/>
          <a:p>
            <a:pPr>
              <a:spcAft>
                <a:spcPts val="600"/>
              </a:spcAft>
            </a:pPr>
            <a:fld id="{BA136E8E-48A6-4CCA-8C49-35959C36CF6D}" type="datetime1">
              <a:rPr lang="en-US" altLang="ja-JP" smtClean="0"/>
              <a:pPr>
                <a:spcAft>
                  <a:spcPts val="600"/>
                </a:spcAft>
              </a:pPr>
              <a:t>5/21/2026</a:t>
            </a:fld>
            <a:endParaRPr lang="ja-JP" altLang="en-US"/>
          </a:p>
        </p:txBody>
      </p:sp>
      <p:sp>
        <p:nvSpPr>
          <p:cNvPr id="5" name="Slide Number Placeholder 4">
            <a:extLst>
              <a:ext uri="{FF2B5EF4-FFF2-40B4-BE49-F238E27FC236}">
                <a16:creationId xmlns:a16="http://schemas.microsoft.com/office/drawing/2014/main" id="{6B78A2E0-1F4B-4CF9-28AD-0BF4B453825F}"/>
              </a:ext>
            </a:extLst>
          </p:cNvPr>
          <p:cNvSpPr>
            <a:spLocks noGrp="1"/>
          </p:cNvSpPr>
          <p:nvPr>
            <p:ph type="sldNum" sz="quarter" idx="12"/>
          </p:nvPr>
        </p:nvSpPr>
        <p:spPr>
          <a:xfrm>
            <a:off x="7139880" y="6524625"/>
            <a:ext cx="1752600" cy="288925"/>
          </a:xfrm>
        </p:spPr>
        <p:txBody>
          <a:bodyPr vert="horz" wrap="square" lIns="91440" tIns="45720" rIns="91440" bIns="45720" numCol="1" anchor="t" anchorCtr="0" compatLnSpc="1">
            <a:prstTxWarp prst="textNoShape">
              <a:avLst/>
            </a:prstTxWarp>
            <a:normAutofit/>
          </a:bodyPr>
          <a:lstStyle/>
          <a:p>
            <a:pPr>
              <a:spcAft>
                <a:spcPts val="600"/>
              </a:spcAft>
            </a:pPr>
            <a:fld id="{800C8475-47C1-49C9-BEE5-594F8CF4D71F}" type="slidenum">
              <a:rPr lang="ja-JP" altLang="en-US" smtClean="0"/>
              <a:pPr>
                <a:spcAft>
                  <a:spcPts val="600"/>
                </a:spcAft>
              </a:pPr>
              <a:t>10</a:t>
            </a:fld>
            <a:endParaRPr lang="ja-JP" altLang="en-US"/>
          </a:p>
        </p:txBody>
      </p:sp>
      <p:sp>
        <p:nvSpPr>
          <p:cNvPr id="11" name="TextBox 10">
            <a:extLst>
              <a:ext uri="{FF2B5EF4-FFF2-40B4-BE49-F238E27FC236}">
                <a16:creationId xmlns:a16="http://schemas.microsoft.com/office/drawing/2014/main" id="{EB00670B-9481-F839-5FD8-48CE2B9E2EB1}"/>
              </a:ext>
            </a:extLst>
          </p:cNvPr>
          <p:cNvSpPr txBox="1"/>
          <p:nvPr/>
        </p:nvSpPr>
        <p:spPr bwMode="auto">
          <a:xfrm>
            <a:off x="4709864" y="1628800"/>
            <a:ext cx="4038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rmAutofit/>
          </a:bodyPr>
          <a:lstStyle/>
          <a:p>
            <a:pPr marL="342900" indent="-342900" algn="just" fontAlgn="base">
              <a:lnSpc>
                <a:spcPct val="90000"/>
              </a:lnSpc>
              <a:spcBef>
                <a:spcPct val="20000"/>
              </a:spcBef>
              <a:spcAft>
                <a:spcPct val="0"/>
              </a:spcAft>
              <a:buClr>
                <a:srgbClr val="003399"/>
              </a:buClr>
              <a:buFont typeface="Wingdings" pitchFamily="2" charset="2"/>
              <a:buChar char="n"/>
            </a:pPr>
            <a:r>
              <a:rPr lang="en-US" b="1" i="0" u="none" strike="noStrike" dirty="0">
                <a:effectLst/>
                <a:latin typeface="Times New Roman" pitchFamily="18" charset="0"/>
                <a:cs typeface="Times New Roman" pitchFamily="18" charset="0"/>
              </a:rPr>
              <a:t>IDLE (</a:t>
            </a:r>
            <a:r>
              <a:rPr lang="en-US" b="1" i="0" u="none" strike="noStrike" dirty="0" err="1">
                <a:effectLst/>
                <a:latin typeface="Times New Roman" pitchFamily="18" charset="0"/>
                <a:cs typeface="Times New Roman" pitchFamily="18" charset="0"/>
              </a:rPr>
              <a:t>Trạng</a:t>
            </a:r>
            <a:r>
              <a:rPr lang="en-US" b="1" i="0" u="none" strike="noStrike" dirty="0">
                <a:effectLst/>
                <a:latin typeface="Times New Roman" pitchFamily="18" charset="0"/>
                <a:cs typeface="Times New Roman" pitchFamily="18" charset="0"/>
              </a:rPr>
              <a:t> </a:t>
            </a:r>
            <a:r>
              <a:rPr lang="en-US" b="1" i="0" u="none" strike="noStrike" dirty="0" err="1">
                <a:effectLst/>
                <a:latin typeface="Times New Roman" pitchFamily="18" charset="0"/>
                <a:cs typeface="Times New Roman" pitchFamily="18" charset="0"/>
              </a:rPr>
              <a:t>thái</a:t>
            </a:r>
            <a:r>
              <a:rPr lang="en-US" b="1" i="0" u="none" strike="noStrike" dirty="0">
                <a:effectLst/>
                <a:latin typeface="Times New Roman" pitchFamily="18" charset="0"/>
                <a:cs typeface="Times New Roman" pitchFamily="18" charset="0"/>
              </a:rPr>
              <a:t> </a:t>
            </a:r>
            <a:r>
              <a:rPr lang="en-US" b="1" i="0" u="none" strike="noStrike" dirty="0" err="1">
                <a:effectLst/>
                <a:latin typeface="Times New Roman" pitchFamily="18" charset="0"/>
                <a:cs typeface="Times New Roman" pitchFamily="18" charset="0"/>
              </a:rPr>
              <a:t>chờ</a:t>
            </a:r>
            <a:r>
              <a:rPr lang="en-US" b="1" i="0" u="none" strike="noStrike" dirty="0">
                <a:effectLst/>
                <a:latin typeface="Times New Roman" pitchFamily="18" charset="0"/>
                <a:cs typeface="Times New Roman" pitchFamily="18" charset="0"/>
              </a:rPr>
              <a:t>):</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Kiểm</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tra</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liên</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tục</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chân</a:t>
            </a:r>
            <a:r>
              <a:rPr lang="en-US" b="0" i="0" u="none" strike="noStrike" dirty="0">
                <a:effectLst/>
                <a:latin typeface="Times New Roman" pitchFamily="18" charset="0"/>
                <a:cs typeface="Times New Roman" pitchFamily="18" charset="0"/>
              </a:rPr>
              <a:t> RX, </a:t>
            </a:r>
            <a:r>
              <a:rPr lang="en-US" b="0" i="0" u="none" strike="noStrike" dirty="0" err="1">
                <a:effectLst/>
                <a:latin typeface="Times New Roman" pitchFamily="18" charset="0"/>
                <a:cs typeface="Times New Roman" pitchFamily="18" charset="0"/>
              </a:rPr>
              <a:t>chờ</a:t>
            </a:r>
            <a:r>
              <a:rPr lang="en-US" b="0" i="0" u="none" strike="noStrike" dirty="0">
                <a:effectLst/>
                <a:latin typeface="Times New Roman" pitchFamily="18" charset="0"/>
                <a:cs typeface="Times New Roman" pitchFamily="18" charset="0"/>
              </a:rPr>
              <a:t> start-bit, </a:t>
            </a:r>
            <a:r>
              <a:rPr lang="en-US" b="0" i="0" u="none" strike="noStrike" dirty="0" err="1">
                <a:effectLst/>
                <a:latin typeface="Times New Roman" pitchFamily="18" charset="0"/>
                <a:cs typeface="Times New Roman" pitchFamily="18" charset="0"/>
              </a:rPr>
              <a:t>mặc</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định</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trạng</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thái</a:t>
            </a:r>
            <a:r>
              <a:rPr lang="en-US" b="0" i="0" u="none" strike="noStrike" dirty="0">
                <a:effectLst/>
                <a:latin typeface="Times New Roman" pitchFamily="18" charset="0"/>
                <a:cs typeface="Times New Roman" pitchFamily="18" charset="0"/>
              </a:rPr>
              <a:t> ban </a:t>
            </a:r>
            <a:r>
              <a:rPr lang="en-US" b="0" i="0" u="none" strike="noStrike" dirty="0" err="1">
                <a:effectLst/>
                <a:latin typeface="Times New Roman" pitchFamily="18" charset="0"/>
                <a:cs typeface="Times New Roman" pitchFamily="18" charset="0"/>
              </a:rPr>
              <a:t>đầu</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luôn</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hoặc</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sau</a:t>
            </a:r>
            <a:r>
              <a:rPr lang="en-US" b="0" i="0" u="none" strike="noStrike" dirty="0">
                <a:effectLst/>
                <a:latin typeface="Times New Roman" pitchFamily="18" charset="0"/>
                <a:cs typeface="Times New Roman" pitchFamily="18" charset="0"/>
              </a:rPr>
              <a:t> reset </a:t>
            </a:r>
            <a:r>
              <a:rPr lang="en-US" b="0" i="0" u="none" strike="noStrike" dirty="0" err="1">
                <a:effectLst/>
                <a:latin typeface="Times New Roman" pitchFamily="18" charset="0"/>
                <a:cs typeface="Times New Roman" pitchFamily="18" charset="0"/>
              </a:rPr>
              <a:t>luôn</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là</a:t>
            </a:r>
            <a:r>
              <a:rPr lang="en-US" b="0" i="0" u="none" strike="noStrike" dirty="0">
                <a:effectLst/>
                <a:latin typeface="Times New Roman" pitchFamily="18" charset="0"/>
                <a:cs typeface="Times New Roman" pitchFamily="18" charset="0"/>
              </a:rPr>
              <a:t> IDLE.</a:t>
            </a:r>
          </a:p>
          <a:p>
            <a:pPr marL="342900" indent="-342900" algn="just" fontAlgn="base">
              <a:lnSpc>
                <a:spcPct val="90000"/>
              </a:lnSpc>
              <a:spcBef>
                <a:spcPct val="20000"/>
              </a:spcBef>
              <a:spcAft>
                <a:spcPct val="0"/>
              </a:spcAft>
              <a:buClr>
                <a:srgbClr val="003399"/>
              </a:buClr>
              <a:buFont typeface="Wingdings" pitchFamily="2" charset="2"/>
              <a:buChar char="n"/>
            </a:pPr>
            <a:r>
              <a:rPr lang="en-US" b="1" i="0" u="none" strike="noStrike" dirty="0">
                <a:effectLst/>
                <a:latin typeface="Times New Roman" pitchFamily="18" charset="0"/>
                <a:cs typeface="Times New Roman" pitchFamily="18" charset="0"/>
              </a:rPr>
              <a:t>START (</a:t>
            </a:r>
            <a:r>
              <a:rPr lang="en-US" b="1" i="0" u="none" strike="noStrike" dirty="0" err="1">
                <a:effectLst/>
                <a:latin typeface="Times New Roman" pitchFamily="18" charset="0"/>
                <a:cs typeface="Times New Roman" pitchFamily="18" charset="0"/>
              </a:rPr>
              <a:t>Xác</a:t>
            </a:r>
            <a:r>
              <a:rPr lang="en-US" b="1" i="0" u="none" strike="noStrike" dirty="0">
                <a:effectLst/>
                <a:latin typeface="Times New Roman" pitchFamily="18" charset="0"/>
                <a:cs typeface="Times New Roman" pitchFamily="18" charset="0"/>
              </a:rPr>
              <a:t> </a:t>
            </a:r>
            <a:r>
              <a:rPr lang="en-US" b="1" i="0" u="none" strike="noStrike" dirty="0" err="1">
                <a:effectLst/>
                <a:latin typeface="Times New Roman" pitchFamily="18" charset="0"/>
                <a:cs typeface="Times New Roman" pitchFamily="18" charset="0"/>
              </a:rPr>
              <a:t>nhận</a:t>
            </a:r>
            <a:r>
              <a:rPr lang="en-US" b="1" i="0" u="none" strike="noStrike" dirty="0">
                <a:effectLst/>
                <a:latin typeface="Times New Roman" pitchFamily="18" charset="0"/>
                <a:cs typeface="Times New Roman" pitchFamily="18" charset="0"/>
              </a:rPr>
              <a:t> Start Bit):</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xác</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nhận</a:t>
            </a:r>
            <a:r>
              <a:rPr lang="en-US" b="0" i="0" u="none" strike="noStrike" dirty="0">
                <a:effectLst/>
                <a:latin typeface="Times New Roman" pitchFamily="18" charset="0"/>
                <a:cs typeface="Times New Roman" pitchFamily="18" charset="0"/>
              </a:rPr>
              <a:t> start-bit </a:t>
            </a:r>
            <a:r>
              <a:rPr lang="en-US" b="0" i="0" u="none" strike="noStrike" dirty="0" err="1">
                <a:effectLst/>
                <a:latin typeface="Times New Roman" pitchFamily="18" charset="0"/>
                <a:cs typeface="Times New Roman" pitchFamily="18" charset="0"/>
              </a:rPr>
              <a:t>và</a:t>
            </a:r>
            <a:r>
              <a:rPr lang="en-US" b="0" i="0" u="none" strike="noStrike" dirty="0">
                <a:effectLst/>
                <a:latin typeface="Times New Roman" pitchFamily="18" charset="0"/>
                <a:cs typeface="Times New Roman" pitchFamily="18" charset="0"/>
              </a:rPr>
              <a:t> reset </a:t>
            </a:r>
            <a:r>
              <a:rPr lang="en-US" b="0" i="0" u="none" strike="noStrike" dirty="0" err="1">
                <a:effectLst/>
                <a:latin typeface="Times New Roman" pitchFamily="18" charset="0"/>
                <a:cs typeface="Times New Roman" pitchFamily="18" charset="0"/>
              </a:rPr>
              <a:t>lại</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biến</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đếm</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để</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nhận</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giá</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trị</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từ</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giữa</a:t>
            </a:r>
            <a:r>
              <a:rPr lang="en-US" b="0" i="0" u="none" strike="noStrike" dirty="0">
                <a:effectLst/>
                <a:latin typeface="Times New Roman" pitchFamily="18" charset="0"/>
                <a:cs typeface="Times New Roman" pitchFamily="18" charset="0"/>
              </a:rPr>
              <a:t> chu </a:t>
            </a:r>
            <a:r>
              <a:rPr lang="en-US" b="0" i="0" u="none" strike="noStrike" dirty="0" err="1">
                <a:effectLst/>
                <a:latin typeface="Times New Roman" pitchFamily="18" charset="0"/>
                <a:cs typeface="Times New Roman" pitchFamily="18" charset="0"/>
              </a:rPr>
              <a:t>kì</a:t>
            </a:r>
            <a:r>
              <a:rPr lang="en-US" b="0" i="0" u="none" strike="noStrike" dirty="0">
                <a:effectLst/>
                <a:latin typeface="Times New Roman" pitchFamily="18" charset="0"/>
                <a:cs typeface="Times New Roman" pitchFamily="18" charset="0"/>
              </a:rPr>
              <a:t>.</a:t>
            </a:r>
          </a:p>
          <a:p>
            <a:pPr marL="342900" indent="-342900" algn="just" fontAlgn="base">
              <a:lnSpc>
                <a:spcPct val="90000"/>
              </a:lnSpc>
              <a:spcBef>
                <a:spcPct val="20000"/>
              </a:spcBef>
              <a:spcAft>
                <a:spcPct val="0"/>
              </a:spcAft>
              <a:buClr>
                <a:srgbClr val="003399"/>
              </a:buClr>
              <a:buFont typeface="Wingdings" pitchFamily="2" charset="2"/>
              <a:buChar char="n"/>
            </a:pPr>
            <a:r>
              <a:rPr lang="en-US" b="1" i="0" u="none" strike="noStrike" dirty="0">
                <a:effectLst/>
                <a:latin typeface="Times New Roman" pitchFamily="18" charset="0"/>
                <a:cs typeface="Times New Roman" pitchFamily="18" charset="0"/>
              </a:rPr>
              <a:t>TRANM (</a:t>
            </a:r>
            <a:r>
              <a:rPr lang="en-US" b="1" i="0" u="none" strike="noStrike" dirty="0" err="1">
                <a:effectLst/>
                <a:latin typeface="Times New Roman" pitchFamily="18" charset="0"/>
                <a:cs typeface="Times New Roman" pitchFamily="18" charset="0"/>
              </a:rPr>
              <a:t>Nhận</a:t>
            </a:r>
            <a:r>
              <a:rPr lang="en-US" b="1" i="0" u="none" strike="noStrike" dirty="0">
                <a:effectLst/>
                <a:latin typeface="Times New Roman" pitchFamily="18" charset="0"/>
                <a:cs typeface="Times New Roman" pitchFamily="18" charset="0"/>
              </a:rPr>
              <a:t> </a:t>
            </a:r>
            <a:r>
              <a:rPr lang="en-US" b="1" i="0" u="none" strike="noStrike" dirty="0" err="1">
                <a:effectLst/>
                <a:latin typeface="Times New Roman" pitchFamily="18" charset="0"/>
                <a:cs typeface="Times New Roman" pitchFamily="18" charset="0"/>
              </a:rPr>
              <a:t>dữ</a:t>
            </a:r>
            <a:r>
              <a:rPr lang="en-US" b="1" i="0" u="none" strike="noStrike" dirty="0">
                <a:effectLst/>
                <a:latin typeface="Times New Roman" pitchFamily="18" charset="0"/>
                <a:cs typeface="Times New Roman" pitchFamily="18" charset="0"/>
              </a:rPr>
              <a:t> </a:t>
            </a:r>
            <a:r>
              <a:rPr lang="en-US" b="1" i="0" u="none" strike="noStrike" dirty="0" err="1">
                <a:effectLst/>
                <a:latin typeface="Times New Roman" pitchFamily="18" charset="0"/>
                <a:cs typeface="Times New Roman" pitchFamily="18" charset="0"/>
              </a:rPr>
              <a:t>liệu</a:t>
            </a:r>
            <a:r>
              <a:rPr lang="en-US" b="1" i="0" u="none" strike="noStrike" dirty="0">
                <a:effectLst/>
                <a:latin typeface="Times New Roman" pitchFamily="18" charset="0"/>
                <a:cs typeface="Times New Roman" pitchFamily="18" charset="0"/>
              </a:rPr>
              <a:t>):</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Nhận</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tuần</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tự</a:t>
            </a:r>
            <a:r>
              <a:rPr lang="en-US" b="0" i="0" u="none" strike="noStrike" dirty="0">
                <a:effectLst/>
                <a:latin typeface="Times New Roman" pitchFamily="18" charset="0"/>
                <a:cs typeface="Times New Roman" pitchFamily="18" charset="0"/>
              </a:rPr>
              <a:t> 8 bit </a:t>
            </a:r>
            <a:r>
              <a:rPr lang="en-US" b="0" i="0" u="none" strike="noStrike" dirty="0" err="1">
                <a:effectLst/>
                <a:latin typeface="Times New Roman" pitchFamily="18" charset="0"/>
                <a:cs typeface="Times New Roman" pitchFamily="18" charset="0"/>
              </a:rPr>
              <a:t>dữ</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liệu</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Tại</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mỗi</a:t>
            </a:r>
            <a:r>
              <a:rPr lang="en-US" b="0" i="0" u="none" strike="noStrike" dirty="0">
                <a:effectLst/>
                <a:latin typeface="Times New Roman" pitchFamily="18" charset="0"/>
                <a:cs typeface="Times New Roman" pitchFamily="18" charset="0"/>
              </a:rPr>
              <a:t> bit, </a:t>
            </a:r>
            <a:r>
              <a:rPr lang="en-US" b="0" i="0" u="none" strike="noStrike" dirty="0" err="1">
                <a:effectLst/>
                <a:latin typeface="Times New Roman" pitchFamily="18" charset="0"/>
                <a:cs typeface="Times New Roman" pitchFamily="18" charset="0"/>
              </a:rPr>
              <a:t>lưu</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giá</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trị</a:t>
            </a:r>
            <a:r>
              <a:rPr lang="en-US" b="0" i="0" u="none" strike="noStrike" dirty="0">
                <a:effectLst/>
                <a:latin typeface="Times New Roman" pitchFamily="18" charset="0"/>
                <a:cs typeface="Times New Roman" pitchFamily="18" charset="0"/>
              </a:rPr>
              <a:t> bit </a:t>
            </a:r>
            <a:r>
              <a:rPr lang="en-US" b="0" i="0" u="none" strike="noStrike" dirty="0" err="1">
                <a:effectLst/>
                <a:latin typeface="Times New Roman" pitchFamily="18" charset="0"/>
                <a:cs typeface="Times New Roman" pitchFamily="18" charset="0"/>
              </a:rPr>
              <a:t>được</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nhận</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vào</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thanh</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ghi</a:t>
            </a:r>
            <a:r>
              <a:rPr lang="en-US" b="0" i="0" u="none" strike="noStrike" dirty="0">
                <a:effectLst/>
                <a:latin typeface="Times New Roman" pitchFamily="18" charset="0"/>
                <a:cs typeface="Times New Roman" pitchFamily="18" charset="0"/>
              </a:rPr>
              <a:t> 8-bit.</a:t>
            </a:r>
          </a:p>
          <a:p>
            <a:pPr marL="342900" indent="-342900" algn="just" fontAlgn="base">
              <a:lnSpc>
                <a:spcPct val="90000"/>
              </a:lnSpc>
              <a:spcBef>
                <a:spcPct val="20000"/>
              </a:spcBef>
              <a:spcAft>
                <a:spcPct val="0"/>
              </a:spcAft>
              <a:buClr>
                <a:srgbClr val="003399"/>
              </a:buClr>
              <a:buFont typeface="Wingdings" pitchFamily="2" charset="2"/>
              <a:buChar char="n"/>
            </a:pPr>
            <a:r>
              <a:rPr lang="en-US" b="1" i="0" u="none" strike="noStrike" dirty="0">
                <a:effectLst/>
                <a:latin typeface="Times New Roman" pitchFamily="18" charset="0"/>
                <a:cs typeface="Times New Roman" pitchFamily="18" charset="0"/>
              </a:rPr>
              <a:t>STOP (</a:t>
            </a:r>
            <a:r>
              <a:rPr lang="en-US" b="1" i="0" u="none" strike="noStrike" dirty="0" err="1">
                <a:effectLst/>
                <a:latin typeface="Times New Roman" pitchFamily="18" charset="0"/>
                <a:cs typeface="Times New Roman" pitchFamily="18" charset="0"/>
              </a:rPr>
              <a:t>Kết</a:t>
            </a:r>
            <a:r>
              <a:rPr lang="en-US" b="1" i="0" u="none" strike="noStrike" dirty="0">
                <a:effectLst/>
                <a:latin typeface="Times New Roman" pitchFamily="18" charset="0"/>
                <a:cs typeface="Times New Roman" pitchFamily="18" charset="0"/>
              </a:rPr>
              <a:t> </a:t>
            </a:r>
            <a:r>
              <a:rPr lang="en-US" b="1" i="0" u="none" strike="noStrike" dirty="0" err="1">
                <a:effectLst/>
                <a:latin typeface="Times New Roman" pitchFamily="18" charset="0"/>
                <a:cs typeface="Times New Roman" pitchFamily="18" charset="0"/>
              </a:rPr>
              <a:t>thúc</a:t>
            </a:r>
            <a:r>
              <a:rPr lang="en-US" b="1" i="0" u="none" strike="noStrike" dirty="0">
                <a:effectLst/>
                <a:latin typeface="Times New Roman" pitchFamily="18" charset="0"/>
                <a:cs typeface="Times New Roman" pitchFamily="18" charset="0"/>
              </a:rPr>
              <a:t>):</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Kiểm</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tra</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đã</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lưu</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đủ</a:t>
            </a:r>
            <a:r>
              <a:rPr lang="en-US" b="0" i="0" u="none" strike="noStrike" dirty="0">
                <a:effectLst/>
                <a:latin typeface="Times New Roman" pitchFamily="18" charset="0"/>
                <a:cs typeface="Times New Roman" pitchFamily="18" charset="0"/>
              </a:rPr>
              <a:t> 8bit. Sau </a:t>
            </a:r>
            <a:r>
              <a:rPr lang="en-US" b="0" i="0" u="none" strike="noStrike" dirty="0" err="1">
                <a:effectLst/>
                <a:latin typeface="Times New Roman" pitchFamily="18" charset="0"/>
                <a:cs typeface="Times New Roman" pitchFamily="18" charset="0"/>
              </a:rPr>
              <a:t>khi</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hoàn</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tất</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hệ</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thống</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kích</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hoạt</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tín</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hiệu</a:t>
            </a:r>
            <a:r>
              <a:rPr lang="en-US" b="0" i="0" u="none" strike="noStrike" dirty="0">
                <a:effectLst/>
                <a:latin typeface="Times New Roman" pitchFamily="18" charset="0"/>
                <a:cs typeface="Times New Roman" pitchFamily="18" charset="0"/>
              </a:rPr>
              <a:t> finish </a:t>
            </a:r>
            <a:r>
              <a:rPr lang="en-US" b="0" i="0" u="none" strike="noStrike" dirty="0" err="1">
                <a:effectLst/>
                <a:latin typeface="Times New Roman" pitchFamily="18" charset="0"/>
                <a:cs typeface="Times New Roman" pitchFamily="18" charset="0"/>
              </a:rPr>
              <a:t>trong</a:t>
            </a:r>
            <a:r>
              <a:rPr lang="en-US" b="0" i="0" u="none" strike="noStrike" dirty="0">
                <a:effectLst/>
                <a:latin typeface="Times New Roman" pitchFamily="18" charset="0"/>
                <a:cs typeface="Times New Roman" pitchFamily="18" charset="0"/>
              </a:rPr>
              <a:t> 1 chu </a:t>
            </a:r>
            <a:r>
              <a:rPr lang="en-US" b="0" i="0" u="none" strike="noStrike" dirty="0" err="1">
                <a:effectLst/>
                <a:latin typeface="Times New Roman" pitchFamily="18" charset="0"/>
                <a:cs typeface="Times New Roman" pitchFamily="18" charset="0"/>
              </a:rPr>
              <a:t>kỳ</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xung</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nhịp</a:t>
            </a:r>
            <a:r>
              <a:rPr lang="en-US" b="0" i="0" u="none" strike="noStrike" dirty="0">
                <a:effectLst/>
                <a:latin typeface="Times New Roman" pitchFamily="18" charset="0"/>
                <a:cs typeface="Times New Roman" pitchFamily="18" charset="0"/>
              </a:rPr>
              <a:t> </a:t>
            </a:r>
            <a:r>
              <a:rPr lang="en-US" b="0" i="0" u="none" strike="noStrike" dirty="0" err="1">
                <a:effectLst/>
                <a:latin typeface="Times New Roman" pitchFamily="18" charset="0"/>
                <a:cs typeface="Times New Roman" pitchFamily="18" charset="0"/>
              </a:rPr>
              <a:t>và</a:t>
            </a:r>
            <a:r>
              <a:rPr lang="en-US" b="0" i="0" u="none" strike="noStrike" dirty="0">
                <a:effectLst/>
                <a:latin typeface="Times New Roman" pitchFamily="18" charset="0"/>
                <a:cs typeface="Times New Roman" pitchFamily="18" charset="0"/>
              </a:rPr>
              <a:t> quay </a:t>
            </a:r>
            <a:r>
              <a:rPr lang="en-US" b="0" i="0" u="none" strike="noStrike" dirty="0" err="1">
                <a:effectLst/>
                <a:latin typeface="Times New Roman" pitchFamily="18" charset="0"/>
                <a:cs typeface="Times New Roman" pitchFamily="18" charset="0"/>
              </a:rPr>
              <a:t>lại</a:t>
            </a:r>
            <a:r>
              <a:rPr lang="en-US" b="0" i="0" u="none" strike="noStrike" dirty="0">
                <a:effectLst/>
                <a:latin typeface="Times New Roman" pitchFamily="18" charset="0"/>
                <a:cs typeface="Times New Roman" pitchFamily="18" charset="0"/>
              </a:rPr>
              <a:t> IDL</a:t>
            </a:r>
            <a:endParaRPr lang="en-US" dirty="0">
              <a:latin typeface="Times New Roman" pitchFamily="18" charset="0"/>
              <a:cs typeface="Times New Roman" pitchFamily="18" charset="0"/>
            </a:endParaRPr>
          </a:p>
        </p:txBody>
      </p:sp>
      <p:sp>
        <p:nvSpPr>
          <p:cNvPr id="7" name="Footer Placeholder 6">
            <a:extLst>
              <a:ext uri="{FF2B5EF4-FFF2-40B4-BE49-F238E27FC236}">
                <a16:creationId xmlns:a16="http://schemas.microsoft.com/office/drawing/2014/main" id="{1F7310E3-9850-FD6D-B8D4-7DF9AFD1F800}"/>
              </a:ext>
            </a:extLst>
          </p:cNvPr>
          <p:cNvSpPr>
            <a:spLocks noGrp="1"/>
          </p:cNvSpPr>
          <p:nvPr>
            <p:ph type="ftr" sz="quarter" idx="11"/>
          </p:nvPr>
        </p:nvSpPr>
        <p:spPr>
          <a:xfrm>
            <a:off x="1762101" y="6524625"/>
            <a:ext cx="5618212" cy="288925"/>
          </a:xfrm>
        </p:spPr>
        <p:txBody>
          <a:bodyPr vert="horz" wrap="square" lIns="91440" tIns="45720" rIns="91440" bIns="45720" numCol="1" anchor="t" anchorCtr="0" compatLnSpc="1">
            <a:prstTxWarp prst="textNoShape">
              <a:avLst/>
            </a:prstTxWarp>
            <a:normAutofit/>
          </a:bodyPr>
          <a:lstStyle/>
          <a:p>
            <a:pPr>
              <a:spcAft>
                <a:spcPts val="600"/>
              </a:spcAft>
            </a:pPr>
            <a:r>
              <a:rPr kumimoji="1" lang="en-US" altLang="ja-JP"/>
              <a:t>Copyrights 2020 CE-UIT . All Rights Reserved.</a:t>
            </a:r>
            <a:endParaRPr kumimoji="1" lang="ja-JP" altLang="en-US"/>
          </a:p>
        </p:txBody>
      </p:sp>
    </p:spTree>
    <p:extLst>
      <p:ext uri="{BB962C8B-B14F-4D97-AF65-F5344CB8AC3E}">
        <p14:creationId xmlns:p14="http://schemas.microsoft.com/office/powerpoint/2010/main" val="3387650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67BBA-7107-B65E-EC63-C8A91A8C01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B38F0B-7BB4-FAB5-7CDF-93E11F503012}"/>
              </a:ext>
            </a:extLst>
          </p:cNvPr>
          <p:cNvSpPr>
            <a:spLocks noGrp="1"/>
          </p:cNvSpPr>
          <p:nvPr>
            <p:ph type="title"/>
          </p:nvPr>
        </p:nvSpPr>
        <p:spPr>
          <a:xfrm>
            <a:off x="1331913" y="287338"/>
            <a:ext cx="7354887" cy="693390"/>
          </a:xfrm>
        </p:spPr>
        <p:txBody>
          <a:bodyPr wrap="square" anchor="ctr">
            <a:normAutofit/>
          </a:bodyPr>
          <a:lstStyle/>
          <a:p>
            <a:r>
              <a:rPr lang="en-US" dirty="0"/>
              <a:t>KHỐI UART MODULE</a:t>
            </a:r>
          </a:p>
        </p:txBody>
      </p:sp>
      <p:pic>
        <p:nvPicPr>
          <p:cNvPr id="8" name="Content Placeholder 7">
            <a:extLst>
              <a:ext uri="{FF2B5EF4-FFF2-40B4-BE49-F238E27FC236}">
                <a16:creationId xmlns:a16="http://schemas.microsoft.com/office/drawing/2014/main" id="{3BA1C1E8-6F89-D93F-5AEE-87E18E6DA036}"/>
              </a:ext>
            </a:extLst>
          </p:cNvPr>
          <p:cNvPicPr>
            <a:picLocks noGrp="1" noChangeAspect="1"/>
          </p:cNvPicPr>
          <p:nvPr>
            <p:ph idx="1"/>
          </p:nvPr>
        </p:nvPicPr>
        <p:blipFill>
          <a:blip r:embed="rId2"/>
          <a:stretch>
            <a:fillRect/>
          </a:stretch>
        </p:blipFill>
        <p:spPr>
          <a:xfrm>
            <a:off x="251520" y="2291273"/>
            <a:ext cx="8640960" cy="3067541"/>
          </a:xfrm>
          <a:prstGeom prst="rect">
            <a:avLst/>
          </a:prstGeom>
          <a:noFill/>
        </p:spPr>
      </p:pic>
      <p:sp>
        <p:nvSpPr>
          <p:cNvPr id="4" name="Date Placeholder 3">
            <a:extLst>
              <a:ext uri="{FF2B5EF4-FFF2-40B4-BE49-F238E27FC236}">
                <a16:creationId xmlns:a16="http://schemas.microsoft.com/office/drawing/2014/main" id="{90C0D8B4-71B2-14A3-2879-C4D77361395B}"/>
              </a:ext>
            </a:extLst>
          </p:cNvPr>
          <p:cNvSpPr>
            <a:spLocks noGrp="1"/>
          </p:cNvSpPr>
          <p:nvPr>
            <p:ph type="dt" sz="half" idx="10"/>
          </p:nvPr>
        </p:nvSpPr>
        <p:spPr>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5/21/2026</a:t>
            </a:fld>
            <a:endParaRPr kumimoji="1" lang="ja-JP" altLang="en-US"/>
          </a:p>
        </p:txBody>
      </p:sp>
      <p:sp>
        <p:nvSpPr>
          <p:cNvPr id="5" name="Slide Number Placeholder 4">
            <a:extLst>
              <a:ext uri="{FF2B5EF4-FFF2-40B4-BE49-F238E27FC236}">
                <a16:creationId xmlns:a16="http://schemas.microsoft.com/office/drawing/2014/main" id="{5D4CBCEE-1F27-93A5-2A61-4057E15874AB}"/>
              </a:ext>
            </a:extLst>
          </p:cNvPr>
          <p:cNvSpPr>
            <a:spLocks noGrp="1"/>
          </p:cNvSpPr>
          <p:nvPr>
            <p:ph type="sldNum" sz="quarter" idx="12"/>
          </p:nvPr>
        </p:nvSpPr>
        <p:spPr>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11</a:t>
            </a:fld>
            <a:endParaRPr kumimoji="1" lang="ja-JP" altLang="en-US"/>
          </a:p>
        </p:txBody>
      </p:sp>
      <p:sp>
        <p:nvSpPr>
          <p:cNvPr id="7" name="Footer Placeholder 6">
            <a:extLst>
              <a:ext uri="{FF2B5EF4-FFF2-40B4-BE49-F238E27FC236}">
                <a16:creationId xmlns:a16="http://schemas.microsoft.com/office/drawing/2014/main" id="{317D40CC-CA65-9C21-BC9B-480844B3C8F5}"/>
              </a:ext>
            </a:extLst>
          </p:cNvPr>
          <p:cNvSpPr>
            <a:spLocks noGrp="1"/>
          </p:cNvSpPr>
          <p:nvPr>
            <p:ph type="ftr" sz="quarter" idx="11"/>
          </p:nvPr>
        </p:nvSpPr>
        <p:spPr>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spTree>
    <p:extLst>
      <p:ext uri="{BB962C8B-B14F-4D97-AF65-F5344CB8AC3E}">
        <p14:creationId xmlns:p14="http://schemas.microsoft.com/office/powerpoint/2010/main" val="713861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C1F47123-CEA9-0438-1604-3A1C657FE5BC}"/>
              </a:ext>
            </a:extLst>
          </p:cNvPr>
          <p:cNvSpPr>
            <a:spLocks noGrp="1"/>
          </p:cNvSpPr>
          <p:nvPr>
            <p:ph type="title"/>
          </p:nvPr>
        </p:nvSpPr>
        <p:spPr>
          <a:xfrm>
            <a:off x="1331913" y="287338"/>
            <a:ext cx="7354887" cy="693390"/>
          </a:xfrm>
        </p:spPr>
        <p:txBody>
          <a:bodyPr/>
          <a:lstStyle/>
          <a:p>
            <a:r>
              <a:rPr lang="en-US" dirty="0"/>
              <a:t>KHỐI UART COMBINE</a:t>
            </a:r>
          </a:p>
        </p:txBody>
      </p:sp>
      <p:pic>
        <p:nvPicPr>
          <p:cNvPr id="8" name="Content Placeholder 7">
            <a:extLst>
              <a:ext uri="{FF2B5EF4-FFF2-40B4-BE49-F238E27FC236}">
                <a16:creationId xmlns:a16="http://schemas.microsoft.com/office/drawing/2014/main" id="{0A79E69A-C0D8-C43A-4B60-3F98396B73E5}"/>
              </a:ext>
            </a:extLst>
          </p:cNvPr>
          <p:cNvPicPr>
            <a:picLocks noGrp="1" noChangeAspect="1"/>
          </p:cNvPicPr>
          <p:nvPr>
            <p:ph idx="1"/>
          </p:nvPr>
        </p:nvPicPr>
        <p:blipFill>
          <a:blip r:embed="rId2"/>
          <a:stretch>
            <a:fillRect/>
          </a:stretch>
        </p:blipFill>
        <p:spPr>
          <a:xfrm>
            <a:off x="251520" y="2140057"/>
            <a:ext cx="8640960" cy="3369973"/>
          </a:xfrm>
          <a:prstGeom prst="rect">
            <a:avLst/>
          </a:prstGeom>
          <a:noFill/>
        </p:spPr>
      </p:pic>
      <p:sp>
        <p:nvSpPr>
          <p:cNvPr id="4" name="Date Placeholder 3">
            <a:extLst>
              <a:ext uri="{FF2B5EF4-FFF2-40B4-BE49-F238E27FC236}">
                <a16:creationId xmlns:a16="http://schemas.microsoft.com/office/drawing/2014/main" id="{18D00FCD-ECA8-4EA2-85E0-6B96DF820962}"/>
              </a:ext>
            </a:extLst>
          </p:cNvPr>
          <p:cNvSpPr>
            <a:spLocks noGrp="1"/>
          </p:cNvSpPr>
          <p:nvPr>
            <p:ph type="dt" sz="half" idx="10"/>
          </p:nvPr>
        </p:nvSpPr>
        <p:spPr>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5/21/2026</a:t>
            </a:fld>
            <a:endParaRPr kumimoji="1" lang="ja-JP" altLang="en-US"/>
          </a:p>
        </p:txBody>
      </p:sp>
      <p:sp>
        <p:nvSpPr>
          <p:cNvPr id="5" name="Slide Number Placeholder 4">
            <a:extLst>
              <a:ext uri="{FF2B5EF4-FFF2-40B4-BE49-F238E27FC236}">
                <a16:creationId xmlns:a16="http://schemas.microsoft.com/office/drawing/2014/main" id="{1786A433-DB03-4497-C9AB-9626E9F4EA30}"/>
              </a:ext>
            </a:extLst>
          </p:cNvPr>
          <p:cNvSpPr>
            <a:spLocks noGrp="1"/>
          </p:cNvSpPr>
          <p:nvPr>
            <p:ph type="sldNum" sz="quarter" idx="12"/>
          </p:nvPr>
        </p:nvSpPr>
        <p:spPr>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12</a:t>
            </a:fld>
            <a:endParaRPr kumimoji="1" lang="ja-JP" altLang="en-US"/>
          </a:p>
        </p:txBody>
      </p:sp>
      <p:sp>
        <p:nvSpPr>
          <p:cNvPr id="7" name="Footer Placeholder 6">
            <a:extLst>
              <a:ext uri="{FF2B5EF4-FFF2-40B4-BE49-F238E27FC236}">
                <a16:creationId xmlns:a16="http://schemas.microsoft.com/office/drawing/2014/main" id="{B3B6F574-2891-4811-CEDD-4E081402189A}"/>
              </a:ext>
            </a:extLst>
          </p:cNvPr>
          <p:cNvSpPr>
            <a:spLocks noGrp="1"/>
          </p:cNvSpPr>
          <p:nvPr>
            <p:ph type="ftr" sz="quarter" idx="11"/>
          </p:nvPr>
        </p:nvSpPr>
        <p:spPr>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spTree>
    <p:extLst>
      <p:ext uri="{BB962C8B-B14F-4D97-AF65-F5344CB8AC3E}">
        <p14:creationId xmlns:p14="http://schemas.microsoft.com/office/powerpoint/2010/main" val="139605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C6D20286-58BD-D9A8-4965-DB3EC23D60CB}"/>
              </a:ext>
            </a:extLst>
          </p:cNvPr>
          <p:cNvSpPr>
            <a:spLocks noGrp="1"/>
          </p:cNvSpPr>
          <p:nvPr>
            <p:ph type="title"/>
          </p:nvPr>
        </p:nvSpPr>
        <p:spPr>
          <a:xfrm>
            <a:off x="1331913" y="287338"/>
            <a:ext cx="7354887" cy="693390"/>
          </a:xfrm>
        </p:spPr>
        <p:txBody>
          <a:bodyPr/>
          <a:lstStyle/>
          <a:p>
            <a:r>
              <a:rPr lang="en-US" dirty="0"/>
              <a:t>KHỐI UART COMBINE</a:t>
            </a:r>
          </a:p>
        </p:txBody>
      </p:sp>
      <p:pic>
        <p:nvPicPr>
          <p:cNvPr id="7" name="Content Placeholder 6">
            <a:extLst>
              <a:ext uri="{FF2B5EF4-FFF2-40B4-BE49-F238E27FC236}">
                <a16:creationId xmlns:a16="http://schemas.microsoft.com/office/drawing/2014/main" id="{223ABCE8-DF3C-C1FC-F5C2-138A3EF3DA48}"/>
              </a:ext>
            </a:extLst>
          </p:cNvPr>
          <p:cNvPicPr>
            <a:picLocks noGrp="1" noChangeAspect="1"/>
          </p:cNvPicPr>
          <p:nvPr>
            <p:ph sz="half" idx="1"/>
          </p:nvPr>
        </p:nvPicPr>
        <p:blipFill>
          <a:blip r:embed="rId3"/>
          <a:stretch>
            <a:fillRect/>
          </a:stretch>
        </p:blipFill>
        <p:spPr>
          <a:xfrm>
            <a:off x="468313" y="2922493"/>
            <a:ext cx="4038600" cy="1938527"/>
          </a:xfrm>
          <a:prstGeom prst="rect">
            <a:avLst/>
          </a:prstGeom>
          <a:noFill/>
        </p:spPr>
      </p:pic>
      <p:sp>
        <p:nvSpPr>
          <p:cNvPr id="4" name="Date Placeholder 3">
            <a:extLst>
              <a:ext uri="{FF2B5EF4-FFF2-40B4-BE49-F238E27FC236}">
                <a16:creationId xmlns:a16="http://schemas.microsoft.com/office/drawing/2014/main" id="{EFF5C16B-062C-FE3A-1B8B-B30822F4D5AD}"/>
              </a:ext>
            </a:extLst>
          </p:cNvPr>
          <p:cNvSpPr>
            <a:spLocks noGrp="1"/>
          </p:cNvSpPr>
          <p:nvPr>
            <p:ph type="dt" sz="half" idx="10"/>
          </p:nvPr>
        </p:nvSpPr>
        <p:spPr>
          <a:xfrm>
            <a:off x="251520" y="6525344"/>
            <a:ext cx="2133600" cy="288206"/>
          </a:xfrm>
        </p:spPr>
        <p:txBody>
          <a:bodyPr vert="horz" wrap="square" lIns="91440" tIns="45720" rIns="91440" bIns="45720" numCol="1" anchor="t" anchorCtr="0" compatLnSpc="1">
            <a:prstTxWarp prst="textNoShape">
              <a:avLst/>
            </a:prstTxWarp>
            <a:normAutofit/>
          </a:bodyPr>
          <a:lstStyle/>
          <a:p>
            <a:pPr>
              <a:spcAft>
                <a:spcPts val="600"/>
              </a:spcAft>
            </a:pPr>
            <a:fld id="{F7681EE8-9FE2-425D-8FB4-74C399BDEDA0}" type="datetime1">
              <a:rPr lang="en-US" altLang="ja-JP" smtClean="0"/>
              <a:pPr>
                <a:spcAft>
                  <a:spcPts val="600"/>
                </a:spcAft>
              </a:pPr>
              <a:t>5/21/2026</a:t>
            </a:fld>
            <a:endParaRPr lang="ja-JP" altLang="en-US"/>
          </a:p>
        </p:txBody>
      </p:sp>
      <p:sp>
        <p:nvSpPr>
          <p:cNvPr id="5" name="Slide Number Placeholder 4">
            <a:extLst>
              <a:ext uri="{FF2B5EF4-FFF2-40B4-BE49-F238E27FC236}">
                <a16:creationId xmlns:a16="http://schemas.microsoft.com/office/drawing/2014/main" id="{3F3061F5-E0E3-E3E5-A253-871FACE77BC2}"/>
              </a:ext>
            </a:extLst>
          </p:cNvPr>
          <p:cNvSpPr>
            <a:spLocks noGrp="1"/>
          </p:cNvSpPr>
          <p:nvPr>
            <p:ph type="sldNum" sz="quarter" idx="12"/>
          </p:nvPr>
        </p:nvSpPr>
        <p:spPr>
          <a:xfrm>
            <a:off x="7139880" y="6524625"/>
            <a:ext cx="1752600" cy="288925"/>
          </a:xfrm>
        </p:spPr>
        <p:txBody>
          <a:bodyPr vert="horz" wrap="square" lIns="91440" tIns="45720" rIns="91440" bIns="45720" numCol="1" anchor="t" anchorCtr="0" compatLnSpc="1">
            <a:prstTxWarp prst="textNoShape">
              <a:avLst/>
            </a:prstTxWarp>
            <a:normAutofit/>
          </a:bodyPr>
          <a:lstStyle/>
          <a:p>
            <a:pPr>
              <a:spcAft>
                <a:spcPts val="600"/>
              </a:spcAft>
            </a:pPr>
            <a:fld id="{800C8475-47C1-49C9-BEE5-594F8CF4D71F}" type="slidenum">
              <a:rPr lang="ja-JP" altLang="en-US" smtClean="0"/>
              <a:pPr>
                <a:spcAft>
                  <a:spcPts val="600"/>
                </a:spcAft>
              </a:pPr>
              <a:t>13</a:t>
            </a:fld>
            <a:endParaRPr lang="ja-JP" altLang="en-US"/>
          </a:p>
        </p:txBody>
      </p:sp>
      <p:sp>
        <p:nvSpPr>
          <p:cNvPr id="9" name="TextBox 8">
            <a:extLst>
              <a:ext uri="{FF2B5EF4-FFF2-40B4-BE49-F238E27FC236}">
                <a16:creationId xmlns:a16="http://schemas.microsoft.com/office/drawing/2014/main" id="{D69D82D3-716A-0739-C479-4D5B97D654FC}"/>
              </a:ext>
            </a:extLst>
          </p:cNvPr>
          <p:cNvSpPr txBox="1"/>
          <p:nvPr/>
        </p:nvSpPr>
        <p:spPr bwMode="auto">
          <a:xfrm>
            <a:off x="4709864" y="1628800"/>
            <a:ext cx="4038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rmAutofit/>
          </a:bodyPr>
          <a:lstStyle/>
          <a:p>
            <a:pPr marL="342900" indent="-342900" algn="just" fontAlgn="base">
              <a:lnSpc>
                <a:spcPct val="90000"/>
              </a:lnSpc>
              <a:spcBef>
                <a:spcPct val="20000"/>
              </a:spcBef>
              <a:spcAft>
                <a:spcPct val="0"/>
              </a:spcAft>
              <a:buClr>
                <a:srgbClr val="003399"/>
              </a:buClr>
              <a:buFont typeface="Wingdings" pitchFamily="2" charset="2"/>
              <a:buChar char="n"/>
            </a:pPr>
            <a:r>
              <a:rPr lang="en-US" sz="2200" b="1" i="0" u="none" strike="noStrike" dirty="0">
                <a:effectLst/>
                <a:latin typeface="Times New Roman" pitchFamily="18" charset="0"/>
                <a:cs typeface="Times New Roman" pitchFamily="18" charset="0"/>
              </a:rPr>
              <a:t>WAIT_HIGH_BYTE( </a:t>
            </a:r>
            <a:r>
              <a:rPr lang="en-US" sz="2200" b="1" i="0" u="none" strike="noStrike" dirty="0" err="1">
                <a:effectLst/>
                <a:latin typeface="Times New Roman" pitchFamily="18" charset="0"/>
                <a:cs typeface="Times New Roman" pitchFamily="18" charset="0"/>
              </a:rPr>
              <a:t>chờ</a:t>
            </a:r>
            <a:r>
              <a:rPr lang="en-US" sz="2200" b="1" i="0" u="none" strike="noStrike" dirty="0">
                <a:effectLst/>
                <a:latin typeface="Times New Roman" pitchFamily="18" charset="0"/>
                <a:cs typeface="Times New Roman" pitchFamily="18" charset="0"/>
              </a:rPr>
              <a:t> </a:t>
            </a:r>
            <a:r>
              <a:rPr lang="en-US" sz="2200" b="1" i="0" u="none" strike="noStrike" dirty="0" err="1">
                <a:effectLst/>
                <a:latin typeface="Times New Roman" pitchFamily="18" charset="0"/>
                <a:cs typeface="Times New Roman" pitchFamily="18" charset="0"/>
              </a:rPr>
              <a:t>nhận</a:t>
            </a:r>
            <a:r>
              <a:rPr lang="en-US" sz="2200" b="1" i="0" u="none" strike="noStrike" dirty="0">
                <a:effectLst/>
                <a:latin typeface="Times New Roman" pitchFamily="18" charset="0"/>
                <a:cs typeface="Times New Roman" pitchFamily="18" charset="0"/>
              </a:rPr>
              <a:t> 8-bit </a:t>
            </a:r>
            <a:r>
              <a:rPr lang="en-US" sz="2200" b="1" i="0" u="none" strike="noStrike" dirty="0" err="1">
                <a:effectLst/>
                <a:latin typeface="Times New Roman" pitchFamily="18" charset="0"/>
                <a:cs typeface="Times New Roman" pitchFamily="18" charset="0"/>
              </a:rPr>
              <a:t>đầu</a:t>
            </a:r>
            <a:r>
              <a:rPr lang="en-US" sz="2200" b="1" i="0" u="none" strike="noStrike" dirty="0">
                <a:effectLst/>
                <a:latin typeface="Times New Roman" pitchFamily="18" charset="0"/>
                <a:cs typeface="Times New Roman" pitchFamily="18" charset="0"/>
              </a:rPr>
              <a:t>):</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Chờ</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nhận</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tín</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hiệu</a:t>
            </a:r>
            <a:r>
              <a:rPr lang="en-US" sz="2200" b="0" i="0" u="none" strike="noStrike" dirty="0">
                <a:effectLst/>
                <a:latin typeface="Times New Roman" pitchFamily="18" charset="0"/>
                <a:cs typeface="Times New Roman" pitchFamily="18" charset="0"/>
              </a:rPr>
              <a:t> finish </a:t>
            </a:r>
            <a:r>
              <a:rPr lang="en-US" sz="2200" b="0" i="0" u="none" strike="noStrike" dirty="0" err="1">
                <a:effectLst/>
                <a:latin typeface="Times New Roman" pitchFamily="18" charset="0"/>
                <a:cs typeface="Times New Roman" pitchFamily="18" charset="0"/>
              </a:rPr>
              <a:t>đầu</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tiên</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sau</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đó</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lấy</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chuỗi</a:t>
            </a:r>
            <a:r>
              <a:rPr lang="en-US" sz="2200" b="0" i="0" u="none" strike="noStrike" dirty="0">
                <a:effectLst/>
                <a:latin typeface="Times New Roman" pitchFamily="18" charset="0"/>
                <a:cs typeface="Times New Roman" pitchFamily="18" charset="0"/>
              </a:rPr>
              <a:t> 8 bit </a:t>
            </a:r>
            <a:r>
              <a:rPr lang="en-US" sz="2200" b="0" i="0" u="none" strike="noStrike" dirty="0" err="1">
                <a:effectLst/>
                <a:latin typeface="Times New Roman" pitchFamily="18" charset="0"/>
                <a:cs typeface="Times New Roman" pitchFamily="18" charset="0"/>
              </a:rPr>
              <a:t>này</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đưa</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vào</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vị</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trí</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các</a:t>
            </a:r>
            <a:r>
              <a:rPr lang="en-US" sz="2200" b="0" i="0" u="none" strike="noStrike" dirty="0">
                <a:effectLst/>
                <a:latin typeface="Times New Roman" pitchFamily="18" charset="0"/>
                <a:cs typeface="Times New Roman" pitchFamily="18" charset="0"/>
              </a:rPr>
              <a:t> bit </a:t>
            </a:r>
            <a:r>
              <a:rPr lang="en-US" sz="2200" b="0" i="0" u="none" strike="noStrike" dirty="0" err="1">
                <a:effectLst/>
                <a:latin typeface="Times New Roman" pitchFamily="18" charset="0"/>
                <a:cs typeface="Times New Roman" pitchFamily="18" charset="0"/>
              </a:rPr>
              <a:t>trọng</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số</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cao</a:t>
            </a:r>
            <a:r>
              <a:rPr lang="en-US" sz="2200" b="0" i="0" u="none" strike="noStrike" dirty="0">
                <a:effectLst/>
                <a:latin typeface="Times New Roman" pitchFamily="18" charset="0"/>
                <a:cs typeface="Times New Roman" pitchFamily="18" charset="0"/>
              </a:rPr>
              <a:t> (MSB). </a:t>
            </a:r>
          </a:p>
          <a:p>
            <a:pPr marL="342900" indent="-342900" algn="just" fontAlgn="base">
              <a:lnSpc>
                <a:spcPct val="90000"/>
              </a:lnSpc>
              <a:spcBef>
                <a:spcPct val="20000"/>
              </a:spcBef>
              <a:spcAft>
                <a:spcPct val="0"/>
              </a:spcAft>
              <a:buClr>
                <a:srgbClr val="003399"/>
              </a:buClr>
              <a:buFont typeface="Wingdings" pitchFamily="2" charset="2"/>
              <a:buChar char="n"/>
            </a:pPr>
            <a:r>
              <a:rPr lang="en-US" sz="2200" b="1" i="0" u="none" strike="noStrike" dirty="0">
                <a:effectLst/>
                <a:latin typeface="Times New Roman" pitchFamily="18" charset="0"/>
                <a:cs typeface="Times New Roman" pitchFamily="18" charset="0"/>
              </a:rPr>
              <a:t>WAIT_LOW_BYTE( </a:t>
            </a:r>
            <a:r>
              <a:rPr lang="en-US" sz="2200" b="1" i="0" u="none" strike="noStrike" dirty="0" err="1">
                <a:effectLst/>
                <a:latin typeface="Times New Roman" pitchFamily="18" charset="0"/>
                <a:cs typeface="Times New Roman" pitchFamily="18" charset="0"/>
              </a:rPr>
              <a:t>chờ</a:t>
            </a:r>
            <a:r>
              <a:rPr lang="en-US" sz="2200" b="1" i="0" u="none" strike="noStrike" dirty="0">
                <a:effectLst/>
                <a:latin typeface="Times New Roman" pitchFamily="18" charset="0"/>
                <a:cs typeface="Times New Roman" pitchFamily="18" charset="0"/>
              </a:rPr>
              <a:t> </a:t>
            </a:r>
            <a:r>
              <a:rPr lang="en-US" sz="2200" b="1" i="0" u="none" strike="noStrike" dirty="0" err="1">
                <a:effectLst/>
                <a:latin typeface="Times New Roman" pitchFamily="18" charset="0"/>
                <a:cs typeface="Times New Roman" pitchFamily="18" charset="0"/>
              </a:rPr>
              <a:t>nhận</a:t>
            </a:r>
            <a:r>
              <a:rPr lang="en-US" sz="2200" b="1" i="0" u="none" strike="noStrike" dirty="0">
                <a:effectLst/>
                <a:latin typeface="Times New Roman" pitchFamily="18" charset="0"/>
                <a:cs typeface="Times New Roman" pitchFamily="18" charset="0"/>
              </a:rPr>
              <a:t> 8-bit </a:t>
            </a:r>
            <a:r>
              <a:rPr lang="en-US" sz="2200" b="1" i="0" u="none" strike="noStrike" dirty="0" err="1">
                <a:effectLst/>
                <a:latin typeface="Times New Roman" pitchFamily="18" charset="0"/>
                <a:cs typeface="Times New Roman" pitchFamily="18" charset="0"/>
              </a:rPr>
              <a:t>tiếp</a:t>
            </a:r>
            <a:r>
              <a:rPr lang="en-US" sz="2200" b="1" i="0" u="none" strike="noStrike" dirty="0">
                <a:effectLst/>
                <a:latin typeface="Times New Roman" pitchFamily="18" charset="0"/>
                <a:cs typeface="Times New Roman" pitchFamily="18" charset="0"/>
              </a:rPr>
              <a:t> </a:t>
            </a:r>
            <a:r>
              <a:rPr lang="en-US" sz="2200" b="1" i="0" u="none" strike="noStrike" dirty="0" err="1">
                <a:effectLst/>
                <a:latin typeface="Times New Roman" pitchFamily="18" charset="0"/>
                <a:cs typeface="Times New Roman" pitchFamily="18" charset="0"/>
              </a:rPr>
              <a:t>theo</a:t>
            </a:r>
            <a:r>
              <a:rPr lang="en-US" sz="2200" b="1" i="0" u="none" strike="noStrike" dirty="0">
                <a:effectLst/>
                <a:latin typeface="Times New Roman" pitchFamily="18" charset="0"/>
                <a:cs typeface="Times New Roman" pitchFamily="18" charset="0"/>
              </a:rPr>
              <a:t>):</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Tiếp</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tục</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chờ</a:t>
            </a:r>
            <a:r>
              <a:rPr lang="en-US" sz="2200" b="0" i="0" u="none" strike="noStrike" dirty="0">
                <a:effectLst/>
                <a:latin typeface="Times New Roman" pitchFamily="18" charset="0"/>
                <a:cs typeface="Times New Roman" pitchFamily="18" charset="0"/>
              </a:rPr>
              <a:t> 8 bit </a:t>
            </a:r>
            <a:r>
              <a:rPr lang="en-US" sz="2200" b="0" i="0" u="none" strike="noStrike" dirty="0" err="1">
                <a:effectLst/>
                <a:latin typeface="Times New Roman" pitchFamily="18" charset="0"/>
                <a:cs typeface="Times New Roman" pitchFamily="18" charset="0"/>
              </a:rPr>
              <a:t>thứ</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hai</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để</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tạo</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thành</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chuỗi</a:t>
            </a:r>
            <a:r>
              <a:rPr lang="en-US" sz="2200" b="0" i="0" u="none" strike="noStrike" dirty="0">
                <a:effectLst/>
                <a:latin typeface="Times New Roman" pitchFamily="18" charset="0"/>
                <a:cs typeface="Times New Roman" pitchFamily="18" charset="0"/>
              </a:rPr>
              <a:t> 16-bit </a:t>
            </a:r>
            <a:r>
              <a:rPr lang="en-US" sz="2200" b="0" i="0" u="none" strike="noStrike" dirty="0" err="1">
                <a:effectLst/>
                <a:latin typeface="Times New Roman" pitchFamily="18" charset="0"/>
                <a:cs typeface="Times New Roman" pitchFamily="18" charset="0"/>
              </a:rPr>
              <a:t>hoàn</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chỉnh</a:t>
            </a:r>
            <a:r>
              <a:rPr lang="en-US" sz="2200" b="0" i="0" u="none" strike="noStrike" dirty="0">
                <a:effectLst/>
                <a:latin typeface="Times New Roman" pitchFamily="18" charset="0"/>
                <a:cs typeface="Times New Roman" pitchFamily="18" charset="0"/>
              </a:rPr>
              <a:t>. Sau </a:t>
            </a:r>
            <a:r>
              <a:rPr lang="en-US" sz="2200" b="0" i="0" u="none" strike="noStrike" dirty="0" err="1">
                <a:effectLst/>
                <a:latin typeface="Times New Roman" pitchFamily="18" charset="0"/>
                <a:cs typeface="Times New Roman" pitchFamily="18" charset="0"/>
              </a:rPr>
              <a:t>khi</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ghép</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nối</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thành</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công</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khối</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phát</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tín</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hiệu</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yêu</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cầu</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ghi</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và</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đưa</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vào</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địa</a:t>
            </a:r>
            <a:r>
              <a:rPr lang="en-US" sz="2200" b="0" i="0" u="none" strike="noStrike" dirty="0">
                <a:effectLst/>
                <a:latin typeface="Times New Roman" pitchFamily="18" charset="0"/>
                <a:cs typeface="Times New Roman" pitchFamily="18" charset="0"/>
              </a:rPr>
              <a:t> </a:t>
            </a:r>
            <a:r>
              <a:rPr lang="en-US" sz="2200" b="0" i="0" u="none" strike="noStrike" dirty="0" err="1">
                <a:effectLst/>
                <a:latin typeface="Times New Roman" pitchFamily="18" charset="0"/>
                <a:cs typeface="Times New Roman" pitchFamily="18" charset="0"/>
              </a:rPr>
              <a:t>chỉ</a:t>
            </a:r>
            <a:r>
              <a:rPr lang="en-US" sz="2200" b="0" i="0" u="none" strike="noStrike" dirty="0">
                <a:effectLst/>
                <a:latin typeface="Times New Roman" pitchFamily="18" charset="0"/>
                <a:cs typeface="Times New Roman" pitchFamily="18" charset="0"/>
              </a:rPr>
              <a:t> SRAM</a:t>
            </a:r>
            <a:endParaRPr lang="en-US" sz="2200" dirty="0">
              <a:latin typeface="Times New Roman" pitchFamily="18" charset="0"/>
              <a:cs typeface="Times New Roman" pitchFamily="18" charset="0"/>
            </a:endParaRPr>
          </a:p>
        </p:txBody>
      </p:sp>
      <p:sp>
        <p:nvSpPr>
          <p:cNvPr id="6" name="Footer Placeholder 5">
            <a:extLst>
              <a:ext uri="{FF2B5EF4-FFF2-40B4-BE49-F238E27FC236}">
                <a16:creationId xmlns:a16="http://schemas.microsoft.com/office/drawing/2014/main" id="{4B8469DA-29B1-D19D-F5D3-DC63618A88A1}"/>
              </a:ext>
            </a:extLst>
          </p:cNvPr>
          <p:cNvSpPr>
            <a:spLocks noGrp="1"/>
          </p:cNvSpPr>
          <p:nvPr>
            <p:ph type="ftr" sz="quarter" idx="11"/>
          </p:nvPr>
        </p:nvSpPr>
        <p:spPr>
          <a:xfrm>
            <a:off x="1762101" y="6524625"/>
            <a:ext cx="5618212" cy="288925"/>
          </a:xfrm>
        </p:spPr>
        <p:txBody>
          <a:bodyPr vert="horz" wrap="square" lIns="91440" tIns="45720" rIns="91440" bIns="45720" numCol="1" anchor="t" anchorCtr="0" compatLnSpc="1">
            <a:prstTxWarp prst="textNoShape">
              <a:avLst/>
            </a:prstTxWarp>
            <a:normAutofit/>
          </a:bodyPr>
          <a:lstStyle/>
          <a:p>
            <a:pPr>
              <a:spcAft>
                <a:spcPts val="600"/>
              </a:spcAft>
            </a:pPr>
            <a:r>
              <a:rPr kumimoji="1" lang="en-US" altLang="ja-JP"/>
              <a:t>Copyrights 2020 CE-UIT. All Rights Reserved.</a:t>
            </a:r>
            <a:endParaRPr kumimoji="1" lang="ja-JP" altLang="en-US"/>
          </a:p>
        </p:txBody>
      </p:sp>
    </p:spTree>
    <p:extLst>
      <p:ext uri="{BB962C8B-B14F-4D97-AF65-F5344CB8AC3E}">
        <p14:creationId xmlns:p14="http://schemas.microsoft.com/office/powerpoint/2010/main" val="22413857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73200F78-F02E-4F38-6D3F-8981FC762CA1}"/>
              </a:ext>
            </a:extLst>
          </p:cNvPr>
          <p:cNvSpPr>
            <a:spLocks noGrp="1"/>
          </p:cNvSpPr>
          <p:nvPr>
            <p:ph type="title"/>
          </p:nvPr>
        </p:nvSpPr>
        <p:spPr>
          <a:xfrm>
            <a:off x="1331913" y="287338"/>
            <a:ext cx="7354887" cy="693390"/>
          </a:xfrm>
        </p:spPr>
        <p:txBody>
          <a:bodyPr vert="horz" wrap="square" lIns="91440" tIns="45720" rIns="91440" bIns="45720" numCol="1" anchor="ctr" anchorCtr="0" compatLnSpc="1">
            <a:prstTxWarp prst="textNoShape">
              <a:avLst/>
            </a:prstTxWarp>
            <a:normAutofit/>
          </a:bodyPr>
          <a:lstStyle/>
          <a:p>
            <a:r>
              <a:rPr lang="pt-BR" dirty="0"/>
              <a:t>KHỐI BỘ NHỚ - SRAM CONTROLLER</a:t>
            </a:r>
            <a:endParaRPr lang="en-US" dirty="0"/>
          </a:p>
        </p:txBody>
      </p:sp>
      <p:pic>
        <p:nvPicPr>
          <p:cNvPr id="8" name="Content Placeholder 7">
            <a:extLst>
              <a:ext uri="{FF2B5EF4-FFF2-40B4-BE49-F238E27FC236}">
                <a16:creationId xmlns:a16="http://schemas.microsoft.com/office/drawing/2014/main" id="{E5137261-7CBF-3959-97BD-5CD172FA261D}"/>
              </a:ext>
            </a:extLst>
          </p:cNvPr>
          <p:cNvPicPr>
            <a:picLocks noGrp="1" noChangeAspect="1"/>
          </p:cNvPicPr>
          <p:nvPr>
            <p:ph sz="half" idx="1"/>
          </p:nvPr>
        </p:nvPicPr>
        <p:blipFill>
          <a:blip r:embed="rId3"/>
          <a:stretch>
            <a:fillRect/>
          </a:stretch>
        </p:blipFill>
        <p:spPr>
          <a:xfrm>
            <a:off x="468313" y="2533777"/>
            <a:ext cx="4038600" cy="2715958"/>
          </a:xfrm>
          <a:prstGeom prst="rect">
            <a:avLst/>
          </a:prstGeom>
          <a:noFill/>
        </p:spPr>
      </p:pic>
      <p:sp>
        <p:nvSpPr>
          <p:cNvPr id="4" name="Date Placeholder 3">
            <a:extLst>
              <a:ext uri="{FF2B5EF4-FFF2-40B4-BE49-F238E27FC236}">
                <a16:creationId xmlns:a16="http://schemas.microsoft.com/office/drawing/2014/main" id="{BF7E347D-2F32-EE0E-0AF0-296787118E37}"/>
              </a:ext>
            </a:extLst>
          </p:cNvPr>
          <p:cNvSpPr>
            <a:spLocks noGrp="1"/>
          </p:cNvSpPr>
          <p:nvPr>
            <p:ph type="dt" sz="half" idx="10"/>
          </p:nvPr>
        </p:nvSpPr>
        <p:spPr>
          <a:xfrm>
            <a:off x="251520" y="6525344"/>
            <a:ext cx="2133600" cy="288206"/>
          </a:xfrm>
        </p:spPr>
        <p:txBody>
          <a:bodyPr vert="horz" wrap="square" lIns="91440" tIns="45720" rIns="91440" bIns="45720" numCol="1" anchor="t" anchorCtr="0" compatLnSpc="1">
            <a:prstTxWarp prst="textNoShape">
              <a:avLst/>
            </a:prstTxWarp>
            <a:normAutofit/>
          </a:bodyPr>
          <a:lstStyle/>
          <a:p>
            <a:pPr>
              <a:spcAft>
                <a:spcPts val="600"/>
              </a:spcAft>
            </a:pPr>
            <a:fld id="{BA136E8E-48A6-4CCA-8C49-35959C36CF6D}" type="datetime1">
              <a:rPr lang="en-US" altLang="ja-JP" smtClean="0"/>
              <a:pPr>
                <a:spcAft>
                  <a:spcPts val="600"/>
                </a:spcAft>
              </a:pPr>
              <a:t>5/21/2026</a:t>
            </a:fld>
            <a:endParaRPr lang="ja-JP" altLang="en-US"/>
          </a:p>
        </p:txBody>
      </p:sp>
      <p:sp>
        <p:nvSpPr>
          <p:cNvPr id="5" name="Slide Number Placeholder 4">
            <a:extLst>
              <a:ext uri="{FF2B5EF4-FFF2-40B4-BE49-F238E27FC236}">
                <a16:creationId xmlns:a16="http://schemas.microsoft.com/office/drawing/2014/main" id="{2A8C6023-7C98-B80B-32E4-CBD5A5E08D46}"/>
              </a:ext>
            </a:extLst>
          </p:cNvPr>
          <p:cNvSpPr>
            <a:spLocks noGrp="1"/>
          </p:cNvSpPr>
          <p:nvPr>
            <p:ph type="sldNum" sz="quarter" idx="12"/>
          </p:nvPr>
        </p:nvSpPr>
        <p:spPr>
          <a:xfrm>
            <a:off x="7139880" y="6524625"/>
            <a:ext cx="1752600" cy="288925"/>
          </a:xfrm>
        </p:spPr>
        <p:txBody>
          <a:bodyPr vert="horz" wrap="square" lIns="91440" tIns="45720" rIns="91440" bIns="45720" numCol="1" anchor="t" anchorCtr="0" compatLnSpc="1">
            <a:prstTxWarp prst="textNoShape">
              <a:avLst/>
            </a:prstTxWarp>
            <a:normAutofit/>
          </a:bodyPr>
          <a:lstStyle/>
          <a:p>
            <a:pPr>
              <a:spcAft>
                <a:spcPts val="600"/>
              </a:spcAft>
            </a:pPr>
            <a:fld id="{800C8475-47C1-49C9-BEE5-594F8CF4D71F}" type="slidenum">
              <a:rPr lang="ja-JP" altLang="en-US" smtClean="0"/>
              <a:pPr>
                <a:spcAft>
                  <a:spcPts val="600"/>
                </a:spcAft>
              </a:pPr>
              <a:t>14</a:t>
            </a:fld>
            <a:endParaRPr lang="ja-JP" altLang="en-US"/>
          </a:p>
        </p:txBody>
      </p:sp>
      <p:sp>
        <p:nvSpPr>
          <p:cNvPr id="10" name="TextBox 9">
            <a:extLst>
              <a:ext uri="{FF2B5EF4-FFF2-40B4-BE49-F238E27FC236}">
                <a16:creationId xmlns:a16="http://schemas.microsoft.com/office/drawing/2014/main" id="{E991B487-0A9A-D341-9487-52497F870F78}"/>
              </a:ext>
            </a:extLst>
          </p:cNvPr>
          <p:cNvSpPr txBox="1"/>
          <p:nvPr/>
        </p:nvSpPr>
        <p:spPr bwMode="auto">
          <a:xfrm>
            <a:off x="4709864" y="1628800"/>
            <a:ext cx="4038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rmAutofit/>
          </a:bodyPr>
          <a:lstStyle/>
          <a:p>
            <a:pPr marL="342900" indent="-342900" algn="just" fontAlgn="base">
              <a:spcBef>
                <a:spcPct val="20000"/>
              </a:spcBef>
              <a:spcAft>
                <a:spcPct val="0"/>
              </a:spcAft>
              <a:buClr>
                <a:srgbClr val="003399"/>
              </a:buClr>
              <a:buFont typeface="Wingdings" pitchFamily="2" charset="2"/>
              <a:buChar char="n"/>
            </a:pPr>
            <a:r>
              <a:rPr lang="en-US" sz="2800" b="1">
                <a:latin typeface="Times New Roman" pitchFamily="18" charset="0"/>
                <a:cs typeface="Times New Roman" pitchFamily="18" charset="0"/>
              </a:rPr>
              <a:t>Chức năng:</a:t>
            </a:r>
            <a:r>
              <a:rPr lang="en-US" sz="2800">
                <a:latin typeface="Times New Roman" pitchFamily="18" charset="0"/>
                <a:cs typeface="Times New Roman" pitchFamily="18" charset="0"/>
              </a:rPr>
              <a:t> Quản lý chia sẻ quyền truy cập chip SRAM vật lý giữa khối ghi (UART) và khối đọc (VGA).</a:t>
            </a:r>
          </a:p>
        </p:txBody>
      </p:sp>
      <p:sp>
        <p:nvSpPr>
          <p:cNvPr id="7" name="Footer Placeholder 6">
            <a:extLst>
              <a:ext uri="{FF2B5EF4-FFF2-40B4-BE49-F238E27FC236}">
                <a16:creationId xmlns:a16="http://schemas.microsoft.com/office/drawing/2014/main" id="{6B18C018-453F-26B6-6701-1BF345B7C6B5}"/>
              </a:ext>
            </a:extLst>
          </p:cNvPr>
          <p:cNvSpPr>
            <a:spLocks noGrp="1"/>
          </p:cNvSpPr>
          <p:nvPr>
            <p:ph type="ftr" sz="quarter" idx="11"/>
          </p:nvPr>
        </p:nvSpPr>
        <p:spPr>
          <a:xfrm>
            <a:off x="1762101" y="6524625"/>
            <a:ext cx="5618212" cy="288925"/>
          </a:xfrm>
        </p:spPr>
        <p:txBody>
          <a:bodyPr vert="horz" wrap="square" lIns="91440" tIns="45720" rIns="91440" bIns="45720" numCol="1" anchor="t" anchorCtr="0" compatLnSpc="1">
            <a:prstTxWarp prst="textNoShape">
              <a:avLst/>
            </a:prstTxWarp>
            <a:normAutofit/>
          </a:bodyPr>
          <a:lstStyle/>
          <a:p>
            <a:pPr>
              <a:spcAft>
                <a:spcPts val="600"/>
              </a:spcAft>
            </a:pPr>
            <a:r>
              <a:rPr kumimoji="1" lang="en-US" altLang="ja-JP"/>
              <a:t>Copyrights 2020 CE-UIT . All Rights Reserved.</a:t>
            </a:r>
            <a:endParaRPr kumimoji="1" lang="ja-JP" altLang="en-US"/>
          </a:p>
        </p:txBody>
      </p:sp>
    </p:spTree>
    <p:extLst>
      <p:ext uri="{BB962C8B-B14F-4D97-AF65-F5344CB8AC3E}">
        <p14:creationId xmlns:p14="http://schemas.microsoft.com/office/powerpoint/2010/main" val="40658079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E5219-6280-34E4-856D-5566F73A1DE4}"/>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FE13759F-6506-B60C-D9F2-A6C928E3FB15}"/>
              </a:ext>
            </a:extLst>
          </p:cNvPr>
          <p:cNvSpPr>
            <a:spLocks noGrp="1"/>
          </p:cNvSpPr>
          <p:nvPr>
            <p:ph type="title"/>
          </p:nvPr>
        </p:nvSpPr>
        <p:spPr>
          <a:xfrm>
            <a:off x="1331913" y="287338"/>
            <a:ext cx="7354887" cy="693390"/>
          </a:xfrm>
        </p:spPr>
        <p:txBody>
          <a:bodyPr vert="horz" wrap="square" lIns="91440" tIns="45720" rIns="91440" bIns="45720" numCol="1" anchor="ctr" anchorCtr="0" compatLnSpc="1">
            <a:prstTxWarp prst="textNoShape">
              <a:avLst/>
            </a:prstTxWarp>
            <a:normAutofit/>
          </a:bodyPr>
          <a:lstStyle/>
          <a:p>
            <a:r>
              <a:rPr lang="pt-BR" dirty="0"/>
              <a:t>KHỐI BỘ NHỚ - SRAM CONTROLLER</a:t>
            </a:r>
            <a:endParaRPr lang="en-US" dirty="0"/>
          </a:p>
        </p:txBody>
      </p:sp>
      <p:pic>
        <p:nvPicPr>
          <p:cNvPr id="2" name="Content Placeholder 7">
            <a:extLst>
              <a:ext uri="{FF2B5EF4-FFF2-40B4-BE49-F238E27FC236}">
                <a16:creationId xmlns:a16="http://schemas.microsoft.com/office/drawing/2014/main" id="{9560823B-C24D-6BD7-B4F2-A82F657BDD47}"/>
              </a:ext>
            </a:extLst>
          </p:cNvPr>
          <p:cNvPicPr>
            <a:picLocks noGrp="1" noChangeAspect="1"/>
          </p:cNvPicPr>
          <p:nvPr>
            <p:ph sz="half" idx="1"/>
          </p:nvPr>
        </p:nvPicPr>
        <p:blipFill>
          <a:blip r:embed="rId3"/>
          <a:stretch>
            <a:fillRect/>
          </a:stretch>
        </p:blipFill>
        <p:spPr>
          <a:xfrm>
            <a:off x="468313" y="2533777"/>
            <a:ext cx="4038600" cy="2715958"/>
          </a:xfrm>
          <a:prstGeom prst="rect">
            <a:avLst/>
          </a:prstGeom>
          <a:noFill/>
        </p:spPr>
      </p:pic>
      <p:sp>
        <p:nvSpPr>
          <p:cNvPr id="4" name="Date Placeholder 3">
            <a:extLst>
              <a:ext uri="{FF2B5EF4-FFF2-40B4-BE49-F238E27FC236}">
                <a16:creationId xmlns:a16="http://schemas.microsoft.com/office/drawing/2014/main" id="{A7633187-7A18-9526-E5FD-D74D2E47B178}"/>
              </a:ext>
            </a:extLst>
          </p:cNvPr>
          <p:cNvSpPr>
            <a:spLocks noGrp="1"/>
          </p:cNvSpPr>
          <p:nvPr>
            <p:ph type="dt" sz="half" idx="10"/>
          </p:nvPr>
        </p:nvSpPr>
        <p:spPr>
          <a:xfrm>
            <a:off x="251520" y="6525344"/>
            <a:ext cx="2133600" cy="288206"/>
          </a:xfrm>
        </p:spPr>
        <p:txBody>
          <a:bodyPr vert="horz" wrap="square" lIns="91440" tIns="45720" rIns="91440" bIns="45720" numCol="1" anchor="t" anchorCtr="0" compatLnSpc="1">
            <a:prstTxWarp prst="textNoShape">
              <a:avLst/>
            </a:prstTxWarp>
            <a:normAutofit/>
          </a:bodyPr>
          <a:lstStyle/>
          <a:p>
            <a:pPr>
              <a:spcAft>
                <a:spcPts val="600"/>
              </a:spcAft>
            </a:pPr>
            <a:fld id="{BA136E8E-48A6-4CCA-8C49-35959C36CF6D}" type="datetime1">
              <a:rPr lang="en-US" altLang="ja-JP" smtClean="0"/>
              <a:pPr>
                <a:spcAft>
                  <a:spcPts val="600"/>
                </a:spcAft>
              </a:pPr>
              <a:t>5/21/2026</a:t>
            </a:fld>
            <a:endParaRPr lang="ja-JP" altLang="en-US"/>
          </a:p>
        </p:txBody>
      </p:sp>
      <p:sp>
        <p:nvSpPr>
          <p:cNvPr id="5" name="Slide Number Placeholder 4">
            <a:extLst>
              <a:ext uri="{FF2B5EF4-FFF2-40B4-BE49-F238E27FC236}">
                <a16:creationId xmlns:a16="http://schemas.microsoft.com/office/drawing/2014/main" id="{501765F9-8E61-5842-FB81-D672821A7828}"/>
              </a:ext>
            </a:extLst>
          </p:cNvPr>
          <p:cNvSpPr>
            <a:spLocks noGrp="1"/>
          </p:cNvSpPr>
          <p:nvPr>
            <p:ph type="sldNum" sz="quarter" idx="12"/>
          </p:nvPr>
        </p:nvSpPr>
        <p:spPr>
          <a:xfrm>
            <a:off x="7139880" y="6524625"/>
            <a:ext cx="1752600" cy="288925"/>
          </a:xfrm>
        </p:spPr>
        <p:txBody>
          <a:bodyPr vert="horz" wrap="square" lIns="91440" tIns="45720" rIns="91440" bIns="45720" numCol="1" anchor="t" anchorCtr="0" compatLnSpc="1">
            <a:prstTxWarp prst="textNoShape">
              <a:avLst/>
            </a:prstTxWarp>
            <a:normAutofit/>
          </a:bodyPr>
          <a:lstStyle/>
          <a:p>
            <a:pPr>
              <a:spcAft>
                <a:spcPts val="600"/>
              </a:spcAft>
            </a:pPr>
            <a:fld id="{800C8475-47C1-49C9-BEE5-594F8CF4D71F}" type="slidenum">
              <a:rPr lang="ja-JP" altLang="en-US" smtClean="0"/>
              <a:pPr>
                <a:spcAft>
                  <a:spcPts val="600"/>
                </a:spcAft>
              </a:pPr>
              <a:t>15</a:t>
            </a:fld>
            <a:endParaRPr lang="ja-JP" altLang="en-US"/>
          </a:p>
        </p:txBody>
      </p:sp>
      <p:sp>
        <p:nvSpPr>
          <p:cNvPr id="6" name="TextBox 5">
            <a:extLst>
              <a:ext uri="{FF2B5EF4-FFF2-40B4-BE49-F238E27FC236}">
                <a16:creationId xmlns:a16="http://schemas.microsoft.com/office/drawing/2014/main" id="{7462339A-5345-230B-178C-40BB24839007}"/>
              </a:ext>
            </a:extLst>
          </p:cNvPr>
          <p:cNvSpPr txBox="1"/>
          <p:nvPr/>
        </p:nvSpPr>
        <p:spPr bwMode="auto">
          <a:xfrm>
            <a:off x="4709864" y="1628800"/>
            <a:ext cx="4038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rmAutofit/>
          </a:bodyPr>
          <a:lstStyle/>
          <a:p>
            <a:pPr marL="342900" indent="-342900" algn="just" fontAlgn="base">
              <a:lnSpc>
                <a:spcPct val="90000"/>
              </a:lnSpc>
              <a:spcBef>
                <a:spcPct val="20000"/>
              </a:spcBef>
              <a:spcAft>
                <a:spcPct val="0"/>
              </a:spcAft>
              <a:buClr>
                <a:srgbClr val="003399"/>
              </a:buClr>
              <a:buFont typeface="Wingdings" pitchFamily="2" charset="2"/>
              <a:buChar char="n"/>
            </a:pPr>
            <a:r>
              <a:rPr lang="en-US" sz="2200" b="1" i="1" u="sng">
                <a:effectLst/>
                <a:latin typeface="Times New Roman" pitchFamily="18" charset="0"/>
                <a:cs typeface="Times New Roman" pitchFamily="18" charset="0"/>
              </a:rPr>
              <a:t>Inputs:</a:t>
            </a:r>
            <a:endParaRPr lang="en-US" sz="2200" b="0">
              <a:effectLst/>
              <a:latin typeface="Times New Roman" pitchFamily="18" charset="0"/>
              <a:cs typeface="Times New Roman" pitchFamily="18" charset="0"/>
            </a:endParaRPr>
          </a:p>
          <a:p>
            <a:pPr marL="342900" indent="-342900" algn="just" fontAlgn="base">
              <a:lnSpc>
                <a:spcPct val="90000"/>
              </a:lnSpc>
              <a:spcBef>
                <a:spcPct val="20000"/>
              </a:spcBef>
              <a:spcAft>
                <a:spcPct val="0"/>
              </a:spcAft>
              <a:buClr>
                <a:srgbClr val="003399"/>
              </a:buClr>
              <a:buFont typeface="Wingdings" pitchFamily="2" charset="2"/>
              <a:buChar char="n"/>
            </a:pPr>
            <a:r>
              <a:rPr lang="en-US" sz="2200" b="1" i="0" u="none" strike="noStrike">
                <a:effectLst/>
                <a:latin typeface="Times New Roman" pitchFamily="18" charset="0"/>
                <a:cs typeface="Times New Roman" pitchFamily="18" charset="0"/>
              </a:rPr>
              <a:t>CLOCK_50:</a:t>
            </a:r>
            <a:r>
              <a:rPr lang="en-US" sz="2200" b="0" i="0" u="none" strike="noStrike">
                <a:effectLst/>
                <a:latin typeface="Times New Roman" pitchFamily="18" charset="0"/>
                <a:cs typeface="Times New Roman" pitchFamily="18" charset="0"/>
              </a:rPr>
              <a:t> Xung nhịp chính hệ thống.</a:t>
            </a:r>
          </a:p>
          <a:p>
            <a:pPr marL="342900" indent="-342900" algn="just" fontAlgn="base">
              <a:lnSpc>
                <a:spcPct val="90000"/>
              </a:lnSpc>
              <a:spcBef>
                <a:spcPct val="20000"/>
              </a:spcBef>
              <a:spcAft>
                <a:spcPct val="0"/>
              </a:spcAft>
              <a:buClr>
                <a:srgbClr val="003399"/>
              </a:buClr>
              <a:buFont typeface="Wingdings" pitchFamily="2" charset="2"/>
              <a:buChar char="n"/>
            </a:pPr>
            <a:r>
              <a:rPr lang="en-US" sz="2200" b="1" i="0" u="none" strike="noStrike">
                <a:effectLst/>
                <a:latin typeface="Times New Roman" pitchFamily="18" charset="0"/>
                <a:cs typeface="Times New Roman" pitchFamily="18" charset="0"/>
              </a:rPr>
              <a:t>wr_req:</a:t>
            </a:r>
            <a:r>
              <a:rPr lang="en-US" sz="2200" b="0" i="0" u="none" strike="noStrike">
                <a:effectLst/>
                <a:latin typeface="Times New Roman" pitchFamily="18" charset="0"/>
                <a:cs typeface="Times New Roman" pitchFamily="18" charset="0"/>
              </a:rPr>
              <a:t> Tín hiệu yêu cầu ghi bộ nhớ truyền từ mạch UART (sram_enb).</a:t>
            </a:r>
          </a:p>
          <a:p>
            <a:pPr marL="342900" indent="-342900" algn="just" fontAlgn="base">
              <a:lnSpc>
                <a:spcPct val="90000"/>
              </a:lnSpc>
              <a:spcBef>
                <a:spcPct val="20000"/>
              </a:spcBef>
              <a:spcAft>
                <a:spcPct val="0"/>
              </a:spcAft>
              <a:buClr>
                <a:srgbClr val="003399"/>
              </a:buClr>
              <a:buFont typeface="Wingdings" pitchFamily="2" charset="2"/>
              <a:buChar char="n"/>
            </a:pPr>
            <a:r>
              <a:rPr lang="en-US" sz="2200" b="1" i="0" u="none" strike="noStrike">
                <a:effectLst/>
                <a:latin typeface="Times New Roman" pitchFamily="18" charset="0"/>
                <a:cs typeface="Times New Roman" pitchFamily="18" charset="0"/>
              </a:rPr>
              <a:t>wr_addr [17:0]:</a:t>
            </a:r>
            <a:r>
              <a:rPr lang="en-US" sz="2200" b="0" i="0" u="none" strike="noStrike">
                <a:effectLst/>
                <a:latin typeface="Times New Roman" pitchFamily="18" charset="0"/>
                <a:cs typeface="Times New Roman" pitchFamily="18" charset="0"/>
              </a:rPr>
              <a:t> Địa chỉ ô nhớ cần ghi dữ liệu ảnh.</a:t>
            </a:r>
          </a:p>
          <a:p>
            <a:pPr marL="342900" indent="-342900" algn="just" fontAlgn="base">
              <a:lnSpc>
                <a:spcPct val="90000"/>
              </a:lnSpc>
              <a:spcBef>
                <a:spcPct val="20000"/>
              </a:spcBef>
              <a:spcAft>
                <a:spcPct val="0"/>
              </a:spcAft>
              <a:buClr>
                <a:srgbClr val="003399"/>
              </a:buClr>
              <a:buFont typeface="Wingdings" pitchFamily="2" charset="2"/>
              <a:buChar char="n"/>
            </a:pPr>
            <a:r>
              <a:rPr lang="en-US" sz="2200" b="1" i="0" u="none" strike="noStrike">
                <a:effectLst/>
                <a:latin typeface="Times New Roman" pitchFamily="18" charset="0"/>
                <a:cs typeface="Times New Roman" pitchFamily="18" charset="0"/>
              </a:rPr>
              <a:t>wr_data [15:0]:</a:t>
            </a:r>
            <a:r>
              <a:rPr lang="en-US" sz="2200" b="0" i="0" u="none" strike="noStrike">
                <a:effectLst/>
                <a:latin typeface="Times New Roman" pitchFamily="18" charset="0"/>
                <a:cs typeface="Times New Roman" pitchFamily="18" charset="0"/>
              </a:rPr>
              <a:t> Giá trị pixel màu 16-bit cần lưu trữ.</a:t>
            </a:r>
          </a:p>
          <a:p>
            <a:pPr marL="342900" indent="-342900" algn="just" fontAlgn="base">
              <a:lnSpc>
                <a:spcPct val="90000"/>
              </a:lnSpc>
              <a:spcBef>
                <a:spcPct val="20000"/>
              </a:spcBef>
              <a:spcAft>
                <a:spcPct val="0"/>
              </a:spcAft>
              <a:buClr>
                <a:srgbClr val="003399"/>
              </a:buClr>
              <a:buFont typeface="Wingdings" pitchFamily="2" charset="2"/>
              <a:buChar char="n"/>
            </a:pPr>
            <a:r>
              <a:rPr lang="en-US" sz="2200" b="1" i="0" u="none" strike="noStrike">
                <a:effectLst/>
                <a:latin typeface="Times New Roman" pitchFamily="18" charset="0"/>
                <a:cs typeface="Times New Roman" pitchFamily="18" charset="0"/>
              </a:rPr>
              <a:t>rd_addr [17:0]:</a:t>
            </a:r>
            <a:r>
              <a:rPr lang="en-US" sz="2200" b="0" i="0" u="none" strike="noStrike">
                <a:effectLst/>
                <a:latin typeface="Times New Roman" pitchFamily="18" charset="0"/>
                <a:cs typeface="Times New Roman" pitchFamily="18" charset="0"/>
              </a:rPr>
              <a:t> Địa chỉ ô nhớ cần đọc do mạch điều khiển VGA yêu cầu.</a:t>
            </a:r>
            <a:endParaRPr lang="en-US" sz="2200">
              <a:latin typeface="Times New Roman" pitchFamily="18" charset="0"/>
              <a:cs typeface="Times New Roman" pitchFamily="18" charset="0"/>
            </a:endParaRPr>
          </a:p>
        </p:txBody>
      </p:sp>
      <p:sp>
        <p:nvSpPr>
          <p:cNvPr id="7" name="Footer Placeholder 6">
            <a:extLst>
              <a:ext uri="{FF2B5EF4-FFF2-40B4-BE49-F238E27FC236}">
                <a16:creationId xmlns:a16="http://schemas.microsoft.com/office/drawing/2014/main" id="{5CE257ED-25C5-9CA9-834D-EFD9806F6B8C}"/>
              </a:ext>
            </a:extLst>
          </p:cNvPr>
          <p:cNvSpPr>
            <a:spLocks noGrp="1"/>
          </p:cNvSpPr>
          <p:nvPr>
            <p:ph type="ftr" sz="quarter" idx="11"/>
          </p:nvPr>
        </p:nvSpPr>
        <p:spPr>
          <a:xfrm>
            <a:off x="1762101" y="6524625"/>
            <a:ext cx="5618212" cy="288925"/>
          </a:xfrm>
        </p:spPr>
        <p:txBody>
          <a:bodyPr vert="horz" wrap="square" lIns="91440" tIns="45720" rIns="91440" bIns="45720" numCol="1" anchor="t" anchorCtr="0" compatLnSpc="1">
            <a:prstTxWarp prst="textNoShape">
              <a:avLst/>
            </a:prstTxWarp>
            <a:normAutofit/>
          </a:bodyPr>
          <a:lstStyle/>
          <a:p>
            <a:pPr>
              <a:spcAft>
                <a:spcPts val="600"/>
              </a:spcAft>
            </a:pPr>
            <a:r>
              <a:rPr kumimoji="1" lang="en-US" altLang="ja-JP"/>
              <a:t>Copyrights 2020 CE-UIT . All Rights Reserved.</a:t>
            </a:r>
            <a:endParaRPr kumimoji="1" lang="ja-JP" altLang="en-US"/>
          </a:p>
        </p:txBody>
      </p:sp>
    </p:spTree>
    <p:extLst>
      <p:ext uri="{BB962C8B-B14F-4D97-AF65-F5344CB8AC3E}">
        <p14:creationId xmlns:p14="http://schemas.microsoft.com/office/powerpoint/2010/main" val="36384309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DF630-029A-C108-E39D-C61885E2E8CE}"/>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274ED1B4-90D9-24BE-5D49-DE19320BF734}"/>
              </a:ext>
            </a:extLst>
          </p:cNvPr>
          <p:cNvSpPr>
            <a:spLocks noGrp="1"/>
          </p:cNvSpPr>
          <p:nvPr>
            <p:ph type="title"/>
          </p:nvPr>
        </p:nvSpPr>
        <p:spPr>
          <a:xfrm>
            <a:off x="1331913" y="287338"/>
            <a:ext cx="7354887" cy="693390"/>
          </a:xfrm>
        </p:spPr>
        <p:txBody>
          <a:bodyPr vert="horz" wrap="square" lIns="91440" tIns="45720" rIns="91440" bIns="45720" numCol="1" anchor="ctr" anchorCtr="0" compatLnSpc="1">
            <a:prstTxWarp prst="textNoShape">
              <a:avLst/>
            </a:prstTxWarp>
            <a:normAutofit/>
          </a:bodyPr>
          <a:lstStyle/>
          <a:p>
            <a:r>
              <a:rPr lang="pt-BR" dirty="0"/>
              <a:t>KHỐI BỘ NHỚ - SRAM CONTROLLER</a:t>
            </a:r>
            <a:endParaRPr lang="en-US" dirty="0"/>
          </a:p>
        </p:txBody>
      </p:sp>
      <p:pic>
        <p:nvPicPr>
          <p:cNvPr id="2" name="Content Placeholder 7">
            <a:extLst>
              <a:ext uri="{FF2B5EF4-FFF2-40B4-BE49-F238E27FC236}">
                <a16:creationId xmlns:a16="http://schemas.microsoft.com/office/drawing/2014/main" id="{D3B264D2-ADC1-B683-FBAC-DD610F74705A}"/>
              </a:ext>
            </a:extLst>
          </p:cNvPr>
          <p:cNvPicPr>
            <a:picLocks noGrp="1" noChangeAspect="1"/>
          </p:cNvPicPr>
          <p:nvPr>
            <p:ph sz="half" idx="1"/>
          </p:nvPr>
        </p:nvPicPr>
        <p:blipFill>
          <a:blip r:embed="rId3"/>
          <a:stretch>
            <a:fillRect/>
          </a:stretch>
        </p:blipFill>
        <p:spPr>
          <a:xfrm>
            <a:off x="468313" y="2533777"/>
            <a:ext cx="4038600" cy="2715958"/>
          </a:xfrm>
          <a:prstGeom prst="rect">
            <a:avLst/>
          </a:prstGeom>
          <a:noFill/>
        </p:spPr>
      </p:pic>
      <p:sp>
        <p:nvSpPr>
          <p:cNvPr id="4" name="Date Placeholder 3">
            <a:extLst>
              <a:ext uri="{FF2B5EF4-FFF2-40B4-BE49-F238E27FC236}">
                <a16:creationId xmlns:a16="http://schemas.microsoft.com/office/drawing/2014/main" id="{7C1D9144-76FC-11A0-3456-8BFA909293E9}"/>
              </a:ext>
            </a:extLst>
          </p:cNvPr>
          <p:cNvSpPr>
            <a:spLocks noGrp="1"/>
          </p:cNvSpPr>
          <p:nvPr>
            <p:ph type="dt" sz="half" idx="10"/>
          </p:nvPr>
        </p:nvSpPr>
        <p:spPr>
          <a:xfrm>
            <a:off x="251520" y="6525344"/>
            <a:ext cx="2133600" cy="288206"/>
          </a:xfrm>
        </p:spPr>
        <p:txBody>
          <a:bodyPr vert="horz" wrap="square" lIns="91440" tIns="45720" rIns="91440" bIns="45720" numCol="1" anchor="t" anchorCtr="0" compatLnSpc="1">
            <a:prstTxWarp prst="textNoShape">
              <a:avLst/>
            </a:prstTxWarp>
            <a:normAutofit/>
          </a:bodyPr>
          <a:lstStyle/>
          <a:p>
            <a:pPr>
              <a:spcAft>
                <a:spcPts val="600"/>
              </a:spcAft>
            </a:pPr>
            <a:fld id="{BA136E8E-48A6-4CCA-8C49-35959C36CF6D}" type="datetime1">
              <a:rPr lang="en-US" altLang="ja-JP" smtClean="0"/>
              <a:pPr>
                <a:spcAft>
                  <a:spcPts val="600"/>
                </a:spcAft>
              </a:pPr>
              <a:t>5/21/2026</a:t>
            </a:fld>
            <a:endParaRPr lang="ja-JP" altLang="en-US"/>
          </a:p>
        </p:txBody>
      </p:sp>
      <p:sp>
        <p:nvSpPr>
          <p:cNvPr id="5" name="Slide Number Placeholder 4">
            <a:extLst>
              <a:ext uri="{FF2B5EF4-FFF2-40B4-BE49-F238E27FC236}">
                <a16:creationId xmlns:a16="http://schemas.microsoft.com/office/drawing/2014/main" id="{4B4D5F98-F0FA-2A82-069D-CC02274C3BB1}"/>
              </a:ext>
            </a:extLst>
          </p:cNvPr>
          <p:cNvSpPr>
            <a:spLocks noGrp="1"/>
          </p:cNvSpPr>
          <p:nvPr>
            <p:ph type="sldNum" sz="quarter" idx="12"/>
          </p:nvPr>
        </p:nvSpPr>
        <p:spPr>
          <a:xfrm>
            <a:off x="7139880" y="6524625"/>
            <a:ext cx="1752600" cy="288925"/>
          </a:xfrm>
        </p:spPr>
        <p:txBody>
          <a:bodyPr vert="horz" wrap="square" lIns="91440" tIns="45720" rIns="91440" bIns="45720" numCol="1" anchor="t" anchorCtr="0" compatLnSpc="1">
            <a:prstTxWarp prst="textNoShape">
              <a:avLst/>
            </a:prstTxWarp>
            <a:normAutofit/>
          </a:bodyPr>
          <a:lstStyle/>
          <a:p>
            <a:pPr>
              <a:spcAft>
                <a:spcPts val="600"/>
              </a:spcAft>
            </a:pPr>
            <a:fld id="{800C8475-47C1-49C9-BEE5-594F8CF4D71F}" type="slidenum">
              <a:rPr lang="ja-JP" altLang="en-US" smtClean="0"/>
              <a:pPr>
                <a:spcAft>
                  <a:spcPts val="600"/>
                </a:spcAft>
              </a:pPr>
              <a:t>16</a:t>
            </a:fld>
            <a:endParaRPr lang="ja-JP" altLang="en-US"/>
          </a:p>
        </p:txBody>
      </p:sp>
      <p:sp>
        <p:nvSpPr>
          <p:cNvPr id="6" name="TextBox 5">
            <a:extLst>
              <a:ext uri="{FF2B5EF4-FFF2-40B4-BE49-F238E27FC236}">
                <a16:creationId xmlns:a16="http://schemas.microsoft.com/office/drawing/2014/main" id="{BF7CDB08-98A2-D446-3851-E3DBB03408B3}"/>
              </a:ext>
            </a:extLst>
          </p:cNvPr>
          <p:cNvSpPr txBox="1"/>
          <p:nvPr/>
        </p:nvSpPr>
        <p:spPr bwMode="auto">
          <a:xfrm>
            <a:off x="4709864" y="1628800"/>
            <a:ext cx="4038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rmAutofit/>
          </a:bodyPr>
          <a:lstStyle/>
          <a:p>
            <a:r>
              <a:rPr lang="vi-VN" b="1" i="1" u="sng" dirty="0"/>
              <a:t>Outputs:</a:t>
            </a:r>
            <a:endParaRPr lang="vi-VN" sz="2400" dirty="0"/>
          </a:p>
          <a:p>
            <a:pPr fontAlgn="base"/>
            <a:r>
              <a:rPr lang="vi-VN" b="1" dirty="0"/>
              <a:t>rd_data [15:0]:</a:t>
            </a:r>
            <a:r>
              <a:rPr lang="vi-VN" dirty="0"/>
              <a:t> Dữ liệu điểm ảnh đọc từ SRAM trả về cho bộ hiển thị VGA.</a:t>
            </a:r>
          </a:p>
          <a:p>
            <a:pPr fontAlgn="base"/>
            <a:r>
              <a:rPr lang="vi-VN" b="1" dirty="0"/>
              <a:t>SRAM_ADDR [17:0]: </a:t>
            </a:r>
            <a:r>
              <a:rPr lang="vi-VN" dirty="0"/>
              <a:t>Đường địa chỉ vật lý kết nối trực tiếp chân chip SRAM.</a:t>
            </a:r>
          </a:p>
          <a:p>
            <a:pPr fontAlgn="base"/>
            <a:r>
              <a:rPr lang="vi-VN" b="1" dirty="0"/>
              <a:t>SRAM_DQ [15:0] (Inout)</a:t>
            </a:r>
            <a:r>
              <a:rPr lang="vi-VN" dirty="0"/>
              <a:t>: Bus dữ liệu song hướng kết nối vật lý với chip SRAM.</a:t>
            </a:r>
          </a:p>
          <a:p>
            <a:r>
              <a:rPr lang="vi-VN" b="1" dirty="0"/>
              <a:t>sram_we_n, sram_oe_n, sram_ub_n, sram_lb_n, sram_ce_n :</a:t>
            </a:r>
            <a:r>
              <a:rPr lang="vi-VN" dirty="0"/>
              <a:t> Các chân điều khiển vật lý của chip SRAM trên kit DE2.  </a:t>
            </a:r>
            <a:endParaRPr lang="en-US" sz="2200" dirty="0">
              <a:latin typeface="Times New Roman" pitchFamily="18" charset="0"/>
              <a:cs typeface="Times New Roman" pitchFamily="18" charset="0"/>
            </a:endParaRPr>
          </a:p>
        </p:txBody>
      </p:sp>
      <p:sp>
        <p:nvSpPr>
          <p:cNvPr id="7" name="Footer Placeholder 6">
            <a:extLst>
              <a:ext uri="{FF2B5EF4-FFF2-40B4-BE49-F238E27FC236}">
                <a16:creationId xmlns:a16="http://schemas.microsoft.com/office/drawing/2014/main" id="{09BCA415-5231-06D3-31F7-23458166EF5A}"/>
              </a:ext>
            </a:extLst>
          </p:cNvPr>
          <p:cNvSpPr>
            <a:spLocks noGrp="1"/>
          </p:cNvSpPr>
          <p:nvPr>
            <p:ph type="ftr" sz="quarter" idx="11"/>
          </p:nvPr>
        </p:nvSpPr>
        <p:spPr>
          <a:xfrm>
            <a:off x="1762101" y="6524625"/>
            <a:ext cx="5618212" cy="288925"/>
          </a:xfrm>
        </p:spPr>
        <p:txBody>
          <a:bodyPr vert="horz" wrap="square" lIns="91440" tIns="45720" rIns="91440" bIns="45720" numCol="1" anchor="t" anchorCtr="0" compatLnSpc="1">
            <a:prstTxWarp prst="textNoShape">
              <a:avLst/>
            </a:prstTxWarp>
            <a:normAutofit/>
          </a:bodyPr>
          <a:lstStyle/>
          <a:p>
            <a:pPr>
              <a:spcAft>
                <a:spcPts val="600"/>
              </a:spcAft>
            </a:pPr>
            <a:r>
              <a:rPr kumimoji="1" lang="en-US" altLang="ja-JP"/>
              <a:t>Copyrights 2020 CE-UIT . All Rights Reserved.</a:t>
            </a:r>
            <a:endParaRPr kumimoji="1" lang="ja-JP" altLang="en-US"/>
          </a:p>
        </p:txBody>
      </p:sp>
    </p:spTree>
    <p:extLst>
      <p:ext uri="{BB962C8B-B14F-4D97-AF65-F5344CB8AC3E}">
        <p14:creationId xmlns:p14="http://schemas.microsoft.com/office/powerpoint/2010/main" val="22987261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CC3A7-241F-B625-333E-29A3F698BCBB}"/>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7587A56F-9027-1078-1848-F9535590FF91}"/>
              </a:ext>
            </a:extLst>
          </p:cNvPr>
          <p:cNvSpPr>
            <a:spLocks noGrp="1"/>
          </p:cNvSpPr>
          <p:nvPr>
            <p:ph type="title"/>
          </p:nvPr>
        </p:nvSpPr>
        <p:spPr>
          <a:xfrm>
            <a:off x="1331913" y="287338"/>
            <a:ext cx="7354887" cy="693390"/>
          </a:xfrm>
        </p:spPr>
        <p:txBody>
          <a:bodyPr vert="horz" wrap="square" lIns="91440" tIns="45720" rIns="91440" bIns="45720" numCol="1" anchor="ctr" anchorCtr="0" compatLnSpc="1">
            <a:prstTxWarp prst="textNoShape">
              <a:avLst/>
            </a:prstTxWarp>
            <a:normAutofit/>
          </a:bodyPr>
          <a:lstStyle/>
          <a:p>
            <a:r>
              <a:rPr lang="pt-BR" dirty="0"/>
              <a:t>KHỐI BỘ NHỚ - SRAM CONTROLLER</a:t>
            </a:r>
            <a:endParaRPr lang="en-US" dirty="0"/>
          </a:p>
        </p:txBody>
      </p:sp>
      <p:pic>
        <p:nvPicPr>
          <p:cNvPr id="2" name="Content Placeholder 7">
            <a:extLst>
              <a:ext uri="{FF2B5EF4-FFF2-40B4-BE49-F238E27FC236}">
                <a16:creationId xmlns:a16="http://schemas.microsoft.com/office/drawing/2014/main" id="{5488D6E5-251F-F3D7-9A15-19F3C0C5BA31}"/>
              </a:ext>
            </a:extLst>
          </p:cNvPr>
          <p:cNvPicPr>
            <a:picLocks noGrp="1" noChangeAspect="1"/>
          </p:cNvPicPr>
          <p:nvPr>
            <p:ph sz="half" idx="1"/>
          </p:nvPr>
        </p:nvPicPr>
        <p:blipFill>
          <a:blip r:embed="rId3"/>
          <a:stretch>
            <a:fillRect/>
          </a:stretch>
        </p:blipFill>
        <p:spPr>
          <a:xfrm>
            <a:off x="468313" y="2533777"/>
            <a:ext cx="4038600" cy="2715958"/>
          </a:xfrm>
          <a:prstGeom prst="rect">
            <a:avLst/>
          </a:prstGeom>
          <a:noFill/>
        </p:spPr>
      </p:pic>
      <p:sp>
        <p:nvSpPr>
          <p:cNvPr id="4" name="Date Placeholder 3">
            <a:extLst>
              <a:ext uri="{FF2B5EF4-FFF2-40B4-BE49-F238E27FC236}">
                <a16:creationId xmlns:a16="http://schemas.microsoft.com/office/drawing/2014/main" id="{D7874718-2178-502F-F06A-D98CC8A834DF}"/>
              </a:ext>
            </a:extLst>
          </p:cNvPr>
          <p:cNvSpPr>
            <a:spLocks noGrp="1"/>
          </p:cNvSpPr>
          <p:nvPr>
            <p:ph type="dt" sz="half" idx="10"/>
          </p:nvPr>
        </p:nvSpPr>
        <p:spPr>
          <a:xfrm>
            <a:off x="251520" y="6525344"/>
            <a:ext cx="2133600" cy="288206"/>
          </a:xfrm>
        </p:spPr>
        <p:txBody>
          <a:bodyPr vert="horz" wrap="square" lIns="91440" tIns="45720" rIns="91440" bIns="45720" numCol="1" anchor="t" anchorCtr="0" compatLnSpc="1">
            <a:prstTxWarp prst="textNoShape">
              <a:avLst/>
            </a:prstTxWarp>
            <a:normAutofit/>
          </a:bodyPr>
          <a:lstStyle/>
          <a:p>
            <a:pPr>
              <a:spcAft>
                <a:spcPts val="600"/>
              </a:spcAft>
            </a:pPr>
            <a:fld id="{BA136E8E-48A6-4CCA-8C49-35959C36CF6D}" type="datetime1">
              <a:rPr lang="en-US" altLang="ja-JP" smtClean="0"/>
              <a:pPr>
                <a:spcAft>
                  <a:spcPts val="600"/>
                </a:spcAft>
              </a:pPr>
              <a:t>5/21/2026</a:t>
            </a:fld>
            <a:endParaRPr lang="ja-JP" altLang="en-US"/>
          </a:p>
        </p:txBody>
      </p:sp>
      <p:sp>
        <p:nvSpPr>
          <p:cNvPr id="5" name="Slide Number Placeholder 4">
            <a:extLst>
              <a:ext uri="{FF2B5EF4-FFF2-40B4-BE49-F238E27FC236}">
                <a16:creationId xmlns:a16="http://schemas.microsoft.com/office/drawing/2014/main" id="{1F35008B-F23A-4FB1-5799-5D2C5E6C9371}"/>
              </a:ext>
            </a:extLst>
          </p:cNvPr>
          <p:cNvSpPr>
            <a:spLocks noGrp="1"/>
          </p:cNvSpPr>
          <p:nvPr>
            <p:ph type="sldNum" sz="quarter" idx="12"/>
          </p:nvPr>
        </p:nvSpPr>
        <p:spPr>
          <a:xfrm>
            <a:off x="7139880" y="6524625"/>
            <a:ext cx="1752600" cy="288925"/>
          </a:xfrm>
        </p:spPr>
        <p:txBody>
          <a:bodyPr vert="horz" wrap="square" lIns="91440" tIns="45720" rIns="91440" bIns="45720" numCol="1" anchor="t" anchorCtr="0" compatLnSpc="1">
            <a:prstTxWarp prst="textNoShape">
              <a:avLst/>
            </a:prstTxWarp>
            <a:normAutofit/>
          </a:bodyPr>
          <a:lstStyle/>
          <a:p>
            <a:pPr>
              <a:spcAft>
                <a:spcPts val="600"/>
              </a:spcAft>
            </a:pPr>
            <a:fld id="{800C8475-47C1-49C9-BEE5-594F8CF4D71F}" type="slidenum">
              <a:rPr lang="ja-JP" altLang="en-US" smtClean="0"/>
              <a:pPr>
                <a:spcAft>
                  <a:spcPts val="600"/>
                </a:spcAft>
              </a:pPr>
              <a:t>17</a:t>
            </a:fld>
            <a:endParaRPr lang="ja-JP" altLang="en-US"/>
          </a:p>
        </p:txBody>
      </p:sp>
      <p:sp>
        <p:nvSpPr>
          <p:cNvPr id="6" name="TextBox 5">
            <a:extLst>
              <a:ext uri="{FF2B5EF4-FFF2-40B4-BE49-F238E27FC236}">
                <a16:creationId xmlns:a16="http://schemas.microsoft.com/office/drawing/2014/main" id="{2B2A3F19-F029-E2A8-0D53-D3E762A8D8EB}"/>
              </a:ext>
            </a:extLst>
          </p:cNvPr>
          <p:cNvSpPr txBox="1"/>
          <p:nvPr/>
        </p:nvSpPr>
        <p:spPr bwMode="auto">
          <a:xfrm>
            <a:off x="4848625" y="1676401"/>
            <a:ext cx="4038600" cy="449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rmAutofit/>
          </a:bodyPr>
          <a:lstStyle/>
          <a:p>
            <a:r>
              <a:rPr lang="en-US" sz="2400" dirty="0" err="1"/>
              <a:t>Bộ</a:t>
            </a:r>
            <a:r>
              <a:rPr lang="en-US" sz="2400" dirty="0"/>
              <a:t> </a:t>
            </a:r>
            <a:r>
              <a:rPr lang="en-US" sz="2400" dirty="0" err="1"/>
              <a:t>điều</a:t>
            </a:r>
            <a:r>
              <a:rPr lang="en-US" sz="2400" dirty="0"/>
              <a:t> </a:t>
            </a:r>
            <a:r>
              <a:rPr lang="en-US" sz="2400" dirty="0" err="1"/>
              <a:t>khiển</a:t>
            </a:r>
            <a:r>
              <a:rPr lang="en-US" sz="2400" dirty="0"/>
              <a:t> </a:t>
            </a:r>
            <a:r>
              <a:rPr lang="en-US" sz="2400" b="1" dirty="0"/>
              <a:t>SRAM</a:t>
            </a:r>
            <a:r>
              <a:rPr lang="en-US" sz="2400" dirty="0"/>
              <a:t> </a:t>
            </a:r>
            <a:r>
              <a:rPr lang="en-US" sz="2400" dirty="0" err="1"/>
              <a:t>đóng</a:t>
            </a:r>
            <a:r>
              <a:rPr lang="en-US" sz="2400" dirty="0"/>
              <a:t> </a:t>
            </a:r>
            <a:r>
              <a:rPr lang="en-US" sz="2400" dirty="0" err="1"/>
              <a:t>vai</a:t>
            </a:r>
            <a:r>
              <a:rPr lang="en-US" sz="2400" dirty="0"/>
              <a:t> </a:t>
            </a:r>
            <a:r>
              <a:rPr lang="en-US" sz="2400" dirty="0" err="1"/>
              <a:t>trò</a:t>
            </a:r>
            <a:r>
              <a:rPr lang="en-US" sz="2400" dirty="0"/>
              <a:t> </a:t>
            </a:r>
            <a:r>
              <a:rPr lang="en-US" sz="2400" dirty="0" err="1"/>
              <a:t>trọng</a:t>
            </a:r>
            <a:r>
              <a:rPr lang="en-US" sz="2400" dirty="0"/>
              <a:t> </a:t>
            </a:r>
            <a:r>
              <a:rPr lang="en-US" sz="2400" dirty="0" err="1"/>
              <a:t>yếu</a:t>
            </a:r>
            <a:r>
              <a:rPr lang="en-US" sz="2400" dirty="0"/>
              <a:t> </a:t>
            </a:r>
            <a:r>
              <a:rPr lang="en-US" sz="2400" dirty="0" err="1"/>
              <a:t>trong</a:t>
            </a:r>
            <a:r>
              <a:rPr lang="en-US" sz="2400" dirty="0"/>
              <a:t> </a:t>
            </a:r>
            <a:r>
              <a:rPr lang="en-US" sz="2400" dirty="0" err="1"/>
              <a:t>việc</a:t>
            </a:r>
            <a:r>
              <a:rPr lang="en-US" sz="2400" dirty="0"/>
              <a:t> </a:t>
            </a:r>
            <a:r>
              <a:rPr lang="en-US" sz="2400" dirty="0" err="1"/>
              <a:t>điều</a:t>
            </a:r>
            <a:r>
              <a:rPr lang="en-US" sz="2400" dirty="0"/>
              <a:t> </a:t>
            </a:r>
            <a:r>
              <a:rPr lang="en-US" sz="2400" dirty="0" err="1"/>
              <a:t>phối</a:t>
            </a:r>
            <a:r>
              <a:rPr lang="en-US" sz="2400" dirty="0"/>
              <a:t> </a:t>
            </a:r>
            <a:r>
              <a:rPr lang="en-US" sz="2400" dirty="0" err="1"/>
              <a:t>quyền</a:t>
            </a:r>
            <a:r>
              <a:rPr lang="en-US" sz="2400" dirty="0"/>
              <a:t> </a:t>
            </a:r>
            <a:r>
              <a:rPr lang="en-US" sz="2400" dirty="0" err="1"/>
              <a:t>truy</a:t>
            </a:r>
            <a:r>
              <a:rPr lang="en-US" sz="2400" dirty="0"/>
              <a:t> </a:t>
            </a:r>
            <a:r>
              <a:rPr lang="en-US" sz="2400" dirty="0" err="1"/>
              <a:t>cập</a:t>
            </a:r>
            <a:r>
              <a:rPr lang="en-US" sz="2400" dirty="0"/>
              <a:t> </a:t>
            </a:r>
            <a:r>
              <a:rPr lang="en-US" sz="2400" dirty="0" err="1"/>
              <a:t>bộ</a:t>
            </a:r>
            <a:r>
              <a:rPr lang="en-US" sz="2400" dirty="0"/>
              <a:t> </a:t>
            </a:r>
            <a:r>
              <a:rPr lang="en-US" sz="2400" dirty="0" err="1"/>
              <a:t>nhớ</a:t>
            </a:r>
            <a:r>
              <a:rPr lang="en-US" sz="2400" dirty="0"/>
              <a:t> </a:t>
            </a:r>
            <a:r>
              <a:rPr lang="en-US" sz="2400" dirty="0" err="1"/>
              <a:t>giữa</a:t>
            </a:r>
            <a:r>
              <a:rPr lang="en-US" sz="2400" dirty="0"/>
              <a:t> </a:t>
            </a:r>
            <a:r>
              <a:rPr lang="en-US" sz="2400" dirty="0" err="1"/>
              <a:t>hai</a:t>
            </a:r>
            <a:r>
              <a:rPr lang="en-US" sz="2400" dirty="0"/>
              <a:t> </a:t>
            </a:r>
            <a:r>
              <a:rPr lang="en-US" sz="2400" dirty="0" err="1"/>
              <a:t>tiến</a:t>
            </a:r>
            <a:r>
              <a:rPr lang="en-US" sz="2400" dirty="0"/>
              <a:t> </a:t>
            </a:r>
            <a:r>
              <a:rPr lang="en-US" sz="2400" dirty="0" err="1"/>
              <a:t>trình</a:t>
            </a:r>
            <a:r>
              <a:rPr lang="en-US" sz="2400" dirty="0"/>
              <a:t> </a:t>
            </a:r>
            <a:r>
              <a:rPr lang="en-US" sz="2400" dirty="0" err="1"/>
              <a:t>bất</a:t>
            </a:r>
            <a:r>
              <a:rPr lang="en-US" sz="2400" dirty="0"/>
              <a:t> </a:t>
            </a:r>
            <a:r>
              <a:rPr lang="en-US" sz="2400" dirty="0" err="1"/>
              <a:t>đồng</a:t>
            </a:r>
            <a:r>
              <a:rPr lang="en-US" sz="2400" dirty="0"/>
              <a:t> </a:t>
            </a:r>
            <a:r>
              <a:rPr lang="en-US" sz="2400" dirty="0" err="1"/>
              <a:t>bộ</a:t>
            </a:r>
            <a:r>
              <a:rPr lang="en-US" sz="2400" dirty="0"/>
              <a:t>, </a:t>
            </a:r>
            <a:r>
              <a:rPr lang="en-US" sz="2400" dirty="0" err="1"/>
              <a:t>mặc</a:t>
            </a:r>
            <a:r>
              <a:rPr lang="en-US" sz="2400" dirty="0"/>
              <a:t> </a:t>
            </a:r>
            <a:r>
              <a:rPr lang="en-US" sz="2400" dirty="0" err="1"/>
              <a:t>định</a:t>
            </a:r>
            <a:r>
              <a:rPr lang="en-US" sz="2400" dirty="0"/>
              <a:t> </a:t>
            </a:r>
            <a:r>
              <a:rPr lang="en-US" sz="2400" dirty="0" err="1"/>
              <a:t>sẽ</a:t>
            </a:r>
            <a:r>
              <a:rPr lang="en-US" sz="2400" dirty="0"/>
              <a:t> </a:t>
            </a:r>
            <a:r>
              <a:rPr lang="en-US" sz="2400" dirty="0" err="1"/>
              <a:t>cố</a:t>
            </a:r>
            <a:r>
              <a:rPr lang="en-US" sz="2400" dirty="0"/>
              <a:t> </a:t>
            </a:r>
            <a:r>
              <a:rPr lang="en-US" sz="2400" dirty="0" err="1"/>
              <a:t>định</a:t>
            </a:r>
            <a:r>
              <a:rPr lang="en-US" sz="2400" dirty="0"/>
              <a:t> </a:t>
            </a:r>
            <a:r>
              <a:rPr lang="en-US" sz="2400" dirty="0" err="1"/>
              <a:t>các</a:t>
            </a:r>
            <a:r>
              <a:rPr lang="en-US" sz="2400" dirty="0"/>
              <a:t> </a:t>
            </a:r>
            <a:r>
              <a:rPr lang="en-US" sz="2400" dirty="0" err="1"/>
              <a:t>chân</a:t>
            </a:r>
            <a:r>
              <a:rPr lang="en-US" sz="2400" dirty="0"/>
              <a:t> </a:t>
            </a:r>
            <a:r>
              <a:rPr lang="en-US" sz="2400" dirty="0" err="1"/>
              <a:t>tín</a:t>
            </a:r>
            <a:r>
              <a:rPr lang="en-US" sz="2400" dirty="0"/>
              <a:t> </a:t>
            </a:r>
            <a:r>
              <a:rPr lang="en-US" sz="2400" dirty="0" err="1"/>
              <a:t>hiệu</a:t>
            </a:r>
            <a:r>
              <a:rPr lang="en-US" sz="2400" dirty="0"/>
              <a:t> </a:t>
            </a:r>
            <a:r>
              <a:rPr lang="en-US" sz="2400" b="1" dirty="0"/>
              <a:t>SRAM_CE_N, SRAM_OE_N, SRAM_UB_N, </a:t>
            </a:r>
            <a:r>
              <a:rPr lang="en-US" sz="2400" b="1" dirty="0" err="1"/>
              <a:t>và</a:t>
            </a:r>
            <a:r>
              <a:rPr lang="en-US" sz="2400" b="1" dirty="0"/>
              <a:t> SRAM_LB_N</a:t>
            </a:r>
            <a:r>
              <a:rPr lang="en-US" sz="2400" dirty="0"/>
              <a:t> ở </a:t>
            </a:r>
            <a:r>
              <a:rPr lang="en-US" sz="2400" dirty="0" err="1"/>
              <a:t>mức</a:t>
            </a:r>
            <a:r>
              <a:rPr lang="en-US" sz="2400" dirty="0"/>
              <a:t> logic </a:t>
            </a:r>
            <a:r>
              <a:rPr lang="en-US" sz="2400" b="1" dirty="0"/>
              <a:t>0</a:t>
            </a:r>
            <a:r>
              <a:rPr lang="en-US" sz="2400" dirty="0"/>
              <a:t> </a:t>
            </a:r>
            <a:r>
              <a:rPr lang="en-US" sz="2400" dirty="0" err="1"/>
              <a:t>để</a:t>
            </a:r>
            <a:r>
              <a:rPr lang="en-US" sz="2400" dirty="0"/>
              <a:t> </a:t>
            </a:r>
            <a:r>
              <a:rPr lang="en-US" sz="2400" dirty="0" err="1"/>
              <a:t>đảm</a:t>
            </a:r>
            <a:r>
              <a:rPr lang="en-US" sz="2400" dirty="0"/>
              <a:t> </a:t>
            </a:r>
            <a:r>
              <a:rPr lang="en-US" sz="2400" dirty="0" err="1"/>
              <a:t>bảo</a:t>
            </a:r>
            <a:r>
              <a:rPr lang="en-US" sz="2400" dirty="0"/>
              <a:t> </a:t>
            </a:r>
            <a:r>
              <a:rPr lang="en-US" sz="2400" dirty="0" err="1"/>
              <a:t>luôn</a:t>
            </a:r>
            <a:r>
              <a:rPr lang="en-US" sz="2400" dirty="0"/>
              <a:t> </a:t>
            </a:r>
            <a:r>
              <a:rPr lang="en-US" sz="2400" dirty="0" err="1"/>
              <a:t>hoạt</a:t>
            </a:r>
            <a:r>
              <a:rPr lang="en-US" sz="2400" dirty="0"/>
              <a:t> </a:t>
            </a:r>
            <a:r>
              <a:rPr lang="en-US" sz="2400" dirty="0" err="1"/>
              <a:t>động</a:t>
            </a:r>
            <a:r>
              <a:rPr lang="en-US" sz="2400" dirty="0"/>
              <a:t>, </a:t>
            </a:r>
            <a:r>
              <a:rPr lang="en-US" sz="2400" dirty="0" err="1"/>
              <a:t>sẵn</a:t>
            </a:r>
            <a:r>
              <a:rPr lang="en-US" sz="2400" dirty="0"/>
              <a:t> </a:t>
            </a:r>
            <a:r>
              <a:rPr lang="en-US" sz="2400" dirty="0" err="1"/>
              <a:t>sàng</a:t>
            </a:r>
            <a:r>
              <a:rPr lang="en-US" sz="2400" dirty="0"/>
              <a:t> </a:t>
            </a:r>
            <a:r>
              <a:rPr lang="en-US" sz="2400" dirty="0" err="1"/>
              <a:t>cho</a:t>
            </a:r>
            <a:r>
              <a:rPr lang="en-US" sz="2400" dirty="0"/>
              <a:t> </a:t>
            </a:r>
            <a:r>
              <a:rPr lang="en-US" sz="2400" dirty="0" err="1"/>
              <a:t>việc</a:t>
            </a:r>
            <a:r>
              <a:rPr lang="en-US" sz="2400" dirty="0"/>
              <a:t> </a:t>
            </a:r>
            <a:r>
              <a:rPr lang="en-US" sz="2400" dirty="0" err="1"/>
              <a:t>ghi</a:t>
            </a:r>
            <a:r>
              <a:rPr lang="en-US" sz="2400" dirty="0"/>
              <a:t> </a:t>
            </a:r>
            <a:r>
              <a:rPr lang="en-US" sz="2400" dirty="0" err="1"/>
              <a:t>và</a:t>
            </a:r>
            <a:r>
              <a:rPr lang="en-US" sz="2400" dirty="0"/>
              <a:t> </a:t>
            </a:r>
            <a:r>
              <a:rPr lang="en-US" sz="2400" dirty="0" err="1"/>
              <a:t>đọc</a:t>
            </a:r>
            <a:r>
              <a:rPr lang="en-US" sz="2400" dirty="0"/>
              <a:t> </a:t>
            </a:r>
            <a:r>
              <a:rPr lang="en-US" sz="2400" dirty="0" err="1"/>
              <a:t>dữ</a:t>
            </a:r>
            <a:r>
              <a:rPr lang="en-US" sz="2400" dirty="0"/>
              <a:t> </a:t>
            </a:r>
            <a:r>
              <a:rPr lang="en-US" sz="2400" dirty="0" err="1"/>
              <a:t>liệu</a:t>
            </a:r>
            <a:r>
              <a:rPr lang="en-US" sz="2400" dirty="0"/>
              <a:t> 16-bit.</a:t>
            </a:r>
            <a:endParaRPr lang="vi-VN" sz="2400" dirty="0"/>
          </a:p>
        </p:txBody>
      </p:sp>
      <p:sp>
        <p:nvSpPr>
          <p:cNvPr id="7" name="Footer Placeholder 6">
            <a:extLst>
              <a:ext uri="{FF2B5EF4-FFF2-40B4-BE49-F238E27FC236}">
                <a16:creationId xmlns:a16="http://schemas.microsoft.com/office/drawing/2014/main" id="{8E9ECE64-E23D-F679-5FBD-E1C94D007FA7}"/>
              </a:ext>
            </a:extLst>
          </p:cNvPr>
          <p:cNvSpPr>
            <a:spLocks noGrp="1"/>
          </p:cNvSpPr>
          <p:nvPr>
            <p:ph type="ftr" sz="quarter" idx="11"/>
          </p:nvPr>
        </p:nvSpPr>
        <p:spPr>
          <a:xfrm>
            <a:off x="1762101" y="6524625"/>
            <a:ext cx="5618212" cy="288925"/>
          </a:xfrm>
        </p:spPr>
        <p:txBody>
          <a:bodyPr vert="horz" wrap="square" lIns="91440" tIns="45720" rIns="91440" bIns="45720" numCol="1" anchor="t" anchorCtr="0" compatLnSpc="1">
            <a:prstTxWarp prst="textNoShape">
              <a:avLst/>
            </a:prstTxWarp>
            <a:normAutofit/>
          </a:bodyPr>
          <a:lstStyle/>
          <a:p>
            <a:pPr>
              <a:spcAft>
                <a:spcPts val="600"/>
              </a:spcAft>
            </a:pPr>
            <a:r>
              <a:rPr kumimoji="1" lang="en-US" altLang="ja-JP"/>
              <a:t>Copyrights 2020 CE-UIT . All Rights Reserved.</a:t>
            </a:r>
            <a:endParaRPr kumimoji="1" lang="ja-JP" altLang="en-US"/>
          </a:p>
        </p:txBody>
      </p:sp>
    </p:spTree>
    <p:extLst>
      <p:ext uri="{BB962C8B-B14F-4D97-AF65-F5344CB8AC3E}">
        <p14:creationId xmlns:p14="http://schemas.microsoft.com/office/powerpoint/2010/main" val="9934888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DEF0B-4400-D152-2ED2-A9F3C668D8BA}"/>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B4B982F8-4DCF-FE89-A20E-4DA863967489}"/>
              </a:ext>
            </a:extLst>
          </p:cNvPr>
          <p:cNvSpPr>
            <a:spLocks noGrp="1"/>
          </p:cNvSpPr>
          <p:nvPr>
            <p:ph type="title"/>
          </p:nvPr>
        </p:nvSpPr>
        <p:spPr>
          <a:xfrm>
            <a:off x="1331913" y="287338"/>
            <a:ext cx="7354887" cy="693390"/>
          </a:xfrm>
        </p:spPr>
        <p:txBody>
          <a:bodyPr vert="horz" wrap="square" lIns="91440" tIns="45720" rIns="91440" bIns="45720" numCol="1" anchor="ctr" anchorCtr="0" compatLnSpc="1">
            <a:prstTxWarp prst="textNoShape">
              <a:avLst/>
            </a:prstTxWarp>
            <a:normAutofit/>
          </a:bodyPr>
          <a:lstStyle/>
          <a:p>
            <a:r>
              <a:rPr lang="pt-BR" dirty="0"/>
              <a:t>KHỐI BỘ NHỚ - SRAM CONTROLLER</a:t>
            </a:r>
            <a:endParaRPr lang="en-US" dirty="0"/>
          </a:p>
        </p:txBody>
      </p:sp>
      <p:pic>
        <p:nvPicPr>
          <p:cNvPr id="2" name="Content Placeholder 7">
            <a:extLst>
              <a:ext uri="{FF2B5EF4-FFF2-40B4-BE49-F238E27FC236}">
                <a16:creationId xmlns:a16="http://schemas.microsoft.com/office/drawing/2014/main" id="{20F20F90-ECF4-BF25-BC65-39E496A736C7}"/>
              </a:ext>
            </a:extLst>
          </p:cNvPr>
          <p:cNvPicPr>
            <a:picLocks noGrp="1" noChangeAspect="1"/>
          </p:cNvPicPr>
          <p:nvPr>
            <p:ph sz="half" idx="1"/>
          </p:nvPr>
        </p:nvPicPr>
        <p:blipFill>
          <a:blip r:embed="rId3"/>
          <a:stretch>
            <a:fillRect/>
          </a:stretch>
        </p:blipFill>
        <p:spPr>
          <a:xfrm>
            <a:off x="468313" y="2533777"/>
            <a:ext cx="4038600" cy="2715958"/>
          </a:xfrm>
          <a:prstGeom prst="rect">
            <a:avLst/>
          </a:prstGeom>
          <a:noFill/>
        </p:spPr>
      </p:pic>
      <p:sp>
        <p:nvSpPr>
          <p:cNvPr id="4" name="Date Placeholder 3">
            <a:extLst>
              <a:ext uri="{FF2B5EF4-FFF2-40B4-BE49-F238E27FC236}">
                <a16:creationId xmlns:a16="http://schemas.microsoft.com/office/drawing/2014/main" id="{3BE4D123-0142-ABA3-1609-11A19B77594D}"/>
              </a:ext>
            </a:extLst>
          </p:cNvPr>
          <p:cNvSpPr>
            <a:spLocks noGrp="1"/>
          </p:cNvSpPr>
          <p:nvPr>
            <p:ph type="dt" sz="half" idx="10"/>
          </p:nvPr>
        </p:nvSpPr>
        <p:spPr>
          <a:xfrm>
            <a:off x="251520" y="6525344"/>
            <a:ext cx="2133600" cy="288206"/>
          </a:xfrm>
        </p:spPr>
        <p:txBody>
          <a:bodyPr vert="horz" wrap="square" lIns="91440" tIns="45720" rIns="91440" bIns="45720" numCol="1" anchor="t" anchorCtr="0" compatLnSpc="1">
            <a:prstTxWarp prst="textNoShape">
              <a:avLst/>
            </a:prstTxWarp>
            <a:normAutofit/>
          </a:bodyPr>
          <a:lstStyle/>
          <a:p>
            <a:pPr>
              <a:spcAft>
                <a:spcPts val="600"/>
              </a:spcAft>
            </a:pPr>
            <a:fld id="{BA136E8E-48A6-4CCA-8C49-35959C36CF6D}" type="datetime1">
              <a:rPr lang="en-US" altLang="ja-JP" smtClean="0"/>
              <a:pPr>
                <a:spcAft>
                  <a:spcPts val="600"/>
                </a:spcAft>
              </a:pPr>
              <a:t>5/21/2026</a:t>
            </a:fld>
            <a:endParaRPr lang="ja-JP" altLang="en-US"/>
          </a:p>
        </p:txBody>
      </p:sp>
      <p:sp>
        <p:nvSpPr>
          <p:cNvPr id="5" name="Slide Number Placeholder 4">
            <a:extLst>
              <a:ext uri="{FF2B5EF4-FFF2-40B4-BE49-F238E27FC236}">
                <a16:creationId xmlns:a16="http://schemas.microsoft.com/office/drawing/2014/main" id="{6A87F2C7-6122-9C0B-DE7E-CDD1195178EC}"/>
              </a:ext>
            </a:extLst>
          </p:cNvPr>
          <p:cNvSpPr>
            <a:spLocks noGrp="1"/>
          </p:cNvSpPr>
          <p:nvPr>
            <p:ph type="sldNum" sz="quarter" idx="12"/>
          </p:nvPr>
        </p:nvSpPr>
        <p:spPr>
          <a:xfrm>
            <a:off x="7139880" y="6524625"/>
            <a:ext cx="1752600" cy="288925"/>
          </a:xfrm>
        </p:spPr>
        <p:txBody>
          <a:bodyPr vert="horz" wrap="square" lIns="91440" tIns="45720" rIns="91440" bIns="45720" numCol="1" anchor="t" anchorCtr="0" compatLnSpc="1">
            <a:prstTxWarp prst="textNoShape">
              <a:avLst/>
            </a:prstTxWarp>
            <a:normAutofit/>
          </a:bodyPr>
          <a:lstStyle/>
          <a:p>
            <a:pPr>
              <a:spcAft>
                <a:spcPts val="600"/>
              </a:spcAft>
            </a:pPr>
            <a:fld id="{800C8475-47C1-49C9-BEE5-594F8CF4D71F}" type="slidenum">
              <a:rPr lang="ja-JP" altLang="en-US" smtClean="0"/>
              <a:pPr>
                <a:spcAft>
                  <a:spcPts val="600"/>
                </a:spcAft>
              </a:pPr>
              <a:t>18</a:t>
            </a:fld>
            <a:endParaRPr lang="ja-JP" altLang="en-US"/>
          </a:p>
        </p:txBody>
      </p:sp>
      <p:sp>
        <p:nvSpPr>
          <p:cNvPr id="6" name="TextBox 5">
            <a:extLst>
              <a:ext uri="{FF2B5EF4-FFF2-40B4-BE49-F238E27FC236}">
                <a16:creationId xmlns:a16="http://schemas.microsoft.com/office/drawing/2014/main" id="{115D7614-3C38-7F5E-F7AC-9AB74E132C6D}"/>
              </a:ext>
            </a:extLst>
          </p:cNvPr>
          <p:cNvSpPr txBox="1"/>
          <p:nvPr/>
        </p:nvSpPr>
        <p:spPr bwMode="auto">
          <a:xfrm>
            <a:off x="4848625" y="1676401"/>
            <a:ext cx="4038600" cy="449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rmAutofit/>
          </a:bodyPr>
          <a:lstStyle/>
          <a:p>
            <a:r>
              <a:rPr lang="vi-VN" sz="2400" dirty="0"/>
              <a:t>Khi ghi </a:t>
            </a:r>
            <a:r>
              <a:rPr lang="vi-VN" sz="2400" b="1" dirty="0"/>
              <a:t>(</a:t>
            </a:r>
            <a:r>
              <a:rPr lang="vi-VN" b="1" dirty="0"/>
              <a:t>wr_req = 1</a:t>
            </a:r>
            <a:r>
              <a:rPr lang="vi-VN" sz="2400" b="1" dirty="0"/>
              <a:t>)</a:t>
            </a:r>
            <a:r>
              <a:rPr lang="vi-VN" sz="2400" dirty="0"/>
              <a:t>:</a:t>
            </a:r>
            <a:r>
              <a:rPr lang="vi-VN" sz="2400" b="1" dirty="0"/>
              <a:t> </a:t>
            </a:r>
            <a:r>
              <a:rPr lang="vi-VN" sz="2400" dirty="0"/>
              <a:t>FPGA chủ động lái bus, đẩy dữ liệu </a:t>
            </a:r>
            <a:r>
              <a:rPr lang="vi-VN" dirty="0"/>
              <a:t>wr_data</a:t>
            </a:r>
            <a:r>
              <a:rPr lang="vi-VN" sz="2400" dirty="0"/>
              <a:t> ra chân </a:t>
            </a:r>
            <a:r>
              <a:rPr lang="vi-VN" dirty="0"/>
              <a:t>SRAM_DQ</a:t>
            </a:r>
            <a:r>
              <a:rPr lang="vi-VN" sz="2400" dirty="0"/>
              <a:t>.</a:t>
            </a:r>
          </a:p>
          <a:p>
            <a:r>
              <a:rPr lang="vi-VN" sz="2400" dirty="0"/>
              <a:t>Khi đọc </a:t>
            </a:r>
            <a:r>
              <a:rPr lang="vi-VN" sz="2400" b="1" dirty="0"/>
              <a:t>(</a:t>
            </a:r>
            <a:r>
              <a:rPr lang="vi-VN" b="1" dirty="0"/>
              <a:t>wr_req = 0</a:t>
            </a:r>
            <a:r>
              <a:rPr lang="vi-VN" sz="2400" b="1" dirty="0"/>
              <a:t>)</a:t>
            </a:r>
            <a:r>
              <a:rPr lang="en-US" sz="2400" dirty="0"/>
              <a:t>:</a:t>
            </a:r>
            <a:r>
              <a:rPr lang="vi-VN" sz="2400" b="1" dirty="0"/>
              <a:t> </a:t>
            </a:r>
            <a:r>
              <a:rPr lang="vi-VN" sz="2400" dirty="0"/>
              <a:t>FPGA lập tức buông lỏng đường truyền bằng cách đưa ngõ ra về trạng thái trở kháng cao </a:t>
            </a:r>
            <a:r>
              <a:rPr lang="vi-VN" dirty="0"/>
              <a:t>16'hzzzz</a:t>
            </a:r>
            <a:r>
              <a:rPr lang="vi-VN" sz="2400" dirty="0"/>
              <a:t>. Lúc này chip SRAM ngoại vi sẽ toàn quyền điều khiển đường dây để trả dữ liệu về thanh ghi chốt </a:t>
            </a:r>
            <a:r>
              <a:rPr lang="vi-VN" dirty="0"/>
              <a:t>rd_data</a:t>
            </a:r>
            <a:r>
              <a:rPr lang="vi-VN" sz="2400" dirty="0"/>
              <a:t>.</a:t>
            </a:r>
          </a:p>
        </p:txBody>
      </p:sp>
      <p:sp>
        <p:nvSpPr>
          <p:cNvPr id="7" name="Footer Placeholder 6">
            <a:extLst>
              <a:ext uri="{FF2B5EF4-FFF2-40B4-BE49-F238E27FC236}">
                <a16:creationId xmlns:a16="http://schemas.microsoft.com/office/drawing/2014/main" id="{4D851EE9-355C-93A9-AFDC-D2789FCEF0B9}"/>
              </a:ext>
            </a:extLst>
          </p:cNvPr>
          <p:cNvSpPr>
            <a:spLocks noGrp="1"/>
          </p:cNvSpPr>
          <p:nvPr>
            <p:ph type="ftr" sz="quarter" idx="11"/>
          </p:nvPr>
        </p:nvSpPr>
        <p:spPr>
          <a:xfrm>
            <a:off x="1762101" y="6524625"/>
            <a:ext cx="5618212" cy="288925"/>
          </a:xfrm>
        </p:spPr>
        <p:txBody>
          <a:bodyPr vert="horz" wrap="square" lIns="91440" tIns="45720" rIns="91440" bIns="45720" numCol="1" anchor="t" anchorCtr="0" compatLnSpc="1">
            <a:prstTxWarp prst="textNoShape">
              <a:avLst/>
            </a:prstTxWarp>
            <a:normAutofit/>
          </a:bodyPr>
          <a:lstStyle/>
          <a:p>
            <a:pPr>
              <a:spcAft>
                <a:spcPts val="600"/>
              </a:spcAft>
            </a:pPr>
            <a:r>
              <a:rPr kumimoji="1" lang="en-US" altLang="ja-JP"/>
              <a:t>Copyrights 2020 CE-UIT . All Rights Reserved.</a:t>
            </a:r>
            <a:endParaRPr kumimoji="1" lang="ja-JP" altLang="en-US"/>
          </a:p>
        </p:txBody>
      </p:sp>
    </p:spTree>
    <p:extLst>
      <p:ext uri="{BB962C8B-B14F-4D97-AF65-F5344CB8AC3E}">
        <p14:creationId xmlns:p14="http://schemas.microsoft.com/office/powerpoint/2010/main" val="2034578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31A3A-7A06-614D-A76C-F738A439EE7F}"/>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3C67B295-4A1F-3BC8-8C16-14E7B8661C96}"/>
              </a:ext>
            </a:extLst>
          </p:cNvPr>
          <p:cNvSpPr>
            <a:spLocks noGrp="1"/>
          </p:cNvSpPr>
          <p:nvPr>
            <p:ph type="title"/>
          </p:nvPr>
        </p:nvSpPr>
        <p:spPr>
          <a:xfrm>
            <a:off x="1331913" y="287338"/>
            <a:ext cx="7354887" cy="693390"/>
          </a:xfrm>
        </p:spPr>
        <p:txBody>
          <a:bodyPr/>
          <a:lstStyle/>
          <a:p>
            <a:r>
              <a:rPr lang="en-US" sz="2800" dirty="0"/>
              <a:t>KHỐI HIỂN THỊ - VGA CONTROLLER &amp; CLOCK DIVIDER</a:t>
            </a:r>
          </a:p>
        </p:txBody>
      </p:sp>
      <p:pic>
        <p:nvPicPr>
          <p:cNvPr id="3" name="Content Placeholder 2">
            <a:extLst>
              <a:ext uri="{FF2B5EF4-FFF2-40B4-BE49-F238E27FC236}">
                <a16:creationId xmlns:a16="http://schemas.microsoft.com/office/drawing/2014/main" id="{3E74B23F-0381-50A1-E23B-21D873069293}"/>
              </a:ext>
            </a:extLst>
          </p:cNvPr>
          <p:cNvPicPr>
            <a:picLocks noGrp="1" noChangeAspect="1"/>
          </p:cNvPicPr>
          <p:nvPr>
            <p:ph idx="1"/>
          </p:nvPr>
        </p:nvPicPr>
        <p:blipFill>
          <a:blip r:embed="rId2"/>
          <a:stretch>
            <a:fillRect/>
          </a:stretch>
        </p:blipFill>
        <p:spPr>
          <a:xfrm>
            <a:off x="250130" y="1447800"/>
            <a:ext cx="8642350" cy="1583748"/>
          </a:xfrm>
          <a:prstGeom prst="rect">
            <a:avLst/>
          </a:prstGeom>
        </p:spPr>
      </p:pic>
      <p:sp>
        <p:nvSpPr>
          <p:cNvPr id="4" name="Date Placeholder 3">
            <a:extLst>
              <a:ext uri="{FF2B5EF4-FFF2-40B4-BE49-F238E27FC236}">
                <a16:creationId xmlns:a16="http://schemas.microsoft.com/office/drawing/2014/main" id="{B8DBC628-93BB-D6E1-8CAB-55376EAD9DE3}"/>
              </a:ext>
            </a:extLst>
          </p:cNvPr>
          <p:cNvSpPr>
            <a:spLocks noGrp="1"/>
          </p:cNvSpPr>
          <p:nvPr>
            <p:ph type="dt" sz="half" idx="10"/>
          </p:nvPr>
        </p:nvSpPr>
        <p:spPr>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5/21/2026</a:t>
            </a:fld>
            <a:endParaRPr kumimoji="1" lang="ja-JP" altLang="en-US"/>
          </a:p>
        </p:txBody>
      </p:sp>
      <p:sp>
        <p:nvSpPr>
          <p:cNvPr id="5" name="Slide Number Placeholder 4">
            <a:extLst>
              <a:ext uri="{FF2B5EF4-FFF2-40B4-BE49-F238E27FC236}">
                <a16:creationId xmlns:a16="http://schemas.microsoft.com/office/drawing/2014/main" id="{4C7C314F-6542-70ED-D597-50102B5E6297}"/>
              </a:ext>
            </a:extLst>
          </p:cNvPr>
          <p:cNvSpPr>
            <a:spLocks noGrp="1"/>
          </p:cNvSpPr>
          <p:nvPr>
            <p:ph type="sldNum" sz="quarter" idx="12"/>
          </p:nvPr>
        </p:nvSpPr>
        <p:spPr>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19</a:t>
            </a:fld>
            <a:endParaRPr kumimoji="1" lang="ja-JP" altLang="en-US"/>
          </a:p>
        </p:txBody>
      </p:sp>
      <p:sp>
        <p:nvSpPr>
          <p:cNvPr id="7" name="Footer Placeholder 6">
            <a:extLst>
              <a:ext uri="{FF2B5EF4-FFF2-40B4-BE49-F238E27FC236}">
                <a16:creationId xmlns:a16="http://schemas.microsoft.com/office/drawing/2014/main" id="{29D9F260-8F59-8F3C-1099-70066E0F121A}"/>
              </a:ext>
            </a:extLst>
          </p:cNvPr>
          <p:cNvSpPr>
            <a:spLocks noGrp="1"/>
          </p:cNvSpPr>
          <p:nvPr>
            <p:ph type="ftr" sz="quarter" idx="11"/>
          </p:nvPr>
        </p:nvSpPr>
        <p:spPr>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6" name="TextBox 5">
            <a:extLst>
              <a:ext uri="{FF2B5EF4-FFF2-40B4-BE49-F238E27FC236}">
                <a16:creationId xmlns:a16="http://schemas.microsoft.com/office/drawing/2014/main" id="{A1A4F004-AC05-39DD-411D-668B55136DFB}"/>
              </a:ext>
            </a:extLst>
          </p:cNvPr>
          <p:cNvSpPr txBox="1"/>
          <p:nvPr/>
        </p:nvSpPr>
        <p:spPr>
          <a:xfrm>
            <a:off x="1159494" y="3245505"/>
            <a:ext cx="5943600" cy="2164695"/>
          </a:xfrm>
          <a:prstGeom prst="rect">
            <a:avLst/>
          </a:prstGeom>
          <a:noFill/>
        </p:spPr>
        <p:txBody>
          <a:bodyPr wrap="square">
            <a:spAutoFit/>
          </a:bodyPr>
          <a:lstStyle/>
          <a:p>
            <a:pPr rtl="0">
              <a:spcAft>
                <a:spcPts val="800"/>
              </a:spcAft>
              <a:buNone/>
            </a:pPr>
            <a:r>
              <a:rPr lang="vi-VN" sz="1800" b="1" i="1" u="sng" dirty="0">
                <a:solidFill>
                  <a:srgbClr val="000000"/>
                </a:solidFill>
                <a:effectLst/>
                <a:latin typeface="Times New Roman" panose="02020603050405020304" pitchFamily="18" charset="0"/>
              </a:rPr>
              <a:t>Inputs:</a:t>
            </a:r>
            <a:endParaRPr lang="vi-VN" b="0" dirty="0">
              <a:effectLst/>
            </a:endParaRPr>
          </a:p>
          <a:p>
            <a:pPr rtl="0" fontAlgn="base">
              <a:spcAft>
                <a:spcPts val="800"/>
              </a:spcAft>
              <a:buFont typeface="Arial" panose="020B0604020202020204" pitchFamily="34" charset="0"/>
              <a:buChar char="•"/>
            </a:pPr>
            <a:r>
              <a:rPr lang="vi-VN" sz="1800" b="1" i="0" u="none" strike="noStrike" dirty="0">
                <a:solidFill>
                  <a:srgbClr val="000000"/>
                </a:solidFill>
                <a:effectLst/>
                <a:latin typeface="Times New Roman" panose="02020603050405020304" pitchFamily="18" charset="0"/>
              </a:rPr>
              <a:t>CLOCK_50:</a:t>
            </a:r>
            <a:r>
              <a:rPr lang="vi-VN" sz="1800" b="0" i="0" u="none" strike="noStrike" dirty="0">
                <a:solidFill>
                  <a:srgbClr val="000000"/>
                </a:solidFill>
                <a:effectLst/>
                <a:latin typeface="Times New Roman" panose="02020603050405020304" pitchFamily="18" charset="0"/>
              </a:rPr>
              <a:t> Chân clock 50MHz của hệ thống.</a:t>
            </a:r>
            <a:endParaRPr lang="vi-VN" sz="1800" b="1" i="0" u="none" strike="noStrike" dirty="0">
              <a:solidFill>
                <a:srgbClr val="000000"/>
              </a:solidFill>
              <a:effectLst/>
              <a:latin typeface="Times New Roman" panose="02020603050405020304" pitchFamily="18" charset="0"/>
            </a:endParaRPr>
          </a:p>
          <a:p>
            <a:pPr rtl="0" fontAlgn="base">
              <a:spcAft>
                <a:spcPts val="800"/>
              </a:spcAft>
              <a:buFont typeface="Arial" panose="020B0604020202020204" pitchFamily="34" charset="0"/>
              <a:buChar char="•"/>
            </a:pPr>
            <a:r>
              <a:rPr lang="vi-VN" sz="1800" b="1" i="0" u="none" strike="noStrike" dirty="0">
                <a:solidFill>
                  <a:srgbClr val="000000"/>
                </a:solidFill>
                <a:effectLst/>
                <a:latin typeface="Times New Roman" panose="02020603050405020304" pitchFamily="18" charset="0"/>
              </a:rPr>
              <a:t>KEY[0:0]: </a:t>
            </a:r>
            <a:r>
              <a:rPr lang="vi-VN" sz="1800" b="0" i="0" u="none" strike="noStrike" dirty="0">
                <a:solidFill>
                  <a:srgbClr val="000000"/>
                </a:solidFill>
                <a:effectLst/>
                <a:latin typeface="Times New Roman" panose="02020603050405020304" pitchFamily="18" charset="0"/>
              </a:rPr>
              <a:t>Chân reset.</a:t>
            </a:r>
            <a:endParaRPr lang="vi-VN" sz="1800" b="1" i="0" u="none" strike="noStrike" dirty="0">
              <a:solidFill>
                <a:srgbClr val="000000"/>
              </a:solidFill>
              <a:effectLst/>
              <a:latin typeface="Times New Roman" panose="02020603050405020304" pitchFamily="18" charset="0"/>
            </a:endParaRPr>
          </a:p>
          <a:p>
            <a:pPr rtl="0" fontAlgn="base">
              <a:spcAft>
                <a:spcPts val="800"/>
              </a:spcAft>
              <a:buFont typeface="Arial" panose="020B0604020202020204" pitchFamily="34" charset="0"/>
              <a:buChar char="•"/>
            </a:pPr>
            <a:r>
              <a:rPr lang="vi-VN" sz="1800" b="1" i="0" u="none" strike="noStrike" dirty="0">
                <a:solidFill>
                  <a:srgbClr val="000000"/>
                </a:solidFill>
                <a:effectLst/>
                <a:latin typeface="Times New Roman" panose="02020603050405020304" pitchFamily="18" charset="0"/>
              </a:rPr>
              <a:t>Grayscale: </a:t>
            </a:r>
            <a:r>
              <a:rPr lang="vi-VN" sz="1800" b="0" i="0" u="none" strike="noStrike" dirty="0">
                <a:solidFill>
                  <a:srgbClr val="000000"/>
                </a:solidFill>
                <a:effectLst/>
                <a:latin typeface="Times New Roman" panose="02020603050405020304" pitchFamily="18" charset="0"/>
              </a:rPr>
              <a:t>Tín hiệu cho phép gray scale hình ảnh.</a:t>
            </a:r>
            <a:endParaRPr lang="vi-VN" sz="1800" b="1" i="0" u="none" strike="noStrike" dirty="0">
              <a:solidFill>
                <a:srgbClr val="000000"/>
              </a:solidFill>
              <a:effectLst/>
              <a:latin typeface="Times New Roman" panose="02020603050405020304" pitchFamily="18" charset="0"/>
            </a:endParaRPr>
          </a:p>
          <a:p>
            <a:pPr>
              <a:buNone/>
            </a:pPr>
            <a:r>
              <a:rPr lang="vi-VN" sz="1800" b="1" i="0" u="none" strike="noStrike" dirty="0">
                <a:solidFill>
                  <a:srgbClr val="000000"/>
                </a:solidFill>
                <a:effectLst/>
                <a:latin typeface="Times New Roman" panose="02020603050405020304" pitchFamily="18" charset="0"/>
              </a:rPr>
              <a:t>Sram_data_in[15:0]: </a:t>
            </a:r>
            <a:r>
              <a:rPr lang="vi-VN" sz="1800" b="0" i="0" u="none" strike="noStrike" dirty="0">
                <a:solidFill>
                  <a:srgbClr val="000000"/>
                </a:solidFill>
                <a:effectLst/>
                <a:latin typeface="Times New Roman" panose="02020603050405020304" pitchFamily="18" charset="0"/>
              </a:rPr>
              <a:t>16-bit dữ liệu vào theo kiểu RGB 565 sau đó được xử lý để xuất ảnh</a:t>
            </a:r>
            <a:endParaRPr lang="en-US" dirty="0"/>
          </a:p>
        </p:txBody>
      </p:sp>
    </p:spTree>
    <p:extLst>
      <p:ext uri="{BB962C8B-B14F-4D97-AF65-F5344CB8AC3E}">
        <p14:creationId xmlns:p14="http://schemas.microsoft.com/office/powerpoint/2010/main" val="30820125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34389-3F05-B825-FE27-1CA9E90D3FD1}"/>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9A6BA9EA-424B-3D2F-7617-48E06488F63B}"/>
              </a:ext>
            </a:extLst>
          </p:cNvPr>
          <p:cNvSpPr>
            <a:spLocks noGrp="1"/>
          </p:cNvSpPr>
          <p:nvPr>
            <p:ph type="title"/>
          </p:nvPr>
        </p:nvSpPr>
        <p:spPr>
          <a:xfrm>
            <a:off x="1331913" y="287338"/>
            <a:ext cx="7354887" cy="693390"/>
          </a:xfrm>
        </p:spPr>
        <p:txBody>
          <a:bodyPr/>
          <a:lstStyle/>
          <a:p>
            <a:r>
              <a:rPr lang="en-US" sz="2800" dirty="0"/>
              <a:t>KHỐI HIỂN THỊ - VGA CONTROLLER &amp; CLOCK DIVIDER</a:t>
            </a:r>
          </a:p>
        </p:txBody>
      </p:sp>
      <p:pic>
        <p:nvPicPr>
          <p:cNvPr id="3" name="Content Placeholder 2">
            <a:extLst>
              <a:ext uri="{FF2B5EF4-FFF2-40B4-BE49-F238E27FC236}">
                <a16:creationId xmlns:a16="http://schemas.microsoft.com/office/drawing/2014/main" id="{94AC141A-08FC-C829-AF73-DC66C169DE50}"/>
              </a:ext>
            </a:extLst>
          </p:cNvPr>
          <p:cNvPicPr>
            <a:picLocks noGrp="1" noChangeAspect="1"/>
          </p:cNvPicPr>
          <p:nvPr>
            <p:ph idx="1"/>
          </p:nvPr>
        </p:nvPicPr>
        <p:blipFill>
          <a:blip r:embed="rId3"/>
          <a:stretch>
            <a:fillRect/>
          </a:stretch>
        </p:blipFill>
        <p:spPr>
          <a:xfrm>
            <a:off x="250130" y="1447800"/>
            <a:ext cx="8642350" cy="1583748"/>
          </a:xfrm>
          <a:prstGeom prst="rect">
            <a:avLst/>
          </a:prstGeom>
        </p:spPr>
      </p:pic>
      <p:sp>
        <p:nvSpPr>
          <p:cNvPr id="4" name="Date Placeholder 3">
            <a:extLst>
              <a:ext uri="{FF2B5EF4-FFF2-40B4-BE49-F238E27FC236}">
                <a16:creationId xmlns:a16="http://schemas.microsoft.com/office/drawing/2014/main" id="{A6829137-F9E3-D43E-4890-7B01F2EC9B4C}"/>
              </a:ext>
            </a:extLst>
          </p:cNvPr>
          <p:cNvSpPr>
            <a:spLocks noGrp="1"/>
          </p:cNvSpPr>
          <p:nvPr>
            <p:ph type="dt" sz="half" idx="10"/>
          </p:nvPr>
        </p:nvSpPr>
        <p:spPr>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5/21/2026</a:t>
            </a:fld>
            <a:endParaRPr kumimoji="1" lang="ja-JP" altLang="en-US"/>
          </a:p>
        </p:txBody>
      </p:sp>
      <p:sp>
        <p:nvSpPr>
          <p:cNvPr id="5" name="Slide Number Placeholder 4">
            <a:extLst>
              <a:ext uri="{FF2B5EF4-FFF2-40B4-BE49-F238E27FC236}">
                <a16:creationId xmlns:a16="http://schemas.microsoft.com/office/drawing/2014/main" id="{CD9DCAAD-8D11-30F5-0E2F-C8D9BC143288}"/>
              </a:ext>
            </a:extLst>
          </p:cNvPr>
          <p:cNvSpPr>
            <a:spLocks noGrp="1"/>
          </p:cNvSpPr>
          <p:nvPr>
            <p:ph type="sldNum" sz="quarter" idx="12"/>
          </p:nvPr>
        </p:nvSpPr>
        <p:spPr>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20</a:t>
            </a:fld>
            <a:endParaRPr kumimoji="1" lang="ja-JP" altLang="en-US"/>
          </a:p>
        </p:txBody>
      </p:sp>
      <p:sp>
        <p:nvSpPr>
          <p:cNvPr id="7" name="Footer Placeholder 6">
            <a:extLst>
              <a:ext uri="{FF2B5EF4-FFF2-40B4-BE49-F238E27FC236}">
                <a16:creationId xmlns:a16="http://schemas.microsoft.com/office/drawing/2014/main" id="{DAA56430-0879-9DB4-BA52-46F150837114}"/>
              </a:ext>
            </a:extLst>
          </p:cNvPr>
          <p:cNvSpPr>
            <a:spLocks noGrp="1"/>
          </p:cNvSpPr>
          <p:nvPr>
            <p:ph type="ftr" sz="quarter" idx="11"/>
          </p:nvPr>
        </p:nvSpPr>
        <p:spPr>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10" name="TextBox 9">
            <a:extLst>
              <a:ext uri="{FF2B5EF4-FFF2-40B4-BE49-F238E27FC236}">
                <a16:creationId xmlns:a16="http://schemas.microsoft.com/office/drawing/2014/main" id="{9BAEE88C-7EB8-0753-C0D5-6B9CC87070A3}"/>
              </a:ext>
            </a:extLst>
          </p:cNvPr>
          <p:cNvSpPr txBox="1"/>
          <p:nvPr/>
        </p:nvSpPr>
        <p:spPr>
          <a:xfrm>
            <a:off x="762000" y="3498620"/>
            <a:ext cx="7391400" cy="1959511"/>
          </a:xfrm>
          <a:prstGeom prst="rect">
            <a:avLst/>
          </a:prstGeom>
          <a:noFill/>
        </p:spPr>
        <p:txBody>
          <a:bodyPr wrap="square">
            <a:spAutoFit/>
          </a:bodyPr>
          <a:lstStyle/>
          <a:p>
            <a:pPr rtl="0">
              <a:spcAft>
                <a:spcPts val="800"/>
              </a:spcAft>
              <a:buNone/>
            </a:pPr>
            <a:r>
              <a:rPr lang="en-US" sz="1800" b="1" i="0" u="none" strike="noStrike" dirty="0">
                <a:solidFill>
                  <a:srgbClr val="000000"/>
                </a:solidFill>
                <a:effectLst/>
                <a:latin typeface="Times New Roman" panose="02020603050405020304" pitchFamily="18" charset="0"/>
              </a:rPr>
              <a:t>VGA_R [9:0], VGA_G [9:0], VGA_B [9:0]: </a:t>
            </a:r>
            <a:r>
              <a:rPr lang="en-US" sz="1800" b="0" i="0" u="none" strike="noStrike" dirty="0" err="1">
                <a:solidFill>
                  <a:srgbClr val="000000"/>
                </a:solidFill>
                <a:effectLst/>
                <a:latin typeface="Times New Roman" panose="02020603050405020304" pitchFamily="18" charset="0"/>
              </a:rPr>
              <a:t>Chân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tín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hiệu</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xuất</a:t>
            </a:r>
            <a:r>
              <a:rPr lang="en-US" sz="1800" b="0" i="0" u="none" strike="noStrike" dirty="0">
                <a:solidFill>
                  <a:srgbClr val="000000"/>
                </a:solidFill>
                <a:effectLst/>
                <a:latin typeface="Times New Roman" panose="02020603050405020304" pitchFamily="18" charset="0"/>
              </a:rPr>
              <a:t> RGB 10-bit </a:t>
            </a:r>
            <a:r>
              <a:rPr lang="en-US" sz="1800" b="0" i="0" u="none" strike="noStrike" dirty="0" err="1">
                <a:solidFill>
                  <a:srgbClr val="000000"/>
                </a:solidFill>
                <a:effectLst/>
                <a:latin typeface="Times New Roman" panose="02020603050405020304" pitchFamily="18" charset="0"/>
              </a:rPr>
              <a:t>để</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hiển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thị</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ra</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màn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hình</a:t>
            </a:r>
            <a:r>
              <a:rPr lang="en-US" sz="1800" b="0" i="0" u="none" strike="noStrike" dirty="0">
                <a:solidFill>
                  <a:srgbClr val="000000"/>
                </a:solidFill>
                <a:effectLst/>
                <a:latin typeface="Times New Roman" panose="02020603050405020304" pitchFamily="18" charset="0"/>
              </a:rPr>
              <a:t>.</a:t>
            </a:r>
            <a:endParaRPr lang="en-US" b="0" dirty="0">
              <a:effectLst/>
            </a:endParaRPr>
          </a:p>
          <a:p>
            <a:pPr rtl="0">
              <a:spcAft>
                <a:spcPts val="800"/>
              </a:spcAft>
              <a:buNone/>
            </a:pPr>
            <a:r>
              <a:rPr lang="en-US" sz="1800" b="1" i="0" u="none" strike="noStrike" dirty="0">
                <a:solidFill>
                  <a:srgbClr val="000000"/>
                </a:solidFill>
                <a:effectLst/>
                <a:latin typeface="Times New Roman" panose="02020603050405020304" pitchFamily="18" charset="0"/>
              </a:rPr>
              <a:t>VGA_HS, VGA_VS, VGA_BLANK, VGA_CLK: </a:t>
            </a:r>
            <a:r>
              <a:rPr lang="en-US" sz="1800" b="0" i="0" u="none" strike="noStrike" dirty="0">
                <a:solidFill>
                  <a:srgbClr val="000000"/>
                </a:solidFill>
                <a:effectLst/>
                <a:latin typeface="Times New Roman" panose="02020603050405020304" pitchFamily="18" charset="0"/>
              </a:rPr>
              <a:t>Các </a:t>
            </a:r>
            <a:r>
              <a:rPr lang="en-US" sz="1800" b="0" i="0" u="none" strike="noStrike" dirty="0" err="1">
                <a:solidFill>
                  <a:srgbClr val="000000"/>
                </a:solidFill>
                <a:effectLst/>
                <a:latin typeface="Times New Roman" panose="02020603050405020304" pitchFamily="18" charset="0"/>
              </a:rPr>
              <a:t>chân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tín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hiệu</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cho</a:t>
            </a:r>
            <a:r>
              <a:rPr lang="en-US" sz="1800" b="0" i="0" u="none" strike="noStrike" dirty="0">
                <a:solidFill>
                  <a:srgbClr val="000000"/>
                </a:solidFill>
                <a:effectLst/>
                <a:latin typeface="Times New Roman" panose="02020603050405020304" pitchFamily="18" charset="0"/>
              </a:rPr>
              <a:t> IC</a:t>
            </a:r>
            <a:r>
              <a:rPr lang="en-US" sz="1800" b="1" i="0" u="none" strike="noStrike" dirty="0">
                <a:solidFill>
                  <a:srgbClr val="000000"/>
                </a:solidFill>
                <a:effectLst/>
                <a:latin typeface="Times New Roman" panose="02020603050405020304" pitchFamily="18" charset="0"/>
              </a:rPr>
              <a:t> DAC ADV7123</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để</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hiển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thị</a:t>
            </a:r>
            <a:r>
              <a:rPr lang="en-US" sz="1800" b="0" i="0" u="none" strike="noStrike" dirty="0">
                <a:solidFill>
                  <a:srgbClr val="000000"/>
                </a:solidFill>
                <a:effectLst/>
                <a:latin typeface="Times New Roman" panose="02020603050405020304" pitchFamily="18" charset="0"/>
              </a:rPr>
              <a:t> pixel.</a:t>
            </a:r>
            <a:endParaRPr lang="en-US" b="0" dirty="0">
              <a:effectLst/>
            </a:endParaRPr>
          </a:p>
          <a:p>
            <a:pPr>
              <a:buNone/>
            </a:pPr>
            <a:r>
              <a:rPr lang="en-US" sz="1800" b="1" i="0" u="none" strike="noStrike" dirty="0">
                <a:solidFill>
                  <a:srgbClr val="000000"/>
                </a:solidFill>
                <a:effectLst/>
                <a:latin typeface="Times New Roman" panose="02020603050405020304" pitchFamily="18" charset="0"/>
              </a:rPr>
              <a:t>x [9:0], y [9:0], </a:t>
            </a:r>
            <a:r>
              <a:rPr lang="en-US" sz="1800" b="1" i="0" u="none" strike="noStrike" dirty="0" err="1">
                <a:solidFill>
                  <a:srgbClr val="000000"/>
                </a:solidFill>
                <a:effectLst/>
                <a:latin typeface="Times New Roman" panose="02020603050405020304" pitchFamily="18" charset="0"/>
              </a:rPr>
              <a:t>blank_on</a:t>
            </a:r>
            <a:r>
              <a:rPr lang="en-US" sz="1800" b="1"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Địa</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chỉ</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vị</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trí</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mà</a:t>
            </a:r>
            <a:r>
              <a:rPr lang="en-US" sz="1800" b="0" i="0" u="none" strike="noStrike" dirty="0">
                <a:solidFill>
                  <a:srgbClr val="000000"/>
                </a:solidFill>
                <a:effectLst/>
                <a:latin typeface="Times New Roman" panose="02020603050405020304" pitchFamily="18" charset="0"/>
              </a:rPr>
              <a:t> pixel </a:t>
            </a:r>
            <a:r>
              <a:rPr lang="en-US" sz="1800" b="0" i="0" u="none" strike="noStrike" dirty="0" err="1">
                <a:solidFill>
                  <a:srgbClr val="000000"/>
                </a:solidFill>
                <a:effectLst/>
                <a:latin typeface="Times New Roman" panose="02020603050405020304" pitchFamily="18" charset="0"/>
              </a:rPr>
              <a:t>sẽ</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hiển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thị</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và</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tín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hiệu</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định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vị</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trong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vùng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hiển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thị</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của</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màn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hình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theo</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chuẩn</a:t>
            </a:r>
            <a:r>
              <a:rPr lang="en-US" sz="1800" b="0" i="0" u="none" strike="noStrike" dirty="0">
                <a:solidFill>
                  <a:srgbClr val="000000"/>
                </a:solidFill>
                <a:effectLst/>
                <a:latin typeface="Times New Roman" panose="02020603050405020304" pitchFamily="18" charset="0"/>
              </a:rPr>
              <a:t> 640 x 480.</a:t>
            </a:r>
            <a:endParaRPr lang="en-US" dirty="0"/>
          </a:p>
        </p:txBody>
      </p:sp>
    </p:spTree>
    <p:extLst>
      <p:ext uri="{BB962C8B-B14F-4D97-AF65-F5344CB8AC3E}">
        <p14:creationId xmlns:p14="http://schemas.microsoft.com/office/powerpoint/2010/main" val="13019851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E6A06-1733-27FC-E589-69C3D20E4DE8}"/>
              </a:ext>
            </a:extLst>
          </p:cNvPr>
          <p:cNvSpPr>
            <a:spLocks noGrp="1"/>
          </p:cNvSpPr>
          <p:nvPr>
            <p:ph type="title"/>
          </p:nvPr>
        </p:nvSpPr>
        <p:spPr/>
        <p:txBody>
          <a:bodyPr/>
          <a:lstStyle/>
          <a:p>
            <a:endParaRPr lang="en-US"/>
          </a:p>
        </p:txBody>
      </p:sp>
      <p:pic>
        <p:nvPicPr>
          <p:cNvPr id="8" name="Content Placeholder 7">
            <a:extLst>
              <a:ext uri="{FF2B5EF4-FFF2-40B4-BE49-F238E27FC236}">
                <a16:creationId xmlns:a16="http://schemas.microsoft.com/office/drawing/2014/main" id="{FFF76BAC-843D-F0EF-FBEC-0FE38118A97A}"/>
              </a:ext>
            </a:extLst>
          </p:cNvPr>
          <p:cNvPicPr>
            <a:picLocks noGrp="1" noChangeAspect="1"/>
          </p:cNvPicPr>
          <p:nvPr>
            <p:ph idx="1"/>
          </p:nvPr>
        </p:nvPicPr>
        <p:blipFill>
          <a:blip r:embed="rId2"/>
          <a:stretch>
            <a:fillRect/>
          </a:stretch>
        </p:blipFill>
        <p:spPr bwMode="auto">
          <a:xfrm>
            <a:off x="1017490" y="1412875"/>
            <a:ext cx="7109020" cy="4824413"/>
          </a:xfrm>
          <a:prstGeom prst="rect">
            <a:avLst/>
          </a:prstGeom>
          <a:noFill/>
          <a:ln w="9525">
            <a:noFill/>
            <a:miter lim="800000"/>
            <a:headEnd/>
            <a:tailEnd/>
          </a:ln>
          <a:effectLst/>
        </p:spPr>
      </p:pic>
      <p:sp>
        <p:nvSpPr>
          <p:cNvPr id="4" name="Date Placeholder 3">
            <a:extLst>
              <a:ext uri="{FF2B5EF4-FFF2-40B4-BE49-F238E27FC236}">
                <a16:creationId xmlns:a16="http://schemas.microsoft.com/office/drawing/2014/main" id="{B96A633C-82C9-300D-A648-ED622D42E618}"/>
              </a:ext>
            </a:extLst>
          </p:cNvPr>
          <p:cNvSpPr>
            <a:spLocks noGrp="1"/>
          </p:cNvSpPr>
          <p:nvPr>
            <p:ph type="dt" sz="half" idx="10"/>
          </p:nvPr>
        </p:nvSpPr>
        <p:spPr/>
        <p:txBody>
          <a:bodyPr/>
          <a:lstStyle/>
          <a:p>
            <a:fld id="{F7681EE8-9FE2-425D-8FB4-74C399BDEDA0}" type="datetime1">
              <a:rPr kumimoji="1" lang="en-US" altLang="ja-JP" smtClean="0"/>
              <a:t>5/21/2026</a:t>
            </a:fld>
            <a:endParaRPr kumimoji="1" lang="ja-JP" altLang="en-US"/>
          </a:p>
        </p:txBody>
      </p:sp>
      <p:sp>
        <p:nvSpPr>
          <p:cNvPr id="5" name="Slide Number Placeholder 4">
            <a:extLst>
              <a:ext uri="{FF2B5EF4-FFF2-40B4-BE49-F238E27FC236}">
                <a16:creationId xmlns:a16="http://schemas.microsoft.com/office/drawing/2014/main" id="{85A8A843-FF97-E94F-59FF-9B53AECD4FE1}"/>
              </a:ext>
            </a:extLst>
          </p:cNvPr>
          <p:cNvSpPr>
            <a:spLocks noGrp="1"/>
          </p:cNvSpPr>
          <p:nvPr>
            <p:ph type="sldNum" sz="quarter" idx="12"/>
          </p:nvPr>
        </p:nvSpPr>
        <p:spPr/>
        <p:txBody>
          <a:bodyPr/>
          <a:lstStyle/>
          <a:p>
            <a:fld id="{800C8475-47C1-49C9-BEE5-594F8CF4D71F}" type="slidenum">
              <a:rPr kumimoji="1" lang="ja-JP" altLang="en-US" smtClean="0"/>
              <a:pPr/>
              <a:t>21</a:t>
            </a:fld>
            <a:endParaRPr kumimoji="1" lang="ja-JP" altLang="en-US"/>
          </a:p>
        </p:txBody>
      </p:sp>
      <p:sp>
        <p:nvSpPr>
          <p:cNvPr id="6" name="Footer Placeholder 5">
            <a:extLst>
              <a:ext uri="{FF2B5EF4-FFF2-40B4-BE49-F238E27FC236}">
                <a16:creationId xmlns:a16="http://schemas.microsoft.com/office/drawing/2014/main" id="{6AC2131F-B6B3-AEEB-6BF0-19AD0403AFEE}"/>
              </a:ext>
            </a:extLst>
          </p:cNvPr>
          <p:cNvSpPr>
            <a:spLocks noGrp="1"/>
          </p:cNvSpPr>
          <p:nvPr>
            <p:ph type="ftr" sz="quarter" idx="11"/>
          </p:nvPr>
        </p:nvSpPr>
        <p:spPr/>
        <p:txBody>
          <a:bodyPr/>
          <a:lstStyle/>
          <a:p>
            <a:r>
              <a:rPr kumimoji="1" lang="en-US" altLang="ja-JP"/>
              <a:t>Copyrights 2020 CE-UIT. All Rights Reserved.</a:t>
            </a:r>
            <a:endParaRPr kumimoji="1" lang="ja-JP" altLang="en-US" dirty="0"/>
          </a:p>
        </p:txBody>
      </p:sp>
    </p:spTree>
    <p:extLst>
      <p:ext uri="{BB962C8B-B14F-4D97-AF65-F5344CB8AC3E}">
        <p14:creationId xmlns:p14="http://schemas.microsoft.com/office/powerpoint/2010/main" val="27282488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516A5-4EE7-C765-C941-DBFBB255E8D9}"/>
              </a:ext>
            </a:extLst>
          </p:cNvPr>
          <p:cNvSpPr>
            <a:spLocks noGrp="1"/>
          </p:cNvSpPr>
          <p:nvPr>
            <p:ph type="title"/>
          </p:nvPr>
        </p:nvSpPr>
        <p:spPr>
          <a:xfrm>
            <a:off x="1331913" y="287338"/>
            <a:ext cx="7354887" cy="693390"/>
          </a:xfrm>
        </p:spPr>
        <p:txBody>
          <a:bodyPr vert="horz" wrap="square" lIns="91440" tIns="45720" rIns="91440" bIns="45720" numCol="1" anchor="ctr" anchorCtr="0" compatLnSpc="1">
            <a:prstTxWarp prst="textNoShape">
              <a:avLst/>
            </a:prstTxWarp>
            <a:normAutofit/>
          </a:bodyPr>
          <a:lstStyle/>
          <a:p>
            <a:r>
              <a:rPr lang="en-US" dirty="0"/>
              <a:t>VGA_CONTROLLER</a:t>
            </a:r>
          </a:p>
        </p:txBody>
      </p:sp>
      <p:pic>
        <p:nvPicPr>
          <p:cNvPr id="7" name="Picture 6">
            <a:extLst>
              <a:ext uri="{FF2B5EF4-FFF2-40B4-BE49-F238E27FC236}">
                <a16:creationId xmlns:a16="http://schemas.microsoft.com/office/drawing/2014/main" id="{E141758D-A38A-BCAC-F35C-95644D74DAEF}"/>
              </a:ext>
            </a:extLst>
          </p:cNvPr>
          <p:cNvPicPr>
            <a:picLocks noChangeAspect="1"/>
          </p:cNvPicPr>
          <p:nvPr/>
        </p:nvPicPr>
        <p:blipFill>
          <a:blip r:embed="rId3"/>
          <a:stretch>
            <a:fillRect/>
          </a:stretch>
        </p:blipFill>
        <p:spPr>
          <a:xfrm>
            <a:off x="468313" y="2695321"/>
            <a:ext cx="4038600" cy="2392870"/>
          </a:xfrm>
          <a:prstGeom prst="rect">
            <a:avLst/>
          </a:prstGeom>
          <a:noFill/>
        </p:spPr>
      </p:pic>
      <p:sp>
        <p:nvSpPr>
          <p:cNvPr id="4" name="Date Placeholder 3">
            <a:extLst>
              <a:ext uri="{FF2B5EF4-FFF2-40B4-BE49-F238E27FC236}">
                <a16:creationId xmlns:a16="http://schemas.microsoft.com/office/drawing/2014/main" id="{0D29FA29-7C54-F289-7F57-ED8D4F4539FE}"/>
              </a:ext>
            </a:extLst>
          </p:cNvPr>
          <p:cNvSpPr>
            <a:spLocks noGrp="1"/>
          </p:cNvSpPr>
          <p:nvPr>
            <p:ph type="dt" sz="half" idx="10"/>
          </p:nvPr>
        </p:nvSpPr>
        <p:spPr>
          <a:xfrm>
            <a:off x="251520" y="6525344"/>
            <a:ext cx="2133600" cy="288206"/>
          </a:xfrm>
        </p:spPr>
        <p:txBody>
          <a:bodyPr vert="horz" wrap="square" lIns="91440" tIns="45720" rIns="91440" bIns="45720" numCol="1" anchor="t" anchorCtr="0" compatLnSpc="1">
            <a:prstTxWarp prst="textNoShape">
              <a:avLst/>
            </a:prstTxWarp>
            <a:normAutofit/>
          </a:bodyPr>
          <a:lstStyle/>
          <a:p>
            <a:pPr>
              <a:spcAft>
                <a:spcPts val="600"/>
              </a:spcAft>
            </a:pPr>
            <a:fld id="{F7681EE8-9FE2-425D-8FB4-74C399BDEDA0}" type="datetime1">
              <a:rPr lang="en-US" altLang="ja-JP" smtClean="0"/>
              <a:pPr>
                <a:spcAft>
                  <a:spcPts val="600"/>
                </a:spcAft>
              </a:pPr>
              <a:t>5/21/2026</a:t>
            </a:fld>
            <a:endParaRPr lang="ja-JP" altLang="en-US"/>
          </a:p>
        </p:txBody>
      </p:sp>
      <p:sp>
        <p:nvSpPr>
          <p:cNvPr id="5" name="Slide Number Placeholder 4">
            <a:extLst>
              <a:ext uri="{FF2B5EF4-FFF2-40B4-BE49-F238E27FC236}">
                <a16:creationId xmlns:a16="http://schemas.microsoft.com/office/drawing/2014/main" id="{32E61A06-ECCE-CE8B-E673-C127A5D2FB87}"/>
              </a:ext>
            </a:extLst>
          </p:cNvPr>
          <p:cNvSpPr>
            <a:spLocks noGrp="1"/>
          </p:cNvSpPr>
          <p:nvPr>
            <p:ph type="sldNum" sz="quarter" idx="12"/>
          </p:nvPr>
        </p:nvSpPr>
        <p:spPr>
          <a:xfrm>
            <a:off x="7139880" y="6524625"/>
            <a:ext cx="1752600" cy="288925"/>
          </a:xfrm>
        </p:spPr>
        <p:txBody>
          <a:bodyPr vert="horz" wrap="square" lIns="91440" tIns="45720" rIns="91440" bIns="45720" numCol="1" anchor="t" anchorCtr="0" compatLnSpc="1">
            <a:prstTxWarp prst="textNoShape">
              <a:avLst/>
            </a:prstTxWarp>
            <a:normAutofit/>
          </a:bodyPr>
          <a:lstStyle/>
          <a:p>
            <a:pPr>
              <a:spcAft>
                <a:spcPts val="600"/>
              </a:spcAft>
            </a:pPr>
            <a:fld id="{800C8475-47C1-49C9-BEE5-594F8CF4D71F}" type="slidenum">
              <a:rPr lang="ja-JP" altLang="en-US" smtClean="0"/>
              <a:pPr>
                <a:spcAft>
                  <a:spcPts val="600"/>
                </a:spcAft>
              </a:pPr>
              <a:t>22</a:t>
            </a:fld>
            <a:endParaRPr lang="ja-JP" altLang="en-US"/>
          </a:p>
        </p:txBody>
      </p:sp>
      <p:sp>
        <p:nvSpPr>
          <p:cNvPr id="11" name="TextBox 10">
            <a:extLst>
              <a:ext uri="{FF2B5EF4-FFF2-40B4-BE49-F238E27FC236}">
                <a16:creationId xmlns:a16="http://schemas.microsoft.com/office/drawing/2014/main" id="{2FA3535F-E3CF-DCB2-FE36-03F2676A5D43}"/>
              </a:ext>
            </a:extLst>
          </p:cNvPr>
          <p:cNvSpPr txBox="1"/>
          <p:nvPr/>
        </p:nvSpPr>
        <p:spPr bwMode="auto">
          <a:xfrm>
            <a:off x="4709864" y="1628800"/>
            <a:ext cx="4038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rmAutofit/>
          </a:bodyPr>
          <a:lstStyle/>
          <a:p>
            <a:pPr marL="342900" indent="-342900" algn="just" fontAlgn="base">
              <a:lnSpc>
                <a:spcPct val="90000"/>
              </a:lnSpc>
              <a:spcBef>
                <a:spcPct val="20000"/>
              </a:spcBef>
              <a:spcAft>
                <a:spcPct val="0"/>
              </a:spcAft>
              <a:buClr>
                <a:srgbClr val="003399"/>
              </a:buClr>
              <a:buFont typeface="Wingdings" pitchFamily="2" charset="2"/>
              <a:buChar char="n"/>
            </a:pPr>
            <a:r>
              <a:rPr lang="en-US" sz="2000" dirty="0" err="1">
                <a:effectLst/>
                <a:latin typeface="Times New Roman" pitchFamily="18" charset="0"/>
                <a:cs typeface="Times New Roman" pitchFamily="18" charset="0"/>
              </a:rPr>
              <a:t>Bộ</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đếm</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dòng</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ngang</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h_cnt</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Đếm</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từ</a:t>
            </a:r>
            <a:r>
              <a:rPr lang="en-US" sz="2000" dirty="0">
                <a:effectLst/>
                <a:latin typeface="Times New Roman" pitchFamily="18" charset="0"/>
                <a:cs typeface="Times New Roman" pitchFamily="18" charset="0"/>
              </a:rPr>
              <a:t> 0 =&gt; 799 </a:t>
            </a:r>
            <a:r>
              <a:rPr lang="en-US" sz="2000" dirty="0" err="1">
                <a:effectLst/>
                <a:latin typeface="Times New Roman" pitchFamily="18" charset="0"/>
                <a:cs typeface="Times New Roman" pitchFamily="18" charset="0"/>
              </a:rPr>
              <a:t>xung</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Vùng</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hiển</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thị</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thực</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tế</a:t>
            </a:r>
            <a:r>
              <a:rPr lang="en-US" sz="2000" dirty="0">
                <a:effectLst/>
                <a:latin typeface="Times New Roman" pitchFamily="18" charset="0"/>
                <a:cs typeface="Times New Roman" pitchFamily="18" charset="0"/>
              </a:rPr>
              <a:t>: 640).</a:t>
            </a:r>
          </a:p>
          <a:p>
            <a:pPr marL="342900" indent="-342900" algn="just" fontAlgn="base">
              <a:lnSpc>
                <a:spcPct val="90000"/>
              </a:lnSpc>
              <a:spcBef>
                <a:spcPct val="20000"/>
              </a:spcBef>
              <a:spcAft>
                <a:spcPct val="0"/>
              </a:spcAft>
              <a:buClr>
                <a:srgbClr val="003399"/>
              </a:buClr>
              <a:buFont typeface="Wingdings" pitchFamily="2" charset="2"/>
              <a:buChar char="n"/>
            </a:pPr>
            <a:r>
              <a:rPr lang="en-US" sz="2000" dirty="0" err="1">
                <a:effectLst/>
                <a:latin typeface="Times New Roman" pitchFamily="18" charset="0"/>
                <a:cs typeface="Times New Roman" pitchFamily="18" charset="0"/>
              </a:rPr>
              <a:t>Bộ</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đếm</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dòng</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dọc</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v_cnt</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Đếm</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từ</a:t>
            </a:r>
            <a:r>
              <a:rPr lang="en-US" sz="2000" dirty="0">
                <a:effectLst/>
                <a:latin typeface="Times New Roman" pitchFamily="18" charset="0"/>
                <a:cs typeface="Times New Roman" pitchFamily="18" charset="0"/>
              </a:rPr>
              <a:t> 0 =&gt; 524 </a:t>
            </a:r>
            <a:r>
              <a:rPr lang="en-US" sz="2000" dirty="0" err="1">
                <a:effectLst/>
                <a:latin typeface="Times New Roman" pitchFamily="18" charset="0"/>
                <a:cs typeface="Times New Roman" pitchFamily="18" charset="0"/>
              </a:rPr>
              <a:t>dòng</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Vùng</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hiển</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thị</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thực</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tế</a:t>
            </a:r>
            <a:r>
              <a:rPr lang="en-US" sz="2000" dirty="0">
                <a:effectLst/>
                <a:latin typeface="Times New Roman" pitchFamily="18" charset="0"/>
                <a:cs typeface="Times New Roman" pitchFamily="18" charset="0"/>
              </a:rPr>
              <a:t>: 480).</a:t>
            </a:r>
          </a:p>
          <a:p>
            <a:pPr marL="342900" indent="-342900" algn="just" fontAlgn="base">
              <a:lnSpc>
                <a:spcPct val="90000"/>
              </a:lnSpc>
              <a:spcBef>
                <a:spcPct val="20000"/>
              </a:spcBef>
              <a:spcAft>
                <a:spcPct val="0"/>
              </a:spcAft>
              <a:buClr>
                <a:srgbClr val="003399"/>
              </a:buClr>
              <a:buFont typeface="Wingdings" pitchFamily="2" charset="2"/>
              <a:buChar char="n"/>
            </a:pPr>
            <a:r>
              <a:rPr lang="en-US" sz="2000" dirty="0" err="1">
                <a:effectLst/>
                <a:latin typeface="Times New Roman" pitchFamily="18" charset="0"/>
                <a:cs typeface="Times New Roman" pitchFamily="18" charset="0"/>
              </a:rPr>
              <a:t>Tạo</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xung</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đồng</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bộ</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dòng</a:t>
            </a:r>
            <a:r>
              <a:rPr lang="en-US" sz="2000" dirty="0">
                <a:effectLst/>
                <a:latin typeface="Times New Roman" pitchFamily="18" charset="0"/>
                <a:cs typeface="Times New Roman" pitchFamily="18" charset="0"/>
              </a:rPr>
              <a:t> VGA_HS </a:t>
            </a:r>
            <a:r>
              <a:rPr lang="en-US" sz="2000" dirty="0" err="1">
                <a:effectLst/>
                <a:latin typeface="Times New Roman" pitchFamily="18" charset="0"/>
                <a:cs typeface="Times New Roman" pitchFamily="18" charset="0"/>
              </a:rPr>
              <a:t>và</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dọc</a:t>
            </a:r>
            <a:r>
              <a:rPr lang="en-US" sz="2000" dirty="0">
                <a:effectLst/>
                <a:latin typeface="Times New Roman" pitchFamily="18" charset="0"/>
                <a:cs typeface="Times New Roman" pitchFamily="18" charset="0"/>
              </a:rPr>
              <a:t> VGA_VS </a:t>
            </a:r>
            <a:r>
              <a:rPr lang="en-US" sz="2000" dirty="0" err="1">
                <a:effectLst/>
                <a:latin typeface="Times New Roman" pitchFamily="18" charset="0"/>
                <a:cs typeface="Times New Roman" pitchFamily="18" charset="0"/>
              </a:rPr>
              <a:t>để</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đồng</a:t>
            </a:r>
            <a:r>
              <a:rPr lang="en-US" sz="2000" dirty="0">
                <a:effectLst/>
                <a:latin typeface="Times New Roman" pitchFamily="18" charset="0"/>
                <a:cs typeface="Times New Roman" pitchFamily="18" charset="0"/>
              </a:rPr>
              <a:t> </a:t>
            </a:r>
          </a:p>
          <a:p>
            <a:pPr marL="342900" indent="-342900" algn="just" fontAlgn="base">
              <a:lnSpc>
                <a:spcPct val="90000"/>
              </a:lnSpc>
              <a:spcBef>
                <a:spcPct val="20000"/>
              </a:spcBef>
              <a:spcAft>
                <a:spcPct val="0"/>
              </a:spcAft>
              <a:buClr>
                <a:srgbClr val="003399"/>
              </a:buClr>
              <a:buFont typeface="Wingdings" pitchFamily="2" charset="2"/>
              <a:buChar char="n"/>
            </a:pPr>
            <a:r>
              <a:rPr lang="en-US" sz="2000" dirty="0" err="1">
                <a:effectLst/>
                <a:latin typeface="Times New Roman" pitchFamily="18" charset="0"/>
                <a:cs typeface="Times New Roman" pitchFamily="18" charset="0"/>
              </a:rPr>
              <a:t>Xuất</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cờ</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blank_on</a:t>
            </a:r>
            <a:r>
              <a:rPr lang="en-US" sz="2000" dirty="0">
                <a:effectLst/>
                <a:latin typeface="Times New Roman" pitchFamily="18" charset="0"/>
                <a:cs typeface="Times New Roman" pitchFamily="18" charset="0"/>
              </a:rPr>
              <a:t>: Báo </a:t>
            </a:r>
            <a:r>
              <a:rPr lang="en-US" sz="2000" dirty="0" err="1">
                <a:effectLst/>
                <a:latin typeface="Times New Roman" pitchFamily="18" charset="0"/>
                <a:cs typeface="Times New Roman" pitchFamily="18" charset="0"/>
              </a:rPr>
              <a:t>hiệu</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tia</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quét</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đang</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nằm</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trong</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vùng</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hiển</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thị</a:t>
            </a:r>
            <a:r>
              <a:rPr lang="en-US" sz="2000" dirty="0">
                <a:effectLst/>
                <a:latin typeface="Times New Roman" pitchFamily="18" charset="0"/>
                <a:cs typeface="Times New Roman" pitchFamily="18" charset="0"/>
              </a:rPr>
              <a:t> an </a:t>
            </a:r>
            <a:r>
              <a:rPr lang="en-US" sz="2000" dirty="0" err="1">
                <a:effectLst/>
                <a:latin typeface="Times New Roman" pitchFamily="18" charset="0"/>
                <a:cs typeface="Times New Roman" pitchFamily="18" charset="0"/>
              </a:rPr>
              <a:t>toàn</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để</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cho</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phép</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mở</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cổng</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xuất</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màu</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tránh</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hiện</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tượng</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lem</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màu</a:t>
            </a:r>
            <a:r>
              <a:rPr lang="en-US" sz="2000" dirty="0">
                <a:effectLst/>
                <a:latin typeface="Times New Roman" pitchFamily="18" charset="0"/>
                <a:cs typeface="Times New Roman" pitchFamily="18" charset="0"/>
              </a:rPr>
              <a:t> ở </a:t>
            </a:r>
            <a:r>
              <a:rPr lang="en-US" sz="2000" dirty="0" err="1">
                <a:effectLst/>
                <a:latin typeface="Times New Roman" pitchFamily="18" charset="0"/>
                <a:cs typeface="Times New Roman" pitchFamily="18" charset="0"/>
              </a:rPr>
              <a:t>rìa</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màn</a:t>
            </a:r>
            <a:r>
              <a:rPr lang="en-US" sz="2000" dirty="0">
                <a:effectLst/>
                <a:latin typeface="Times New Roman" pitchFamily="18" charset="0"/>
                <a:cs typeface="Times New Roman" pitchFamily="18" charset="0"/>
              </a:rPr>
              <a:t> </a:t>
            </a:r>
            <a:r>
              <a:rPr lang="en-US" sz="2000" dirty="0" err="1">
                <a:effectLst/>
                <a:latin typeface="Times New Roman" pitchFamily="18" charset="0"/>
                <a:cs typeface="Times New Roman" pitchFamily="18" charset="0"/>
              </a:rPr>
              <a:t>hình</a:t>
            </a:r>
            <a:r>
              <a:rPr lang="en-US" sz="2000" dirty="0">
                <a:effectLst/>
                <a:latin typeface="Times New Roman" pitchFamily="18" charset="0"/>
                <a:cs typeface="Times New Roman" pitchFamily="18" charset="0"/>
              </a:rPr>
              <a:t>.</a:t>
            </a:r>
          </a:p>
        </p:txBody>
      </p:sp>
      <p:sp>
        <p:nvSpPr>
          <p:cNvPr id="6" name="Footer Placeholder 5">
            <a:extLst>
              <a:ext uri="{FF2B5EF4-FFF2-40B4-BE49-F238E27FC236}">
                <a16:creationId xmlns:a16="http://schemas.microsoft.com/office/drawing/2014/main" id="{C56FF043-C47B-4EEB-3E83-ADB7A9D9230C}"/>
              </a:ext>
            </a:extLst>
          </p:cNvPr>
          <p:cNvSpPr>
            <a:spLocks noGrp="1"/>
          </p:cNvSpPr>
          <p:nvPr>
            <p:ph type="ftr" sz="quarter" idx="11"/>
          </p:nvPr>
        </p:nvSpPr>
        <p:spPr>
          <a:xfrm>
            <a:off x="1762101" y="6524625"/>
            <a:ext cx="5618212" cy="288925"/>
          </a:xfrm>
        </p:spPr>
        <p:txBody>
          <a:bodyPr vert="horz" wrap="square" lIns="91440" tIns="45720" rIns="91440" bIns="45720" numCol="1" anchor="t" anchorCtr="0" compatLnSpc="1">
            <a:prstTxWarp prst="textNoShape">
              <a:avLst/>
            </a:prstTxWarp>
            <a:normAutofit/>
          </a:bodyPr>
          <a:lstStyle/>
          <a:p>
            <a:pPr>
              <a:spcAft>
                <a:spcPts val="600"/>
              </a:spcAft>
            </a:pPr>
            <a:r>
              <a:rPr kumimoji="1" lang="en-US" altLang="ja-JP"/>
              <a:t>Copyrights 2020 CE-UIT. All Rights Reserved.</a:t>
            </a:r>
            <a:endParaRPr kumimoji="1" lang="ja-JP" altLang="en-US"/>
          </a:p>
        </p:txBody>
      </p:sp>
    </p:spTree>
    <p:extLst>
      <p:ext uri="{BB962C8B-B14F-4D97-AF65-F5344CB8AC3E}">
        <p14:creationId xmlns:p14="http://schemas.microsoft.com/office/powerpoint/2010/main" val="2081514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6144B-983D-5E20-9C87-4D1E2ED27A15}"/>
              </a:ext>
            </a:extLst>
          </p:cNvPr>
          <p:cNvSpPr>
            <a:spLocks noGrp="1"/>
          </p:cNvSpPr>
          <p:nvPr>
            <p:ph type="title"/>
          </p:nvPr>
        </p:nvSpPr>
        <p:spPr>
          <a:xfrm>
            <a:off x="1331913" y="287338"/>
            <a:ext cx="7354887" cy="693390"/>
          </a:xfrm>
        </p:spPr>
        <p:txBody>
          <a:bodyPr vert="horz" wrap="square" lIns="91440" tIns="45720" rIns="91440" bIns="45720" numCol="1" anchor="ctr" anchorCtr="0" compatLnSpc="1">
            <a:prstTxWarp prst="textNoShape">
              <a:avLst/>
            </a:prstTxWarp>
            <a:normAutofit/>
          </a:bodyPr>
          <a:lstStyle/>
          <a:p>
            <a:r>
              <a:rPr lang="en-US" dirty="0"/>
              <a:t>KHỐI VGA_CLOCK_DIVIDE</a:t>
            </a:r>
          </a:p>
        </p:txBody>
      </p:sp>
      <p:pic>
        <p:nvPicPr>
          <p:cNvPr id="7" name="Content Placeholder 6">
            <a:extLst>
              <a:ext uri="{FF2B5EF4-FFF2-40B4-BE49-F238E27FC236}">
                <a16:creationId xmlns:a16="http://schemas.microsoft.com/office/drawing/2014/main" id="{94F30BAD-4E5D-75B2-C6A7-BA54E4F0F351}"/>
              </a:ext>
            </a:extLst>
          </p:cNvPr>
          <p:cNvPicPr>
            <a:picLocks noGrp="1" noChangeAspect="1"/>
          </p:cNvPicPr>
          <p:nvPr>
            <p:ph sz="half" idx="1"/>
          </p:nvPr>
        </p:nvPicPr>
        <p:blipFill>
          <a:blip r:embed="rId2"/>
          <a:stretch>
            <a:fillRect/>
          </a:stretch>
        </p:blipFill>
        <p:spPr>
          <a:xfrm>
            <a:off x="468313" y="2887155"/>
            <a:ext cx="4038600" cy="2009203"/>
          </a:xfrm>
          <a:prstGeom prst="rect">
            <a:avLst/>
          </a:prstGeom>
          <a:noFill/>
        </p:spPr>
      </p:pic>
      <p:sp>
        <p:nvSpPr>
          <p:cNvPr id="4" name="Date Placeholder 3">
            <a:extLst>
              <a:ext uri="{FF2B5EF4-FFF2-40B4-BE49-F238E27FC236}">
                <a16:creationId xmlns:a16="http://schemas.microsoft.com/office/drawing/2014/main" id="{0182DA15-A6D5-D953-911D-46400424102E}"/>
              </a:ext>
            </a:extLst>
          </p:cNvPr>
          <p:cNvSpPr>
            <a:spLocks noGrp="1"/>
          </p:cNvSpPr>
          <p:nvPr>
            <p:ph type="dt" sz="half" idx="10"/>
          </p:nvPr>
        </p:nvSpPr>
        <p:spPr>
          <a:xfrm>
            <a:off x="251520" y="6525344"/>
            <a:ext cx="2133600" cy="288206"/>
          </a:xfrm>
        </p:spPr>
        <p:txBody>
          <a:bodyPr vert="horz" wrap="square" lIns="91440" tIns="45720" rIns="91440" bIns="45720" numCol="1" anchor="t" anchorCtr="0" compatLnSpc="1">
            <a:prstTxWarp prst="textNoShape">
              <a:avLst/>
            </a:prstTxWarp>
            <a:normAutofit/>
          </a:bodyPr>
          <a:lstStyle/>
          <a:p>
            <a:pPr>
              <a:spcAft>
                <a:spcPts val="600"/>
              </a:spcAft>
            </a:pPr>
            <a:fld id="{F7681EE8-9FE2-425D-8FB4-74C399BDEDA0}" type="datetime1">
              <a:rPr lang="en-US" altLang="ja-JP" smtClean="0"/>
              <a:pPr>
                <a:spcAft>
                  <a:spcPts val="600"/>
                </a:spcAft>
              </a:pPr>
              <a:t>5/21/2026</a:t>
            </a:fld>
            <a:endParaRPr lang="ja-JP" altLang="en-US"/>
          </a:p>
        </p:txBody>
      </p:sp>
      <p:sp>
        <p:nvSpPr>
          <p:cNvPr id="5" name="Slide Number Placeholder 4">
            <a:extLst>
              <a:ext uri="{FF2B5EF4-FFF2-40B4-BE49-F238E27FC236}">
                <a16:creationId xmlns:a16="http://schemas.microsoft.com/office/drawing/2014/main" id="{AC209360-3708-E1C6-BBB4-5E9708F50A3C}"/>
              </a:ext>
            </a:extLst>
          </p:cNvPr>
          <p:cNvSpPr>
            <a:spLocks noGrp="1"/>
          </p:cNvSpPr>
          <p:nvPr>
            <p:ph type="sldNum" sz="quarter" idx="12"/>
          </p:nvPr>
        </p:nvSpPr>
        <p:spPr>
          <a:xfrm>
            <a:off x="7139880" y="6524625"/>
            <a:ext cx="1752600" cy="288925"/>
          </a:xfrm>
        </p:spPr>
        <p:txBody>
          <a:bodyPr vert="horz" wrap="square" lIns="91440" tIns="45720" rIns="91440" bIns="45720" numCol="1" anchor="t" anchorCtr="0" compatLnSpc="1">
            <a:prstTxWarp prst="textNoShape">
              <a:avLst/>
            </a:prstTxWarp>
            <a:normAutofit/>
          </a:bodyPr>
          <a:lstStyle/>
          <a:p>
            <a:pPr>
              <a:spcAft>
                <a:spcPts val="600"/>
              </a:spcAft>
            </a:pPr>
            <a:fld id="{800C8475-47C1-49C9-BEE5-594F8CF4D71F}" type="slidenum">
              <a:rPr lang="ja-JP" altLang="en-US" smtClean="0"/>
              <a:pPr>
                <a:spcAft>
                  <a:spcPts val="600"/>
                </a:spcAft>
              </a:pPr>
              <a:t>23</a:t>
            </a:fld>
            <a:endParaRPr lang="ja-JP" altLang="en-US"/>
          </a:p>
        </p:txBody>
      </p:sp>
      <p:sp>
        <p:nvSpPr>
          <p:cNvPr id="9" name="TextBox 8">
            <a:extLst>
              <a:ext uri="{FF2B5EF4-FFF2-40B4-BE49-F238E27FC236}">
                <a16:creationId xmlns:a16="http://schemas.microsoft.com/office/drawing/2014/main" id="{5A253C6A-9C39-E6A9-A303-708F32B1B0CD}"/>
              </a:ext>
            </a:extLst>
          </p:cNvPr>
          <p:cNvSpPr txBox="1"/>
          <p:nvPr/>
        </p:nvSpPr>
        <p:spPr bwMode="auto">
          <a:xfrm>
            <a:off x="4709864" y="1628800"/>
            <a:ext cx="4038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rmAutofit/>
          </a:bodyPr>
          <a:lstStyle/>
          <a:p>
            <a:pPr marL="342900" indent="-342900" algn="just" fontAlgn="base">
              <a:spcBef>
                <a:spcPct val="20000"/>
              </a:spcBef>
              <a:spcAft>
                <a:spcPct val="0"/>
              </a:spcAft>
              <a:buClr>
                <a:srgbClr val="003399"/>
              </a:buClr>
              <a:buFont typeface="Wingdings" pitchFamily="2" charset="2"/>
              <a:buChar char="n"/>
            </a:pPr>
            <a:r>
              <a:rPr lang="en-US" sz="2800" b="0" i="0" u="none" strike="noStrike">
                <a:effectLst/>
                <a:latin typeface="Times New Roman" pitchFamily="18" charset="0"/>
                <a:cs typeface="Times New Roman" pitchFamily="18" charset="0"/>
              </a:rPr>
              <a:t>Thực hiện chia tần số 50MHz của hệ thống thành 25MHz để phù hợp với độ phân giải và tần số quét 60Hz</a:t>
            </a:r>
            <a:endParaRPr lang="en-US" sz="2800">
              <a:latin typeface="Times New Roman" pitchFamily="18" charset="0"/>
              <a:cs typeface="Times New Roman" pitchFamily="18" charset="0"/>
            </a:endParaRPr>
          </a:p>
        </p:txBody>
      </p:sp>
      <p:sp>
        <p:nvSpPr>
          <p:cNvPr id="6" name="Footer Placeholder 5">
            <a:extLst>
              <a:ext uri="{FF2B5EF4-FFF2-40B4-BE49-F238E27FC236}">
                <a16:creationId xmlns:a16="http://schemas.microsoft.com/office/drawing/2014/main" id="{73874B72-621F-4730-8A94-2921523FFB0B}"/>
              </a:ext>
            </a:extLst>
          </p:cNvPr>
          <p:cNvSpPr>
            <a:spLocks noGrp="1"/>
          </p:cNvSpPr>
          <p:nvPr>
            <p:ph type="ftr" sz="quarter" idx="11"/>
          </p:nvPr>
        </p:nvSpPr>
        <p:spPr>
          <a:xfrm>
            <a:off x="1762101" y="6524625"/>
            <a:ext cx="5618212" cy="288925"/>
          </a:xfrm>
        </p:spPr>
        <p:txBody>
          <a:bodyPr vert="horz" wrap="square" lIns="91440" tIns="45720" rIns="91440" bIns="45720" numCol="1" anchor="t" anchorCtr="0" compatLnSpc="1">
            <a:prstTxWarp prst="textNoShape">
              <a:avLst/>
            </a:prstTxWarp>
            <a:normAutofit/>
          </a:bodyPr>
          <a:lstStyle/>
          <a:p>
            <a:pPr>
              <a:spcAft>
                <a:spcPts val="600"/>
              </a:spcAft>
            </a:pPr>
            <a:r>
              <a:rPr kumimoji="1" lang="en-US" altLang="ja-JP"/>
              <a:t>Copyrights 2020 CE-UIT. All Rights Reserved.</a:t>
            </a:r>
            <a:endParaRPr kumimoji="1" lang="ja-JP" altLang="en-US"/>
          </a:p>
        </p:txBody>
      </p:sp>
    </p:spTree>
    <p:extLst>
      <p:ext uri="{BB962C8B-B14F-4D97-AF65-F5344CB8AC3E}">
        <p14:creationId xmlns:p14="http://schemas.microsoft.com/office/powerpoint/2010/main" val="26194776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6B1AFB9-E7BE-0379-864E-3E717C87206B}"/>
              </a:ext>
            </a:extLst>
          </p:cNvPr>
          <p:cNvSpPr>
            <a:spLocks noGrp="1"/>
          </p:cNvSpPr>
          <p:nvPr>
            <p:ph type="title"/>
          </p:nvPr>
        </p:nvSpPr>
        <p:spPr>
          <a:xfrm>
            <a:off x="1331913" y="287338"/>
            <a:ext cx="7354887" cy="693390"/>
          </a:xfrm>
        </p:spPr>
        <p:txBody>
          <a:bodyPr/>
          <a:lstStyle/>
          <a:p>
            <a:endParaRPr lang="en-US"/>
          </a:p>
        </p:txBody>
      </p:sp>
      <p:sp>
        <p:nvSpPr>
          <p:cNvPr id="11" name="TextBox 10">
            <a:extLst>
              <a:ext uri="{FF2B5EF4-FFF2-40B4-BE49-F238E27FC236}">
                <a16:creationId xmlns:a16="http://schemas.microsoft.com/office/drawing/2014/main" id="{9F58BABD-E9D9-EC0A-0C50-75BD4A2A7BA0}"/>
              </a:ext>
            </a:extLst>
          </p:cNvPr>
          <p:cNvSpPr txBox="1"/>
          <p:nvPr/>
        </p:nvSpPr>
        <p:spPr bwMode="auto">
          <a:xfrm>
            <a:off x="468313" y="1628775"/>
            <a:ext cx="4038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rmAutofit/>
          </a:bodyPr>
          <a:lstStyle/>
          <a:p>
            <a:pPr marL="342900" indent="-342900" algn="just" fontAlgn="base">
              <a:lnSpc>
                <a:spcPct val="90000"/>
              </a:lnSpc>
              <a:spcBef>
                <a:spcPct val="20000"/>
              </a:spcBef>
              <a:spcAft>
                <a:spcPct val="0"/>
              </a:spcAft>
              <a:buClr>
                <a:srgbClr val="003399"/>
              </a:buClr>
              <a:buFont typeface="Wingdings" pitchFamily="2" charset="2"/>
              <a:buChar char="n"/>
            </a:pPr>
            <a:r>
              <a:rPr lang="en-US" sz="2400" i="1" dirty="0" err="1">
                <a:latin typeface="Times New Roman" pitchFamily="18" charset="0"/>
                <a:cs typeface="Times New Roman" pitchFamily="18" charset="0"/>
              </a:rPr>
              <a:t>Chế</a:t>
            </a:r>
            <a:r>
              <a:rPr lang="en-US" sz="2400" i="1" dirty="0">
                <a:latin typeface="Times New Roman" pitchFamily="18" charset="0"/>
                <a:cs typeface="Times New Roman" pitchFamily="18" charset="0"/>
              </a:rPr>
              <a:t> </a:t>
            </a:r>
            <a:r>
              <a:rPr lang="en-US" sz="2400" i="1" dirty="0" err="1">
                <a:latin typeface="Times New Roman" pitchFamily="18" charset="0"/>
                <a:cs typeface="Times New Roman" pitchFamily="18" charset="0"/>
              </a:rPr>
              <a:t>độ</a:t>
            </a:r>
            <a:r>
              <a:rPr lang="en-US" sz="2400" i="1" dirty="0">
                <a:latin typeface="Times New Roman" pitchFamily="18" charset="0"/>
                <a:cs typeface="Times New Roman" pitchFamily="18" charset="0"/>
              </a:rPr>
              <a:t> </a:t>
            </a:r>
            <a:r>
              <a:rPr lang="en-US" sz="2400" i="1" dirty="0" err="1">
                <a:latin typeface="Times New Roman" pitchFamily="18" charset="0"/>
                <a:cs typeface="Times New Roman" pitchFamily="18" charset="0"/>
              </a:rPr>
              <a:t>hiển</a:t>
            </a:r>
            <a:r>
              <a:rPr lang="en-US" sz="2400" i="1" dirty="0">
                <a:latin typeface="Times New Roman" pitchFamily="18" charset="0"/>
                <a:cs typeface="Times New Roman" pitchFamily="18" charset="0"/>
              </a:rPr>
              <a:t> </a:t>
            </a:r>
            <a:r>
              <a:rPr lang="en-US" sz="2400" i="1" dirty="0" err="1">
                <a:latin typeface="Times New Roman" pitchFamily="18" charset="0"/>
                <a:cs typeface="Times New Roman" pitchFamily="18" charset="0"/>
              </a:rPr>
              <a:t>thị</a:t>
            </a:r>
            <a:r>
              <a:rPr lang="en-US" sz="2400" i="1" dirty="0">
                <a:latin typeface="Times New Roman" pitchFamily="18" charset="0"/>
                <a:cs typeface="Times New Roman" pitchFamily="18" charset="0"/>
              </a:rPr>
              <a:t> </a:t>
            </a:r>
            <a:r>
              <a:rPr lang="en-US" sz="2400" i="1" dirty="0" err="1">
                <a:latin typeface="Times New Roman" pitchFamily="18" charset="0"/>
                <a:cs typeface="Times New Roman" pitchFamily="18" charset="0"/>
              </a:rPr>
              <a:t>màu</a:t>
            </a:r>
            <a:r>
              <a:rPr lang="en-US" sz="2400" i="1" dirty="0">
                <a:latin typeface="Times New Roman" pitchFamily="18" charset="0"/>
                <a:cs typeface="Times New Roman" pitchFamily="18" charset="0"/>
              </a:rPr>
              <a: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Lấy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từ</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nhớ</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ra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mã</a:t>
            </a:r>
            <a:r>
              <a:rPr lang="en-US" sz="2400" dirty="0">
                <a:latin typeface="Times New Roman" pitchFamily="18" charset="0"/>
                <a:cs typeface="Times New Roman" pitchFamily="18" charset="0"/>
              </a:rPr>
              <a:t> 16-bit RGB565. Tiến </a:t>
            </a:r>
            <a:r>
              <a:rPr lang="en-US" sz="2400" dirty="0" err="1">
                <a:latin typeface="Times New Roman" pitchFamily="18" charset="0"/>
                <a:cs typeface="Times New Roman" pitchFamily="18" charset="0"/>
              </a:rPr>
              <a:t>hành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bóc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tách</a:t>
            </a:r>
            <a:r>
              <a:rPr lang="en-US" sz="2400" dirty="0">
                <a:latin typeface="Times New Roman" pitchFamily="18" charset="0"/>
                <a:cs typeface="Times New Roman" pitchFamily="18" charset="0"/>
              </a:rPr>
              <a:t> bit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bản</a:t>
            </a:r>
            <a:r>
              <a:rPr lang="en-US" sz="2400" dirty="0">
                <a:latin typeface="Times New Roman" pitchFamily="18" charset="0"/>
                <a:cs typeface="Times New Roman" pitchFamily="18" charset="0"/>
              </a:rPr>
              <a:t> bit </a:t>
            </a:r>
            <a:r>
              <a:rPr lang="en-US" sz="2400" dirty="0" err="1">
                <a:latin typeface="Times New Roman" pitchFamily="18" charset="0"/>
                <a:cs typeface="Times New Roman" pitchFamily="18" charset="0"/>
              </a:rPr>
              <a:t>để</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ánh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lên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chuẩn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màu</a:t>
            </a:r>
            <a:r>
              <a:rPr lang="en-US" sz="2400" dirty="0">
                <a:latin typeface="Times New Roman" pitchFamily="18" charset="0"/>
                <a:cs typeface="Times New Roman" pitchFamily="18" charset="0"/>
              </a:rPr>
              <a:t> 10-bit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DAC ADV7123 </a:t>
            </a:r>
            <a:r>
              <a:rPr lang="en-US" sz="2400" dirty="0" err="1">
                <a:latin typeface="Times New Roman" pitchFamily="18" charset="0"/>
                <a:cs typeface="Times New Roman" pitchFamily="18" charset="0"/>
              </a:rPr>
              <a:t>trên</a:t>
            </a:r>
            <a:r>
              <a:rPr lang="en-US" sz="2400" dirty="0">
                <a:latin typeface="Times New Roman" pitchFamily="18" charset="0"/>
                <a:cs typeface="Times New Roman" pitchFamily="18" charset="0"/>
              </a:rPr>
              <a:t> kit DE2:</a:t>
            </a:r>
          </a:p>
          <a:p>
            <a:pPr marL="342900" indent="-342900" algn="just" fontAlgn="base">
              <a:lnSpc>
                <a:spcPct val="90000"/>
              </a:lnSpc>
              <a:spcBef>
                <a:spcPct val="20000"/>
              </a:spcBef>
              <a:spcAft>
                <a:spcPct val="0"/>
              </a:spcAft>
              <a:buClr>
                <a:srgbClr val="003399"/>
              </a:buClr>
              <a:buFont typeface="Wingdings" pitchFamily="2" charset="2"/>
              <a:buChar char="n"/>
            </a:pPr>
            <a:r>
              <a:rPr lang="en-US" sz="2400" dirty="0" err="1">
                <a:latin typeface="Times New Roman" pitchFamily="18" charset="0"/>
                <a:cs typeface="Times New Roman" pitchFamily="18" charset="0"/>
              </a:rPr>
              <a:t>vga_r</a:t>
            </a:r>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pixel_data</a:t>
            </a:r>
            <a:r>
              <a:rPr lang="en-US" sz="2400" dirty="0">
                <a:latin typeface="Times New Roman" pitchFamily="18" charset="0"/>
                <a:cs typeface="Times New Roman" pitchFamily="18" charset="0"/>
              </a:rPr>
              <a:t>[15:11], </a:t>
            </a:r>
            <a:r>
              <a:rPr lang="en-US" sz="2400" dirty="0" err="1">
                <a:latin typeface="Times New Roman" pitchFamily="18" charset="0"/>
                <a:cs typeface="Times New Roman" pitchFamily="18" charset="0"/>
              </a:rPr>
              <a:t>pixel_data</a:t>
            </a:r>
            <a:r>
              <a:rPr lang="en-US" sz="2400" dirty="0">
                <a:latin typeface="Times New Roman" pitchFamily="18" charset="0"/>
                <a:cs typeface="Times New Roman" pitchFamily="18" charset="0"/>
              </a:rPr>
              <a:t>[15:11]}</a:t>
            </a:r>
          </a:p>
          <a:p>
            <a:pPr marL="342900" indent="-342900" algn="just" fontAlgn="base">
              <a:lnSpc>
                <a:spcPct val="90000"/>
              </a:lnSpc>
              <a:spcBef>
                <a:spcPct val="20000"/>
              </a:spcBef>
              <a:spcAft>
                <a:spcPct val="0"/>
              </a:spcAft>
              <a:buClr>
                <a:srgbClr val="003399"/>
              </a:buClr>
              <a:buFont typeface="Wingdings" pitchFamily="2" charset="2"/>
              <a:buChar char="n"/>
            </a:pPr>
            <a:r>
              <a:rPr lang="en-US" sz="2400" dirty="0" err="1">
                <a:latin typeface="Times New Roman" pitchFamily="18" charset="0"/>
                <a:cs typeface="Times New Roman" pitchFamily="18" charset="0"/>
              </a:rPr>
              <a:t>vga_g</a:t>
            </a:r>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pixel_data</a:t>
            </a:r>
            <a:r>
              <a:rPr lang="en-US" sz="2400" dirty="0">
                <a:latin typeface="Times New Roman" pitchFamily="18" charset="0"/>
                <a:cs typeface="Times New Roman" pitchFamily="18" charset="0"/>
              </a:rPr>
              <a:t>[10:5], </a:t>
            </a:r>
            <a:r>
              <a:rPr lang="en-US" sz="2400" dirty="0" err="1">
                <a:latin typeface="Times New Roman" pitchFamily="18" charset="0"/>
                <a:cs typeface="Times New Roman" pitchFamily="18" charset="0"/>
              </a:rPr>
              <a:t>pixel_data</a:t>
            </a:r>
            <a:r>
              <a:rPr lang="en-US" sz="2400" dirty="0">
                <a:latin typeface="Times New Roman" pitchFamily="18" charset="0"/>
                <a:cs typeface="Times New Roman" pitchFamily="18" charset="0"/>
              </a:rPr>
              <a:t>[10:7]}</a:t>
            </a:r>
          </a:p>
          <a:p>
            <a:pPr marL="342900" indent="-342900" algn="just" fontAlgn="base">
              <a:lnSpc>
                <a:spcPct val="90000"/>
              </a:lnSpc>
              <a:spcBef>
                <a:spcPct val="20000"/>
              </a:spcBef>
              <a:spcAft>
                <a:spcPct val="0"/>
              </a:spcAft>
              <a:buClr>
                <a:srgbClr val="003399"/>
              </a:buClr>
              <a:buFont typeface="Wingdings" pitchFamily="2" charset="2"/>
              <a:buChar char="n"/>
            </a:pPr>
            <a:r>
              <a:rPr lang="en-US" sz="2400" dirty="0" err="1">
                <a:latin typeface="Times New Roman" pitchFamily="18" charset="0"/>
                <a:cs typeface="Times New Roman" pitchFamily="18" charset="0"/>
              </a:rPr>
              <a:t>vga_b</a:t>
            </a:r>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pixel_data</a:t>
            </a:r>
            <a:r>
              <a:rPr lang="en-US" sz="2400" dirty="0">
                <a:latin typeface="Times New Roman" pitchFamily="18" charset="0"/>
                <a:cs typeface="Times New Roman" pitchFamily="18" charset="0"/>
              </a:rPr>
              <a:t>[4:0], </a:t>
            </a:r>
            <a:r>
              <a:rPr lang="en-US" sz="2400" dirty="0" err="1">
                <a:latin typeface="Times New Roman" pitchFamily="18" charset="0"/>
                <a:cs typeface="Times New Roman" pitchFamily="18" charset="0"/>
              </a:rPr>
              <a:t>pixel_data</a:t>
            </a:r>
            <a:r>
              <a:rPr lang="en-US" sz="2400" dirty="0">
                <a:latin typeface="Times New Roman" pitchFamily="18" charset="0"/>
                <a:cs typeface="Times New Roman" pitchFamily="18" charset="0"/>
              </a:rPr>
              <a:t>[4:0]}</a:t>
            </a:r>
          </a:p>
        </p:txBody>
      </p:sp>
      <p:sp>
        <p:nvSpPr>
          <p:cNvPr id="4" name="Date Placeholder 3">
            <a:extLst>
              <a:ext uri="{FF2B5EF4-FFF2-40B4-BE49-F238E27FC236}">
                <a16:creationId xmlns:a16="http://schemas.microsoft.com/office/drawing/2014/main" id="{C4BD6BDE-677C-F2B6-25AF-063B1536183C}"/>
              </a:ext>
            </a:extLst>
          </p:cNvPr>
          <p:cNvSpPr>
            <a:spLocks noGrp="1"/>
          </p:cNvSpPr>
          <p:nvPr>
            <p:ph type="dt" sz="half" idx="10"/>
          </p:nvPr>
        </p:nvSpPr>
        <p:spPr>
          <a:xfrm>
            <a:off x="251520" y="6525344"/>
            <a:ext cx="2133600" cy="288206"/>
          </a:xfrm>
        </p:spPr>
        <p:txBody>
          <a:bodyPr vert="horz" wrap="square" lIns="91440" tIns="45720" rIns="91440" bIns="45720" numCol="1" anchor="t" anchorCtr="0" compatLnSpc="1">
            <a:prstTxWarp prst="textNoShape">
              <a:avLst/>
            </a:prstTxWarp>
            <a:normAutofit/>
          </a:bodyPr>
          <a:lstStyle/>
          <a:p>
            <a:pPr>
              <a:spcAft>
                <a:spcPts val="600"/>
              </a:spcAft>
            </a:pPr>
            <a:fld id="{BA136E8E-48A6-4CCA-8C49-35959C36CF6D}" type="datetime1">
              <a:rPr lang="en-US" altLang="ja-JP" smtClean="0"/>
              <a:pPr>
                <a:spcAft>
                  <a:spcPts val="600"/>
                </a:spcAft>
              </a:pPr>
              <a:t>5/21/2026</a:t>
            </a:fld>
            <a:endParaRPr lang="ja-JP" altLang="en-US"/>
          </a:p>
        </p:txBody>
      </p:sp>
      <p:sp>
        <p:nvSpPr>
          <p:cNvPr id="5" name="Slide Number Placeholder 4">
            <a:extLst>
              <a:ext uri="{FF2B5EF4-FFF2-40B4-BE49-F238E27FC236}">
                <a16:creationId xmlns:a16="http://schemas.microsoft.com/office/drawing/2014/main" id="{6CDB9262-941E-6474-BAE2-5F50B6587B8A}"/>
              </a:ext>
            </a:extLst>
          </p:cNvPr>
          <p:cNvSpPr>
            <a:spLocks noGrp="1"/>
          </p:cNvSpPr>
          <p:nvPr>
            <p:ph type="sldNum" sz="quarter" idx="12"/>
          </p:nvPr>
        </p:nvSpPr>
        <p:spPr>
          <a:xfrm>
            <a:off x="7139880" y="6524625"/>
            <a:ext cx="1752600" cy="288925"/>
          </a:xfrm>
        </p:spPr>
        <p:txBody>
          <a:bodyPr vert="horz" wrap="square" lIns="91440" tIns="45720" rIns="91440" bIns="45720" numCol="1" anchor="t" anchorCtr="0" compatLnSpc="1">
            <a:prstTxWarp prst="textNoShape">
              <a:avLst/>
            </a:prstTxWarp>
            <a:normAutofit/>
          </a:bodyPr>
          <a:lstStyle/>
          <a:p>
            <a:pPr>
              <a:spcAft>
                <a:spcPts val="600"/>
              </a:spcAft>
            </a:pPr>
            <a:fld id="{800C8475-47C1-49C9-BEE5-594F8CF4D71F}" type="slidenum">
              <a:rPr lang="ja-JP" altLang="en-US" smtClean="0"/>
              <a:pPr>
                <a:spcAft>
                  <a:spcPts val="600"/>
                </a:spcAft>
              </a:pPr>
              <a:t>24</a:t>
            </a:fld>
            <a:endParaRPr lang="ja-JP" altLang="en-US"/>
          </a:p>
        </p:txBody>
      </p:sp>
      <p:pic>
        <p:nvPicPr>
          <p:cNvPr id="8" name="Content Placeholder 7">
            <a:extLst>
              <a:ext uri="{FF2B5EF4-FFF2-40B4-BE49-F238E27FC236}">
                <a16:creationId xmlns:a16="http://schemas.microsoft.com/office/drawing/2014/main" id="{97ECE25F-D05D-DF16-B150-BBC9814E6C77}"/>
              </a:ext>
            </a:extLst>
          </p:cNvPr>
          <p:cNvPicPr>
            <a:picLocks noGrp="1" noChangeAspect="1"/>
          </p:cNvPicPr>
          <p:nvPr>
            <p:ph sz="half" idx="13"/>
          </p:nvPr>
        </p:nvPicPr>
        <p:blipFill>
          <a:blip r:embed="rId2"/>
          <a:stretch>
            <a:fillRect/>
          </a:stretch>
        </p:blipFill>
        <p:spPr>
          <a:xfrm>
            <a:off x="4709864" y="3073965"/>
            <a:ext cx="4038600" cy="1635632"/>
          </a:xfrm>
          <a:prstGeom prst="rect">
            <a:avLst/>
          </a:prstGeom>
          <a:noFill/>
        </p:spPr>
      </p:pic>
      <p:sp>
        <p:nvSpPr>
          <p:cNvPr id="7" name="Footer Placeholder 6">
            <a:extLst>
              <a:ext uri="{FF2B5EF4-FFF2-40B4-BE49-F238E27FC236}">
                <a16:creationId xmlns:a16="http://schemas.microsoft.com/office/drawing/2014/main" id="{FDDEFBA4-40D0-3927-96E5-81DD00C084B7}"/>
              </a:ext>
            </a:extLst>
          </p:cNvPr>
          <p:cNvSpPr>
            <a:spLocks noGrp="1"/>
          </p:cNvSpPr>
          <p:nvPr>
            <p:ph type="ftr" sz="quarter" idx="11"/>
          </p:nvPr>
        </p:nvSpPr>
        <p:spPr>
          <a:xfrm>
            <a:off x="1762101" y="6524625"/>
            <a:ext cx="5618212" cy="288925"/>
          </a:xfrm>
        </p:spPr>
        <p:txBody>
          <a:bodyPr vert="horz" wrap="square" lIns="91440" tIns="45720" rIns="91440" bIns="45720" numCol="1" anchor="t" anchorCtr="0" compatLnSpc="1">
            <a:prstTxWarp prst="textNoShape">
              <a:avLst/>
            </a:prstTxWarp>
            <a:normAutofit/>
          </a:bodyPr>
          <a:lstStyle/>
          <a:p>
            <a:pPr>
              <a:spcAft>
                <a:spcPts val="600"/>
              </a:spcAft>
            </a:pPr>
            <a:r>
              <a:rPr kumimoji="1" lang="en-US" altLang="ja-JP"/>
              <a:t>Copyrights 2020 CE-UIT . All Rights Reserved.</a:t>
            </a:r>
            <a:endParaRPr kumimoji="1" lang="ja-JP" altLang="en-US"/>
          </a:p>
        </p:txBody>
      </p:sp>
    </p:spTree>
    <p:extLst>
      <p:ext uri="{BB962C8B-B14F-4D97-AF65-F5344CB8AC3E}">
        <p14:creationId xmlns:p14="http://schemas.microsoft.com/office/powerpoint/2010/main" val="34524138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4B87A-3978-4320-4536-4B4A5940DC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F69C81D-5765-A768-1D56-FD44EEE6DF72}"/>
              </a:ext>
            </a:extLst>
          </p:cNvPr>
          <p:cNvSpPr>
            <a:spLocks noGrp="1"/>
          </p:cNvSpPr>
          <p:nvPr>
            <p:ph sz="half" idx="1"/>
          </p:nvPr>
        </p:nvSpPr>
        <p:spPr/>
        <p:txBody>
          <a:bodyPr/>
          <a:lstStyle/>
          <a:p>
            <a:endParaRPr lang="en-US" dirty="0"/>
          </a:p>
        </p:txBody>
      </p:sp>
      <p:sp>
        <p:nvSpPr>
          <p:cNvPr id="4" name="Date Placeholder 3">
            <a:extLst>
              <a:ext uri="{FF2B5EF4-FFF2-40B4-BE49-F238E27FC236}">
                <a16:creationId xmlns:a16="http://schemas.microsoft.com/office/drawing/2014/main" id="{F61CEF5B-9C23-CC03-9FA4-4D9B6D610F22}"/>
              </a:ext>
            </a:extLst>
          </p:cNvPr>
          <p:cNvSpPr>
            <a:spLocks noGrp="1"/>
          </p:cNvSpPr>
          <p:nvPr>
            <p:ph type="dt" sz="half" idx="10"/>
          </p:nvPr>
        </p:nvSpPr>
        <p:spPr/>
        <p:txBody>
          <a:bodyPr/>
          <a:lstStyle/>
          <a:p>
            <a:fld id="{BA136E8E-48A6-4CCA-8C49-35959C36CF6D}" type="datetime1">
              <a:rPr kumimoji="1" lang="en-US" altLang="ja-JP" smtClean="0"/>
              <a:t>5/21/2026</a:t>
            </a:fld>
            <a:endParaRPr kumimoji="1" lang="ja-JP" altLang="en-US"/>
          </a:p>
        </p:txBody>
      </p:sp>
      <p:sp>
        <p:nvSpPr>
          <p:cNvPr id="5" name="Slide Number Placeholder 4">
            <a:extLst>
              <a:ext uri="{FF2B5EF4-FFF2-40B4-BE49-F238E27FC236}">
                <a16:creationId xmlns:a16="http://schemas.microsoft.com/office/drawing/2014/main" id="{35CC9F5D-7721-389A-B2CE-B726B646E8C4}"/>
              </a:ext>
            </a:extLst>
          </p:cNvPr>
          <p:cNvSpPr>
            <a:spLocks noGrp="1"/>
          </p:cNvSpPr>
          <p:nvPr>
            <p:ph type="sldNum" sz="quarter" idx="12"/>
          </p:nvPr>
        </p:nvSpPr>
        <p:spPr/>
        <p:txBody>
          <a:bodyPr/>
          <a:lstStyle/>
          <a:p>
            <a:fld id="{800C8475-47C1-49C9-BEE5-594F8CF4D71F}" type="slidenum">
              <a:rPr kumimoji="1" lang="ja-JP" altLang="en-US" smtClean="0"/>
              <a:pPr/>
              <a:t>25</a:t>
            </a:fld>
            <a:endParaRPr kumimoji="1" lang="ja-JP" altLang="en-US"/>
          </a:p>
        </p:txBody>
      </p:sp>
      <p:sp>
        <p:nvSpPr>
          <p:cNvPr id="6" name="Content Placeholder 5">
            <a:extLst>
              <a:ext uri="{FF2B5EF4-FFF2-40B4-BE49-F238E27FC236}">
                <a16:creationId xmlns:a16="http://schemas.microsoft.com/office/drawing/2014/main" id="{7BE2D054-F25F-AEE1-7C88-B8097A76FA46}"/>
              </a:ext>
            </a:extLst>
          </p:cNvPr>
          <p:cNvSpPr>
            <a:spLocks noGrp="1"/>
          </p:cNvSpPr>
          <p:nvPr>
            <p:ph sz="half" idx="13"/>
          </p:nvPr>
        </p:nvSpPr>
        <p:spPr/>
        <p:txBody>
          <a:bodyPr/>
          <a:lstStyle/>
          <a:p>
            <a:endParaRPr lang="en-US"/>
          </a:p>
        </p:txBody>
      </p:sp>
      <p:sp>
        <p:nvSpPr>
          <p:cNvPr id="7" name="Footer Placeholder 6">
            <a:extLst>
              <a:ext uri="{FF2B5EF4-FFF2-40B4-BE49-F238E27FC236}">
                <a16:creationId xmlns:a16="http://schemas.microsoft.com/office/drawing/2014/main" id="{08FEDA9C-E828-4E38-8B46-31D612C061E0}"/>
              </a:ext>
            </a:extLst>
          </p:cNvPr>
          <p:cNvSpPr>
            <a:spLocks noGrp="1"/>
          </p:cNvSpPr>
          <p:nvPr>
            <p:ph type="ftr" sz="quarter" idx="11"/>
          </p:nvPr>
        </p:nvSpPr>
        <p:spPr/>
        <p:txBody>
          <a:bodyPr/>
          <a:lstStyle/>
          <a:p>
            <a:r>
              <a:rPr kumimoji="1" lang="en-US" altLang="ja-JP"/>
              <a:t>Copyrights 2020 CE-UIT . All Rights Reserved.</a:t>
            </a:r>
            <a:endParaRPr kumimoji="1" lang="ja-JP" altLang="en-US" dirty="0"/>
          </a:p>
        </p:txBody>
      </p:sp>
    </p:spTree>
    <p:extLst>
      <p:ext uri="{BB962C8B-B14F-4D97-AF65-F5344CB8AC3E}">
        <p14:creationId xmlns:p14="http://schemas.microsoft.com/office/powerpoint/2010/main" val="3655624722"/>
      </p:ext>
    </p:extLst>
  </p:cSld>
  <p:clrMapOvr>
    <a:masterClrMapping/>
  </p:clrMapOvr>
</p:sld>
</file>

<file path=ppt/theme/theme1.xml><?xml version="1.0" encoding="utf-8"?>
<a:theme xmlns:a="http://schemas.openxmlformats.org/drawingml/2006/main" name="dsp">
  <a:themeElements>
    <a:clrScheme name="ユーザー定義 5">
      <a:dk1>
        <a:sysClr val="windowText" lastClr="000000"/>
      </a:dk1>
      <a:lt1>
        <a:sysClr val="window" lastClr="FFFFFF"/>
      </a:lt1>
      <a:dk2>
        <a:srgbClr val="5B6973"/>
      </a:dk2>
      <a:lt2>
        <a:srgbClr val="000000"/>
      </a:lt2>
      <a:accent1>
        <a:srgbClr val="5B6973"/>
      </a:accent1>
      <a:accent2>
        <a:srgbClr val="002060"/>
      </a:accent2>
      <a:accent3>
        <a:srgbClr val="DEAE00"/>
      </a:accent3>
      <a:accent4>
        <a:srgbClr val="B77BB4"/>
      </a:accent4>
      <a:accent5>
        <a:srgbClr val="E0773C"/>
      </a:accent5>
      <a:accent6>
        <a:srgbClr val="A98D63"/>
      </a:accent6>
      <a:hlink>
        <a:srgbClr val="26CBEC"/>
      </a:hlink>
      <a:folHlink>
        <a:srgbClr val="598C8C"/>
      </a:folHlink>
    </a:clrScheme>
    <a:fontScheme name="ochilab_ofdm">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ochilab_ofd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chilab_ofdm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chilab_ofdm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chilab_ofdm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chilab_ofdm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chilab_ofdm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chilab_ofdm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chilab_ofdm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chilab_ofdm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chilab_ofdm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chilab_ofdm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chilab_ofdm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Mau_BaoCao_LVTN_Trinhbay" id="{D3A5B2E4-E217-49C4-B24C-606B452C3C9B}" vid="{C6AF31C0-6432-4428-A701-01B0A15D6F6F}"/>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205</TotalTime>
  <Words>1719</Words>
  <Application>Microsoft Office PowerPoint</Application>
  <PresentationFormat>On-screen Show (4:3)</PresentationFormat>
  <Paragraphs>173</Paragraphs>
  <Slides>25</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Times New Roman</vt:lpstr>
      <vt:lpstr>Wingdings</vt:lpstr>
      <vt:lpstr>dsp</vt:lpstr>
      <vt:lpstr>MÔ TẢ ĐỒ ÁN Tên đồ án: Hiện thực hệ thống giao tiếp PC &lt;-&gt; DE2, gởi ảnh từ PC, lưu vào SRAMSDRAM trên board, sau đó đọc ảnh từ bộ nhớ và hiển thị lên VGA</vt:lpstr>
      <vt:lpstr>Mô tả đề tài</vt:lpstr>
      <vt:lpstr>PowerPoint Presentation</vt:lpstr>
      <vt:lpstr>Sơ đồ kết nối hệ thống</vt:lpstr>
      <vt:lpstr>UART </vt:lpstr>
      <vt:lpstr>Khối UART</vt:lpstr>
      <vt:lpstr>Khối UART</vt:lpstr>
      <vt:lpstr>Khối UART</vt:lpstr>
      <vt:lpstr>KHỐI UART MODULE</vt:lpstr>
      <vt:lpstr>KHỐI UART MODULE</vt:lpstr>
      <vt:lpstr>KHỐI UART MODULE</vt:lpstr>
      <vt:lpstr>KHỐI UART COMBINE</vt:lpstr>
      <vt:lpstr>KHỐI UART COMBINE</vt:lpstr>
      <vt:lpstr>KHỐI BỘ NHỚ - SRAM CONTROLLER</vt:lpstr>
      <vt:lpstr>KHỐI BỘ NHỚ - SRAM CONTROLLER</vt:lpstr>
      <vt:lpstr>KHỐI BỘ NHỚ - SRAM CONTROLLER</vt:lpstr>
      <vt:lpstr>KHỐI BỘ NHỚ - SRAM CONTROLLER</vt:lpstr>
      <vt:lpstr>KHỐI BỘ NHỚ - SRAM CONTROLLER</vt:lpstr>
      <vt:lpstr>KHỐI HIỂN THỊ - VGA CONTROLLER &amp; CLOCK DIVIDER</vt:lpstr>
      <vt:lpstr>KHỐI HIỂN THỊ - VGA CONTROLLER &amp; CLOCK DIVIDER</vt:lpstr>
      <vt:lpstr>PowerPoint Presentation</vt:lpstr>
      <vt:lpstr>VGA_CONTROLLER</vt:lpstr>
      <vt:lpstr>KHỐI VGA_CLOCK_DIVIDE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UNIVERSITY OF INFORMATION TECHNOLOGY</dc:title>
  <dc:creator>Duy</dc:creator>
  <cp:lastModifiedBy>Trần Thông</cp:lastModifiedBy>
  <cp:revision>6</cp:revision>
  <dcterms:created xsi:type="dcterms:W3CDTF">2020-11-01T14:41:16Z</dcterms:created>
  <dcterms:modified xsi:type="dcterms:W3CDTF">2026-05-21T15:02:36Z</dcterms:modified>
</cp:coreProperties>
</file>